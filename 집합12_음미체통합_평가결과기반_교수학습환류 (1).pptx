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주당 연습 시간(분)</c:v>
                </c:pt>
              </c:strCache>
            </c:strRef>
          </c:tx>
          <c:spPr>
            <a:solidFill>
              <a:srgbClr val="8E7BD6"/>
            </a:solidFill>
            <a:ln w="25400" cap="flat">
              <a:solidFill>
                <a:srgbClr val="8E7B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8E7BD6"/>
              </a:solidFill>
              <a:ln w="9525" cap="flat">
                <a:solidFill>
                  <a:srgbClr val="8E7BD6"/>
                </a:solidFill>
                <a:prstDash val="solid"/>
                <a:round/>
              </a:ln>
              <a:effectLst/>
            </c:spPr>
          </c:marker>
          <c:cat>
            <c:multiLvlStrRef>
              <c:f>Sheet1!$A$2:$A$7</c:f>
              <c:multiLvlStrCache>
                <c:ptCount val="6"/>
                <c:lvl>
                  <c:pt idx="0">
                    <c:v>1주</c:v>
                  </c:pt>
                  <c:pt idx="1">
                    <c:v>2주</c:v>
                  </c:pt>
                  <c:pt idx="2">
                    <c:v>3주</c:v>
                  </c:pt>
                  <c:pt idx="3">
                    <c:v>4주</c:v>
                  </c:pt>
                  <c:pt idx="4">
                    <c:v>5주</c:v>
                  </c:pt>
                  <c:pt idx="5">
                    <c:v>6주</c:v>
                  </c:pt>
                </c:lvl>
              </c:multiLvlStrCache>
            </c:multiLvlStrRef>
          </c:cat>
          <c:val>
            <c:numRef>
              <c:f>Sheet1!$B$2:$B$7</c:f>
              <c:numCache>
                <c:formatCode>General</c:formatCode>
                <c:ptCount val="6"/>
                <c:pt idx="0">
                  <c:v>12</c:v>
                </c:pt>
                <c:pt idx="1">
                  <c:v>15</c:v>
                </c:pt>
                <c:pt idx="2">
                  <c:v>22</c:v>
                </c:pt>
                <c:pt idx="3">
                  <c:v>26</c:v>
                </c:pt>
                <c:pt idx="4">
                  <c:v>31</c:v>
                </c:pt>
                <c:pt idx="5">
                  <c:v>34</c:v>
                </c:pt>
              </c:numCache>
            </c:numRef>
          </c:val>
          <c:smooth val="0"/>
        </c:ser>
        <c:ser>
          <c:idx val="1"/>
          <c:order val="1"/>
          <c:tx>
            <c:strRef>
              <c:f>Sheet1!$C$1</c:f>
              <c:strCache>
                <c:ptCount val="1"/>
                <c:pt idx="0">
                  <c:v>스스로 반복한 구간 수</c:v>
                </c:pt>
              </c:strCache>
            </c:strRef>
          </c:tx>
          <c:spPr>
            <a:solidFill>
              <a:srgbClr val="B15C45"/>
            </a:solidFill>
            <a:ln w="25400" cap="flat">
              <a:solidFill>
                <a:srgbClr val="B15C4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15C45"/>
              </a:solidFill>
              <a:ln w="9525" cap="flat">
                <a:solidFill>
                  <a:srgbClr val="B15C45"/>
                </a:solidFill>
                <a:prstDash val="solid"/>
                <a:round/>
              </a:ln>
              <a:effectLst/>
            </c:spPr>
          </c:marker>
          <c:cat>
            <c:multiLvlStrRef>
              <c:f>Sheet1!$A$2:$A$7</c:f>
              <c:multiLvlStrCache>
                <c:ptCount val="6"/>
                <c:lvl>
                  <c:pt idx="0">
                    <c:v>1주</c:v>
                  </c:pt>
                  <c:pt idx="1">
                    <c:v>2주</c:v>
                  </c:pt>
                  <c:pt idx="2">
                    <c:v>3주</c:v>
                  </c:pt>
                  <c:pt idx="3">
                    <c:v>4주</c:v>
                  </c:pt>
                  <c:pt idx="4">
                    <c:v>5주</c:v>
                  </c:pt>
                  <c:pt idx="5">
                    <c:v>6주</c:v>
                  </c:pt>
                </c:lvl>
              </c:multiLvlStrCache>
            </c:multiLvlStrRef>
          </c:cat>
          <c:val>
            <c:numRef>
              <c:f>Sheet1!$C$2:$C$7</c:f>
              <c:numCache>
                <c:formatCode>General</c:formatCode>
                <c:ptCount val="6"/>
                <c:pt idx="0">
                  <c:v>2</c:v>
                </c:pt>
                <c:pt idx="1">
                  <c:v>3</c:v>
                </c:pt>
                <c:pt idx="2">
                  <c:v>5</c:v>
                </c:pt>
                <c:pt idx="3">
                  <c:v>8</c:v>
                </c:pt>
                <c:pt idx="4">
                  <c:v>9</c:v>
                </c:pt>
                <c:pt idx="5">
                  <c:v>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Malgun Gothic"/>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Malgun Gothic"/>
              </a:defRPr>
            </a:pPr>
            <a:endParaRPr lang="en-US"/>
          </a:p>
        </c:txPr>
        <c:crossAx val="2094734554"/>
        <c:crosses val="autoZero"/>
        <c:crossBetween val="between"/>
      </c:valAx>
      <c:spPr>
        <a:noFill/>
        <a:ln>
          <a:noFill/>
        </a:ln>
        <a:effectLst/>
      </c:spPr>
    </c:plotArea>
    <c:legend>
      <c:legendPos val="b"/>
      <c:overlay val="0"/>
      <c:txPr>
        <a:bodyPr/>
        <a:lstStyle/>
        <a:p>
          <a:pPr>
            <a:defRPr sz="1000">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연구 편수</c:v>
                </c:pt>
              </c:strCache>
            </c:strRef>
          </c:tx>
          <c:spPr>
            <a:solidFill>
              <a:srgbClr val="D98C74"/>
            </a:solidFill>
            <a:effectLst/>
          </c:spPr>
          <c:invertIfNegative val="0"/>
          <c:dLbls>
            <c:numFmt formatCode="#,##0" sourceLinked="0"/>
            <c:txPr>
              <a:bodyPr/>
              <a:lstStyle/>
              <a:p>
                <a:pPr>
                  <a:defRPr b="0" i="0" strike="noStrike" sz="1200" u="none">
                    <a:solidFill>
                      <a:srgbClr val="B15C45"/>
                    </a:solidFill>
                    <a:latin typeface="Malgun Gothic"/>
                  </a:defRPr>
                </a:pPr>
              </a:p>
            </c:txPr>
            <c:showLegendKey val="0"/>
            <c:showVal val="1"/>
            <c:showCatName val="0"/>
            <c:showSerName val="0"/>
            <c:showPercent val="0"/>
            <c:showBubbleSize val="0"/>
            <c:showLeaderLines val="0"/>
          </c:dLbls>
          <c:cat>
            <c:multiLvlStrRef>
              <c:f>Sheet1!$A$2:$A$3</c:f>
              <c:multiLvlStrCache>
                <c:ptCount val="2"/>
                <c:lvl>
                  <c:pt idx="0">
                    <c:v>2023</c:v>
                  </c:pt>
                  <c:pt idx="1">
                    <c:v>2025</c:v>
                  </c:pt>
                </c:lvl>
              </c:multiLvlStrCache>
            </c:multiLvlStrRef>
          </c:cat>
          <c:val>
            <c:numRef>
              <c:f>Sheet1!$B$2:$B$3</c:f>
              <c:numCache>
                <c:formatCode>General</c:formatCode>
                <c:ptCount val="2"/>
                <c:pt idx="0">
                  <c:v>2</c:v>
                </c:pt>
                <c:pt idx="1">
                  <c:v>14</c:v>
                </c:pt>
              </c:numCache>
            </c:numRef>
          </c:val>
        </c:ser>
        <c:dLbls>
          <c:numFmt formatCode="#,##0" sourceLinked="0"/>
          <c:txPr>
            <a:bodyPr/>
            <a:lstStyle/>
            <a:p>
              <a:pPr>
                <a:defRPr b="0" i="0" strike="noStrike" sz="1200" u="none">
                  <a:solidFill>
                    <a:srgbClr val="B15C45"/>
                  </a:solidFill>
                  <a:latin typeface="Malgun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Malgun Gothic"/>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[00:00–02:00] 열두 번째, 마지막 차시입니다. 오늘은 새 내용을 배우기보다 ⑩·⑪에서 만든 여러분의 데이터를 다시 수업으로 되돌리는 자리입니다. 스몰토크로 문을 엽니다. “오늘까지 열두 번을 함께 오셨는데, 지금 머릿속에 가장 또렷하게 남은 수업 장면 하나만 떠올려 볼까요?” 한두 분께 짧게 청해도 좋습니다. 예체능 세 교과가 함께 듣는 통합 차시이고, 뒤로 갈수록 교과별로 갈라져 각자 수업에 적용한다는 점을 먼저 안내하시면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[02:00–05:00] 목표·활동·평가를 빠르게 훑습니다. 오늘의 목표는 세 가지입니다. 데이터 결과 공유, 데이터와 교사 역할의 구분, 학교 환경에 맞춘 환류 계획 수립입니다. 평가는 계획의 구체성과 성찰의 깊이를 봅니다. 여기서 시간을 오래 쓰지 않으셔도 됩니다. 오늘의 산출물이 발표와 계획이라는 점만 분명히 전달하시면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[05:00–07:00] 강의 비중이 낮고 실습·토의·발표가 중심입니다. 이 슬라이드는 참고용으로 지나가셔도 됩니다. 다만 ‘최소 실행 단위’라는 표현은 오늘 반복해서 나오므로 여기서 한 번 짚어 두시면 뒤가 수월합니다. 거창한 학기 계획 대신 복귀 직후 당장 해 볼 한 장면을 설계한다는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[07:00–08:00] 오늘의 네 부분을 안내합니다. Part 1은 환류의 이론적 근거, Part 2는 교과별 최신 연구와 사례, Part 3은 실습, Part 4는 발표와 마무리입니다. Part 1에서 이론을 탄탄히 다지는 이유는, 뒤의 실습이 왜 필요한지를 근거로 이해해야 현장에서 흔들리지 않기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[08:00–15:00] 본격적인 도입입니다. ⑩에서 마이크로티칭을 실행했고 ⑪에서 그 데이터를 분석했습니다. 오늘 ⑫는 그 분석을 받아 다음 수업으로 되돌립니다. 이 사슬을 먼저 확인시켜 주세요. 스몰토크 발문은 슬라이드의 두 문장, ‘데이터가 잘하는 일’과 ‘교사만 할 수 있는 일’로 옆 선생님과 30초씩 나누는 것입니다. 정답을 요구하지 마시고 각자 한 문장씩 말해 보는 정도면 충분합니다. 이 두 문장이 오늘 종일 다룰 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[15:00] Part 1로 넘어갑니다. 환류가 무엇인지 교육학 이론에서 시작해, OECD 2030과 2022 개정 교육과정, 그리고 창작 교과라는 세 층위로 근거를 세웁니다. 네 슬라이드를 약 18분에 다룹니다. 이론 자체보다 ‘왜 환류가 필요한가’라는 근거를 남기는 데 초점을 두시면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[15:00–20:00] Part 1 첫 슬라이드, 환류의 교육학적 정의입니다. Ramaprasad의 정의를 읽어 주세요. 환류는 목표와 현재의 차이(gap)에 관한 정보를, 그 차이를 줄이는 데 쓰는 것입니다. 가운데 되먹임 고리 그림으로 Hattie의 세 질문(어디로 가는가·지금 어디쯤·다음에 무엇을)을 짚고, 각각 Feed Up·Feed Back·Feed Forward에 해당한다고 안내합니다. 아래 Sadler의 세 조건이 모두 갖춰질 때 데이터가 성적이 아니라 성장의 근거가 된다는 점을 강조해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[20:00–25:00] OECD 2030 학습 나침반의 AAR 순환입니다. 예측·행동·성찰이 반복되는 순환이라는 점을 그림으로 보여 주세요. 핵심은 성찰(Reflection) 단계가 곧 학생의 환류라는 것입니다. 이 순환의 동력이 학습자 주도성이고, OECD는 이를 남에게 휘둘리지 않고 스스로 행동하는 것으로 정의합니다. 교사의 환류는 이 순환이 끊기지 않게 떠받치는 일이라는 문장으로 연결해 주세요. 학습 나침반은 평가 틀이 아니라 학습 틀이라는 점도 덧붙이면 오해를 줄일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[25:00–29:00] 국내 정책 근거입니다. 2022 개정 교육과정 총론의 네 방향(과정 중시 평가·학습 성찰 강화·학생 주도성·평가로 학습의 질 개선)이 모두 환류로 모인다는 퍼널 그림입니다. 위 네 카드를 읽고, 이들이 아래 환류 막대로 수렴해 다음 수업 재설계로 이어진다는 흐름을 짚어 주세요. OECD와의 연결도 한 번 더 확인합니다. 주도성은 student agency, 성찰은 Reflection과 같은 개념입니다. 출처는 교육부 고시 제2022-33호 총론입니다.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[29:00–33:00] 왜 하필 창작·실기 교과에서 환류가 더 중요한지입니다. 왼쪽 순환 그림으로 구상·표현·비평·수정이 반복된다는 점을 보여 주세요. 오른쪽 세 근거를 짚습니다. 정답이 하나가 아니라 과정·판단에 대한 피드백이 성장을 만든다는 점, 창작이 본래 스튜디오 비평의 순환이라는 점(Schön), 그리고 AI가 실행을 값싸게 만들수록 발상·선별·판단의 환류가 핵심이 된다는 점(Zhou &amp; Lee)입니다. 이 마지막 근거가 Part 2의 사례들과 곧바로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[33:00–37:00] 도입의 두 문장을 표로 확장했습니다. 왼쪽은 AI와 데이터가 잘하는 일, 오른쪽은 교사만 할 수 있는 일입니다. 세 교과 모두 평가 대상이 학생의 수행(움직임·소리·이미지)이라는 공통점을 강조해 주세요. 건강검진 비유로 마무리합니다. 수치는 진단의 출발점이고 목적은 다음 수업을 바꾸는 처방입니다. 이 프레임은 Part 3 토의에서 다시 쓰이므로 좌우 구분을 분명히 각인시켜 두시면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[37:00] Part 2로 넘어갑니다. 음악·미술·체육 각 교과의 2024–2025 연구와 국내 사례를 봅니다. 슬라이드마다 흥미로운 발견, 방법, 우리 수업의 환류 순서로 짜여 있습니다. 타 교과 차례에도 ‘저 발견이 우리 교과라면 어떻게 될까’를 생각하며 듣도록 안내해 주세요. 세 교과 합쳐 30분 안팎으로 운영합니다.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[37:00–41:00] 음악 첫 사례입니다. Zhou와 Kim의 2024년 연구로, ChatGPT-4를 음악 수업에 넣었을 때의 학습 경험 변화를 실증했습니다. 흥미로운 발견은 창작 흥미가 오른 동시에 AI 설명을 검증 없이 믿는 경향도 함께 나타났다는 점입니다. 그래서 방법으로 ‘생성 → 검증 → 재작곡’ 절차를 넣었습니다. 환류 발문은 오른쪽 카드에 있습니다. “AI가 준 화성 중 네 귀로 확인해 바꾼 부분은?” 이 질문이 평가 장면을 결과물에서 과정으로 옮겨 줍니다. 오른쪽 리코더 합주 수업 장면을 그대로 읽어 주시면 추상적 설명 없이도 전달됩니다. 하단의 생성·검증·재작곡 아이콘 흐름은 손으로 짚으며 안내해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[41:00–45:00] 음악 두 번째입니다. AI 연습 앱이 수행뿐 아니라 자기효능감과 자기조절학습을 함께 끌어올린다는 연구입니다. 효과의 배경은 학생이 더 오래, 더 스스로 연습하게 되었다는 점입니다. 환류 포인트는 연습 로그를 성적 대신 성장 궤적으로 읽는 것입니다. “이 학생은 어디서 막혔고 어떤 구간을 스스로 반복했는가?”를 다음 수업의 개별 피드백으로 되돌리도록 안내해 주세요. 왼쪽 그래프는 가상 예시임을 밝히고, 4주차 도약 지점을 가리키며 “여기가 개별 피드백의 출발점”이라고 시연해 주세요. 출처는 하단 PMC 링크와 개관 논문 DOI입니다.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[45:00–50:00] 미술 첫 사례이자 오늘 수치가 가장 큰 슬라이드입니다. Zhou와 Lee의 PNAS Nexus 연구로, 400만 점 이상 작품을 분석해 창작 생산성 25퍼센트, 조회당 호응 50퍼센트 증가를 보고했습니다. 다만 평균 참신성은 하락했습니다. 핵심은 결과물을 잘 골라내는 사람일수록 평가가 좋았다는 점입니다. 실행이 값싸지자 발상과 선별이 중요해진 것입니다. 환류로 옮기면 완성도보다 발상·선별·수정 과정을 평가 증거로 삼습니다. 발문은 “여러 시안 중 왜 이걸 골랐고 무엇을 버렸나?”입니다. 가운데 시안 6장 그림에서 채택 표시와 작가노트 예시를 짚으면 “선별을 평가한다”가 한눈에 전달됩니다.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[50:00–54:00] 미술 두 번째로 2019–2025 체계적 리뷰입니다. 연구가 2023년 2편에서 2025년 14편으로 늘었지만 대부분 고등·대학·동아시아 맥락이고 초·중등 적용은 아직 초기입니다. 이 점을 뒤집어 강조해 주세요. 사례가 적다는 것은 우리의 실행·환류 기록 자체가 현장 근거가 된다는 뜻입니다. 또 하나 짚을 지점은 시험 점수가 올라도 그것이 프롬프트 작성 능력일 뿐 미적 성장이 아닐 수 있다는 리뷰의 경고입니다. 그래서 편향을 되묻는 발문과 출처 표기·프롬프트 아카이빙을 평가 요소로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[54:00–59:00] 체육 첫 사례입니다. 온라인 체육에서 자세인식 시스템을 쓴 2025년 실증 연구로, 움직임의 질과 유창성, 흥미, 자기주도 학습이 향상되었습니다. 흥미로운 발견은 매개분석 결과입니다. 성과를 끌어올린 실제 경로는 피드백 자체가 아니라 학생의 연습 시간이 늘어난 것이었습니다. 그래서 데이터를 볼 때 정확도 점수만 보지 말고 참여 지속을 함께 보도록 안내합니다. 발문은 “이 도구가 우리 반 학생을 더 오래 움직이게 했는가?”입니다. 왼쪽 도해(무릎 각도 화면)와 가운데 매개 경로 그림(피드백→연습 시간→향상)을 짚으며 설명하시면 됩니다. 이 시스템의 ‘정확한 동작’ 기준은 특정 영상으로 정한 것이므로, 무엇을 정답으로 볼지 자체가 판단의 문제라는 점도 덧붙이면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[59:00–63:00] 체육 국내 사례입니다. AI 동작 피드백 앱과 증강현실 앱을 묶어 기초체력과 자세 교정을 과정중심평가로 구현한 교사 실천입니다. 슬라이드의 교사 발문을 참여자에게 되돌려 물어도 좋습니다. 2022 개정 체육과 교육과정도 디지털 도구로 학습 과정·결과를 누적 기록하고 개인 일지로 성찰하도록 안내하고 있어 오늘 주제와 그대로 맞닿습니다. 이 연결을 짚어 주시면 교육과정 정합성이 분명해집니다.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[63:00–67:00] Part 2를 정리합니다. 세 교과 모두 AI가 실행을 값싸게 만들고 교사의 일이 발상·판단·정서로 옮겨 간다는 공통 구조입니다. 여기서 스몰토크를 한 번 넣습니다. “방금 세 사례 중 우리 반과 가장 닮은 장면이 있었나요? 그 장면에서 나라면 데이터를 보고 무엇부터 바꿀까요?” 옆 선생님과 한 문장씩 나누게 하시면 됩니다. 이 나눔이 곧이어질 실습의 준비 운동이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[67:00] Part 3, 오늘의 핵심인 실습입니다. 여기서 55분가량을 씁니다. 새로 촬영하지 않고 ⑩·⑪에서 만든 데이터를 그대로 되돌린다는 점을 다시 강조해 주세요. 데이터가 부족한 모둠은 핵심 장면만 짧게 재현하면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[67:00–70:00] 실습 전체 흐름을 한 장으로 보여 줍니다. 입력은 ⑩ 실행 기록과 ⑪ 분석 결과이고, 오늘 세 활동(결과 공유·비판적 성찰·현장 적용)을 거칩니다. 활동마다 몇 분씩 쓸지 여기서 미리 안내해 두면 모둠이 시간을 관리하기 쉽습니다. 데이터가 없는 모둠 대응(핵심 3분 재현)도 이 슬라이드에서 함께 공지합니다.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[70:00–85:00] 활동 1, 갤러리 워크입니다. 전시·관람·피드백·벤치마킹 순서로 진행합니다. 패들렛 같은 온라인 게시판에 모둠 산출물을 올리고 서로 순회하며 다음 장의 기준으로 피드백을 남기게 하세요. 교과가 다르면 데이터도 다르지만 ‘타당성을 어떻게 확보했는가’라는 질문은 같다는 점을 관람 전에 짚어 주면 교차 교과 관람의 효과가 커집니다. 전원이 관람자이자 평가자가 되도록 발표자 한 명에게 몰리지 않게 운영합니다.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[관람과 병행] 상호 점검의 세 기준입니다. 타당성, 적절성, 실현 가능성입니다. 하단의 교과별 관찰 지점 예시(음악 음정·박자 로그, 미술 시안 선별, 체육 자세·참여 지속)는 피드백을 구체화하는 데 씁니다. 단순 칭찬을 넘어 이 세 기준으로 한 가지씩 짚도록 안내해 주세요. 이 체크리스트는 KERIS 제공본을 기준으로 하되 학교 상황에 맞게 조정해 쓰셔도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[85:00–95:00] 활동 2의 앞부분, 데이터 해석 원칙 네 가지입니다. 지원 대상 찾기, 개인과 학급 구분, 원자료와 교차 확인, 윤리적 태도입니다. 자동 자막 비유가 이 원칙을 한 번에 설명해 줍니다. 큰 경향은 믿되 결정적 장면은 원문으로 확인한다는 것입니다. ⑪에서 나온 발화 비율 수치를 예로 들어, 그 비율을 스크립트로 눈으로 확인한 뒤 다음 수업 발문을 준비하는 흐름을 시연하시면 이해가 빠릅니다.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[95:00–105:00] 활동 2의 뒷부분입니다. 도입의 좌우 프레임을 심화해 다시 봅니다. 두 개의 토의 질문이 핵심입니다. AI가 해결해 준 가장 속 시원한 부분, 그리고 데이터가 못 읽어 교사가 반드시 개입해야 했던 부분입니다. 전체 토의로 몇 분 나눈 뒤 나온 이야기를 칠판이나 패들렛에 모아 주세요. 이 대화가 다음 활동의 액션 플랜에 그대로 반영됩니다.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[105:00–122:00] 활동 3, 오늘의 산출물인 액션 플랜입니다. 환경·타겟 분석과 첫 실행 시나리오 두 칸을 채웁니다. 복귀 직후 당장 해 볼 15분 수업 한 장면을 설계하도록 안내해 주세요. 하단의 교과 맞춤 예시(음악 합주 녹음 후 박자 로그, 미술 시안 선별 작가노트, 체육 준비운동 자세 촬영)를 참고하되, 갤러리 워크에서 얻은 아이디어를 자기 맥락으로 재구성해 적게 하는 것이 좋습니다. 이 캔버스가 다음 발표의 원고가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[122:00] 마지막 Part 4입니다. 발표와 상호 크리틱, 성찰 기록, 다음 단원으로의 전이, 만족도 조사로 마무리합니다. 30분가량 남았습니다.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[122:00–137:00] 발표와 크리틱입니다. 교과별 대표 또는 모둠 대표가 3분 발표하고 2분 크리틱을 받습니다. 크리틱은 장점 하나, 개선점 하나 구조로 남기게 하세요. 발표의 목적은 자랑이 아니라 동료 환류를 받아 자기 플랜을 한 번 더 고치는 데 있다는 점을 발표 전에 안내하면 분위기가 건설적으로 잡힙니다. 채점과 선정 기준은 KERIS 최종 안내를 따릅니다.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[137:00–142:00] 산출물 정리 단계입니다. 성찰 저널은 설계 타당성(D3), 학생 성장(E3), 피드백·환류(F3) 세 축으로 씁니다. 오른쪽의 수정 반영 양식이 중요합니다. 변경 전·후와 그 근거, 즉 어떤 데이터·피드백이 이 수정을 만들었는지를 적게 하면 환류가 말로 끝나지 않고 설계 수정으로 이어집니다. 시간이 부족하면 이 양식은 과제로 돌려도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[142:00–148:00] KPT 3줄 회고입니다. 유지할 점, 남은 고민, 다음 주 시도할 한 가지입니다. 전이 발문은 “오늘의 환류 원리를 내 다음 단원에 어떻게 옮길 것인가?”입니다. 회고를 모둠원과 5분 나누게 하고 연수 종료 후에도 이어질 선도교사 네트워크로 연결해 주세요. 이 물음이 다음 과정 ⑬의 출발점이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[148:00–153:00] 마무리입니다. 만족도 조사는 QR 또는 링크로 받습니다. 이 조사 자체가 하나의 환류라는 점을 가볍게 짚으면 오늘 주제와 맞물립니다. 오른쪽 요약 네 문장으로 하루를 정리해 주세요. 마지막으로 오늘 만든 액션 플랜을 내일 당장, 그리고 내 다음 단원으로 옮기자는 실행 다짐으로 닫으시면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[참고용] 오늘 인용한 연구와 링크입니다. 발표나 질의 중 근거를 물으면 이 슬라이드로 안내하시면 됩니다. DOI는 doi.org 앞에 https를 붙여 접속합니다. 링크는 2026년 7월 기준으로 확인했습니다. 관심 있는 선생님께는 교과별로 한두 편만 추천해 주셔도 충분합니다.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[참고용] 교과별 도구와 수집 데이터 예시, 그리고 유의사항입니다. 도구는 예시로만 제시하며 같은 목적의 대체 도구가 있음을 안내합니다. 특정 제품 홍보가 되지 않도록 주의하고, 실습에 쓰는 콘텐츠·앱은 라이선스를 확인해 출처를 표기합니다. 녹음·영상은 사전 동의 후 수집하고 분석이 끝나면 삭제한다는 원칙도 함께 안내해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hyperlink" Target="https://doi.org/10.1002/bs.3830280103" TargetMode="External"/><Relationship Id="rId5" Type="http://schemas.openxmlformats.org/officeDocument/2006/relationships/hyperlink" Target="https://doi.org/10.1007/BF00117714" TargetMode="External"/><Relationship Id="rId6" Type="http://schemas.openxmlformats.org/officeDocument/2006/relationships/hyperlink" Target="https://doi.org/10.3102/003465430298487" TargetMode="Externa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www.oecd.org/en/data/tools/oecd-learning-compass-2030.html" TargetMode="Externa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4" Type="http://schemas.openxmlformats.org/officeDocument/2006/relationships/hyperlink" Target="https://doi.org/10.1093/pnasnexus/pgae052" TargetMode="Externa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4" Type="http://schemas.openxmlformats.org/officeDocument/2006/relationships/hyperlink" Target="https://doi.org/10.1007/s10639-024-12705-z" TargetMode="Externa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pmc.ncbi.nlm.nih.gov/articles/PMC12557579" TargetMode="External"/><Relationship Id="rId3" Type="http://schemas.openxmlformats.org/officeDocument/2006/relationships/hyperlink" Target="https://doi.org/10.1080/10632913.2025.2451373" TargetMode="External"/><Relationship Id="rId1" Type="http://schemas.openxmlformats.org/officeDocument/2006/relationships/chart" Target="/ppt/charts/chart1.xml"/><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doi.org/10.1093/pnasnexus/pgae052"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www.mdpi.com/2227-7102/16/1/47" TargetMode="External"/><Relationship Id="rId1"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doi.org/10.1186/s40561-025-00411-3" TargetMode="External"/><Relationship Id="rId1" Type="http://schemas.openxmlformats.org/officeDocument/2006/relationships/image" Target="../media/image-17-1.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brunch.co.kr/@36cac28a4163401/143" TargetMode="External"/><Relationship Id="rId2" Type="http://schemas.openxmlformats.org/officeDocument/2006/relationships/hyperlink" Target="https://pmc.ncbi.nlm.nih.gov/articles/PMC11401083"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doi.org/10.1002/bs.3830280103" TargetMode="External"/><Relationship Id="rId2" Type="http://schemas.openxmlformats.org/officeDocument/2006/relationships/hyperlink" Target="https://doi.org/10.1007/BF00117714" TargetMode="External"/><Relationship Id="rId3" Type="http://schemas.openxmlformats.org/officeDocument/2006/relationships/hyperlink" Target="https://doi.org/10.3102/003465430298487" TargetMode="External"/><Relationship Id="rId4" Type="http://schemas.openxmlformats.org/officeDocument/2006/relationships/hyperlink" Target="https://doi.org/10.1007/s11092-008-9068-5" TargetMode="External"/><Relationship Id="rId5" Type="http://schemas.openxmlformats.org/officeDocument/2006/relationships/hyperlink" Target="https://www.oecd.org/en/data/tools/oecd-learning-compass-2030.html" TargetMode="External"/><Relationship Id="rId6" Type="http://schemas.openxmlformats.org/officeDocument/2006/relationships/hyperlink" Target="https://doi.org/10.1007/s10639-024-12705-z" TargetMode="External"/><Relationship Id="rId7" Type="http://schemas.openxmlformats.org/officeDocument/2006/relationships/hyperlink" Target="https://pmc.ncbi.nlm.nih.gov/articles/PMC12557579" TargetMode="External"/><Relationship Id="rId8" Type="http://schemas.openxmlformats.org/officeDocument/2006/relationships/hyperlink" Target="https://doi.org/10.1080/10632913.2025.2451373" TargetMode="External"/><Relationship Id="rId9" Type="http://schemas.openxmlformats.org/officeDocument/2006/relationships/hyperlink" Target="https://doi.org/10.1093/pnasnexus/pgae052" TargetMode="External"/><Relationship Id="rId10" Type="http://schemas.openxmlformats.org/officeDocument/2006/relationships/hyperlink" Target="https://mdpi.com/2227-7102/16/1/47" TargetMode="External"/><Relationship Id="rId11" Type="http://schemas.openxmlformats.org/officeDocument/2006/relationships/hyperlink" Target="https://doi.org/10.1186/s40561-025-00411-3" TargetMode="External"/><Relationship Id="rId12" Type="http://schemas.openxmlformats.org/officeDocument/2006/relationships/hyperlink" Target="https://pmc.ncbi.nlm.nih.gov/articles/PMC11401083" TargetMode="External"/><Relationship Id="rId13" Type="http://schemas.openxmlformats.org/officeDocument/2006/relationships/hyperlink" Target="https://brunch.co.kr/@36cac28a4163401/143" TargetMode="External"/><Relationship Id="rId14" Type="http://schemas.openxmlformats.org/officeDocument/2006/relationships/slideLayout" Target="../slideLayouts/slideLayout1.xml"/><Relationship Id="rId1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6FB"/>
        </a:solidFill>
      </p:bgPr>
    </p:bg>
    <p:spTree>
      <p:nvGrpSpPr>
        <p:cNvPr id="1" name=""/>
        <p:cNvGrpSpPr/>
        <p:nvPr/>
      </p:nvGrpSpPr>
      <p:grpSpPr>
        <a:xfrm>
          <a:off x="0" y="0"/>
          <a:ext cx="0" cy="0"/>
          <a:chOff x="0" y="0"/>
          <a:chExt cx="0" cy="0"/>
        </a:xfrm>
      </p:grpSpPr>
      <p:sp>
        <p:nvSpPr>
          <p:cNvPr id="2" name="Shape 0"/>
          <p:cNvSpPr/>
          <p:nvPr/>
        </p:nvSpPr>
        <p:spPr>
          <a:xfrm>
            <a:off x="9144000" y="-1463040"/>
            <a:ext cx="5394960" cy="5394960"/>
          </a:xfrm>
          <a:prstGeom prst="ellipse">
            <a:avLst/>
          </a:prstGeom>
          <a:solidFill>
            <a:srgbClr val="EAEEF8"/>
          </a:solidFill>
          <a:ln/>
        </p:spPr>
      </p:sp>
      <p:sp>
        <p:nvSpPr>
          <p:cNvPr id="3" name="Shape 1"/>
          <p:cNvSpPr/>
          <p:nvPr/>
        </p:nvSpPr>
        <p:spPr>
          <a:xfrm>
            <a:off x="10607040" y="3566160"/>
            <a:ext cx="3108960" cy="3108960"/>
          </a:xfrm>
          <a:prstGeom prst="ellipse">
            <a:avLst/>
          </a:prstGeom>
          <a:solidFill>
            <a:srgbClr val="ECE8F8"/>
          </a:solidFill>
          <a:ln/>
        </p:spPr>
      </p:sp>
      <p:sp>
        <p:nvSpPr>
          <p:cNvPr id="4" name="Shape 2"/>
          <p:cNvSpPr/>
          <p:nvPr/>
        </p:nvSpPr>
        <p:spPr>
          <a:xfrm>
            <a:off x="566928" y="1481328"/>
            <a:ext cx="155448" cy="155448"/>
          </a:xfrm>
          <a:prstGeom prst="ellipse">
            <a:avLst/>
          </a:prstGeom>
          <a:solidFill>
            <a:srgbClr val="8E7BD6"/>
          </a:solidFill>
          <a:ln/>
        </p:spPr>
      </p:sp>
      <p:sp>
        <p:nvSpPr>
          <p:cNvPr id="5" name="Shape 3"/>
          <p:cNvSpPr/>
          <p:nvPr/>
        </p:nvSpPr>
        <p:spPr>
          <a:xfrm>
            <a:off x="841248" y="1481328"/>
            <a:ext cx="155448" cy="155448"/>
          </a:xfrm>
          <a:prstGeom prst="ellipse">
            <a:avLst/>
          </a:prstGeom>
          <a:solidFill>
            <a:srgbClr val="D98C74"/>
          </a:solidFill>
          <a:ln/>
        </p:spPr>
      </p:sp>
      <p:sp>
        <p:nvSpPr>
          <p:cNvPr id="6" name="Shape 4"/>
          <p:cNvSpPr/>
          <p:nvPr/>
        </p:nvSpPr>
        <p:spPr>
          <a:xfrm>
            <a:off x="1115568" y="1481328"/>
            <a:ext cx="155448" cy="155448"/>
          </a:xfrm>
          <a:prstGeom prst="ellipse">
            <a:avLst/>
          </a:prstGeom>
          <a:solidFill>
            <a:srgbClr val="79B296"/>
          </a:solidFill>
          <a:ln/>
        </p:spPr>
      </p:sp>
      <p:sp>
        <p:nvSpPr>
          <p:cNvPr id="7" name="Text 5"/>
          <p:cNvSpPr/>
          <p:nvPr/>
        </p:nvSpPr>
        <p:spPr>
          <a:xfrm>
            <a:off x="566928" y="1874520"/>
            <a:ext cx="8229600" cy="365760"/>
          </a:xfrm>
          <a:prstGeom prst="rect">
            <a:avLst/>
          </a:prstGeom>
          <a:noFill/>
          <a:ln/>
        </p:spPr>
        <p:txBody>
          <a:bodyPr wrap="square" lIns="0" tIns="0" rIns="0" bIns="0" rtlCol="0" anchor="ctr"/>
          <a:lstStyle/>
          <a:p>
            <a:pPr indent="0" marL="0">
              <a:buNone/>
            </a:pPr>
            <a:r>
              <a:rPr lang="en-US" sz="1300" b="1" dirty="0">
                <a:solidFill>
                  <a:srgbClr val="59607A"/>
                </a:solidFill>
                <a:latin typeface="Malgun Gothic" pitchFamily="34" charset="0"/>
                <a:ea typeface="Malgun Gothic" pitchFamily="34" charset="-122"/>
                <a:cs typeface="Malgun Gothic" pitchFamily="34" charset="-120"/>
              </a:rPr>
              <a:t>2026 인공지능 활용 선도교사 연수 · 17개 시·도교육청</a:t>
            </a:r>
            <a:endParaRPr lang="en-US" sz="1300" dirty="0"/>
          </a:p>
        </p:txBody>
      </p:sp>
      <p:sp>
        <p:nvSpPr>
          <p:cNvPr id="8" name="Text 6"/>
          <p:cNvSpPr/>
          <p:nvPr/>
        </p:nvSpPr>
        <p:spPr>
          <a:xfrm>
            <a:off x="566928" y="2331720"/>
            <a:ext cx="9601200" cy="914400"/>
          </a:xfrm>
          <a:prstGeom prst="rect">
            <a:avLst/>
          </a:prstGeom>
          <a:noFill/>
          <a:ln/>
        </p:spPr>
        <p:txBody>
          <a:bodyPr wrap="square" lIns="0" tIns="0" rIns="0" bIns="0" rtlCol="0" anchor="ctr"/>
          <a:lstStyle/>
          <a:p>
            <a:pPr indent="0" marL="0">
              <a:buNone/>
            </a:pPr>
            <a:r>
              <a:rPr lang="en-US" sz="3600" b="1" dirty="0">
                <a:solidFill>
                  <a:srgbClr val="1E3560"/>
                </a:solidFill>
                <a:latin typeface="Malgun Gothic" pitchFamily="34" charset="0"/>
                <a:ea typeface="Malgun Gothic" pitchFamily="34" charset="-122"/>
                <a:cs typeface="Malgun Gothic" pitchFamily="34" charset="-120"/>
              </a:rPr>
              <a:t>집합 ⑫  평가 결과 기반 교수학습 환류</a:t>
            </a:r>
            <a:endParaRPr lang="en-US" sz="3600" dirty="0"/>
          </a:p>
        </p:txBody>
      </p:sp>
      <p:sp>
        <p:nvSpPr>
          <p:cNvPr id="9" name="Text 7"/>
          <p:cNvSpPr/>
          <p:nvPr/>
        </p:nvSpPr>
        <p:spPr>
          <a:xfrm>
            <a:off x="566928" y="3310128"/>
            <a:ext cx="9144000" cy="457200"/>
          </a:xfrm>
          <a:prstGeom prst="rect">
            <a:avLst/>
          </a:prstGeom>
          <a:noFill/>
          <a:ln/>
        </p:spPr>
        <p:txBody>
          <a:bodyPr wrap="square" lIns="0" tIns="0" rIns="0" bIns="0" rtlCol="0" anchor="ctr"/>
          <a:lstStyle/>
          <a:p>
            <a:pPr indent="0" marL="0">
              <a:buNone/>
            </a:pPr>
            <a:r>
              <a:rPr lang="en-US" sz="1700" dirty="0">
                <a:solidFill>
                  <a:srgbClr val="59607A"/>
                </a:solidFill>
                <a:latin typeface="Malgun Gothic" pitchFamily="34" charset="0"/>
                <a:ea typeface="Malgun Gothic" pitchFamily="34" charset="-122"/>
                <a:cs typeface="Malgun Gothic" pitchFamily="34" charset="-120"/>
              </a:rPr>
              <a:t>결과 공유 · 비판적 성찰 · 현장 적용 계획</a:t>
            </a:r>
            <a:endParaRPr lang="en-US" sz="1700" dirty="0"/>
          </a:p>
        </p:txBody>
      </p:sp>
      <p:sp>
        <p:nvSpPr>
          <p:cNvPr id="10" name="Text 8"/>
          <p:cNvSpPr/>
          <p:nvPr/>
        </p:nvSpPr>
        <p:spPr>
          <a:xfrm>
            <a:off x="566928" y="3977640"/>
            <a:ext cx="9144000" cy="457200"/>
          </a:xfrm>
          <a:prstGeom prst="rect">
            <a:avLst/>
          </a:prstGeom>
          <a:noFill/>
          <a:ln/>
        </p:spPr>
        <p:txBody>
          <a:bodyPr wrap="square" lIns="0" tIns="0" rIns="0" bIns="0" rtlCol="0" anchor="ctr"/>
          <a:lstStyle/>
          <a:p>
            <a:pPr indent="0" marL="0">
              <a:buNone/>
            </a:pPr>
            <a:r>
              <a:rPr lang="en-US" sz="1400" b="1" dirty="0">
                <a:solidFill>
                  <a:srgbClr val="2E4A85"/>
                </a:solidFill>
                <a:latin typeface="Malgun Gothic" pitchFamily="34" charset="0"/>
                <a:ea typeface="Malgun Gothic" pitchFamily="34" charset="-122"/>
                <a:cs typeface="Malgun Gothic" pitchFamily="34" charset="-120"/>
              </a:rPr>
              <a:t>음악 · 미술 · 체육 통합 과정 (예체능 영역분반)</a:t>
            </a:r>
            <a:endParaRPr lang="en-US" sz="1400" dirty="0"/>
          </a:p>
        </p:txBody>
      </p:sp>
      <p:sp>
        <p:nvSpPr>
          <p:cNvPr id="11" name="Text 9"/>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12" name="Text 10"/>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59607A"/>
                </a:solidFill>
                <a:latin typeface="Malgun Gothic" pitchFamily="34" charset="0"/>
                <a:ea typeface="Malgun Gothic" pitchFamily="34" charset="-122"/>
                <a:cs typeface="Malgun Gothic" pitchFamily="34" charset="-120"/>
              </a:rPr>
              <a:t>ORIENTATION</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연수 개요</a:t>
            </a:r>
            <a:endParaRPr lang="en-US" sz="2400" dirty="0"/>
          </a:p>
        </p:txBody>
      </p:sp>
      <p:sp>
        <p:nvSpPr>
          <p:cNvPr id="4" name="Shape 2"/>
          <p:cNvSpPr/>
          <p:nvPr/>
        </p:nvSpPr>
        <p:spPr>
          <a:xfrm>
            <a:off x="566928" y="1417320"/>
            <a:ext cx="11064240" cy="640080"/>
          </a:xfrm>
          <a:prstGeom prst="roundRect">
            <a:avLst>
              <a:gd name="adj" fmla="val 14286"/>
            </a:avLst>
          </a:prstGeom>
          <a:solidFill>
            <a:srgbClr val="FFFFFF"/>
          </a:solidFill>
          <a:ln/>
          <a:effectLst>
            <a:outerShdw sx="100000" sy="100000" kx="0" ky="0" algn="bl" rotWithShape="0" blurRad="114300" dist="25400" dir="5400000">
              <a:srgbClr val="9AA2B8">
                <a:alpha val="20000"/>
              </a:srgbClr>
            </a:outerShdw>
          </a:effectLst>
        </p:spPr>
      </p:sp>
      <p:sp>
        <p:nvSpPr>
          <p:cNvPr id="5" name="Shape 3"/>
          <p:cNvSpPr/>
          <p:nvPr/>
        </p:nvSpPr>
        <p:spPr>
          <a:xfrm>
            <a:off x="768096" y="1600200"/>
            <a:ext cx="1828800" cy="384048"/>
          </a:xfrm>
          <a:prstGeom prst="roundRect">
            <a:avLst>
              <a:gd name="adj" fmla="val 23810"/>
            </a:avLst>
          </a:prstGeom>
          <a:solidFill>
            <a:srgbClr val="EAEEF8"/>
          </a:solidFill>
          <a:ln/>
        </p:spPr>
      </p:sp>
      <p:sp>
        <p:nvSpPr>
          <p:cNvPr id="6" name="Text 4"/>
          <p:cNvSpPr/>
          <p:nvPr/>
        </p:nvSpPr>
        <p:spPr>
          <a:xfrm>
            <a:off x="768096" y="1600200"/>
            <a:ext cx="1828800" cy="384048"/>
          </a:xfrm>
          <a:prstGeom prst="rect">
            <a:avLst/>
          </a:prstGeom>
          <a:noFill/>
          <a:ln/>
        </p:spPr>
        <p:txBody>
          <a:bodyPr wrap="square" lIns="0" tIns="0" rIns="0" bIns="0" rtlCol="0" anchor="ctr"/>
          <a:lstStyle/>
          <a:p>
            <a:pPr algn="ctr" indent="0" marL="0">
              <a:buNone/>
            </a:pPr>
            <a:r>
              <a:rPr lang="en-US" sz="1250" b="1" dirty="0">
                <a:solidFill>
                  <a:srgbClr val="2E4A85"/>
                </a:solidFill>
                <a:latin typeface="Malgun Gothic" pitchFamily="34" charset="0"/>
                <a:ea typeface="Malgun Gothic" pitchFamily="34" charset="-122"/>
                <a:cs typeface="Malgun Gothic" pitchFamily="34" charset="-120"/>
              </a:rPr>
              <a:t>강좌명</a:t>
            </a:r>
            <a:endParaRPr lang="en-US" sz="1250" dirty="0"/>
          </a:p>
        </p:txBody>
      </p:sp>
      <p:sp>
        <p:nvSpPr>
          <p:cNvPr id="7" name="Text 5"/>
          <p:cNvSpPr/>
          <p:nvPr/>
        </p:nvSpPr>
        <p:spPr>
          <a:xfrm>
            <a:off x="2807208" y="1563624"/>
            <a:ext cx="8595360" cy="420624"/>
          </a:xfrm>
          <a:prstGeom prst="rect">
            <a:avLst/>
          </a:prstGeom>
          <a:noFill/>
          <a:ln/>
        </p:spPr>
        <p:txBody>
          <a:bodyPr wrap="square" lIns="0" tIns="0" rIns="0" bIns="0" rtlCol="0" anchor="t"/>
          <a:lstStyle/>
          <a:p>
            <a:pPr algn="l" indent="0" marL="0">
              <a:lnSpc>
                <a:spcPct val="104000"/>
              </a:lnSpc>
              <a:spcAft>
                <a:spcPts val="600"/>
              </a:spcAft>
              <a:buNone/>
            </a:pPr>
            <a:r>
              <a:rPr lang="en-US" sz="1250" b="1" dirty="0">
                <a:solidFill>
                  <a:srgbClr val="343A4D"/>
                </a:solidFill>
                <a:latin typeface="Malgun Gothic" pitchFamily="34" charset="0"/>
                <a:ea typeface="Malgun Gothic" pitchFamily="34" charset="-122"/>
                <a:cs typeface="Malgun Gothic" pitchFamily="34" charset="-120"/>
              </a:rPr>
              <a:t>평가 결과 기반 교수학습 환류: 예체능(음·미·체) 통합</a:t>
            </a:r>
            <a:endParaRPr lang="en-US" sz="1250" dirty="0"/>
          </a:p>
        </p:txBody>
      </p:sp>
      <p:sp>
        <p:nvSpPr>
          <p:cNvPr id="8" name="Shape 6"/>
          <p:cNvSpPr/>
          <p:nvPr/>
        </p:nvSpPr>
        <p:spPr>
          <a:xfrm>
            <a:off x="566928" y="2203704"/>
            <a:ext cx="11064240" cy="1261872"/>
          </a:xfrm>
          <a:prstGeom prst="roundRect">
            <a:avLst>
              <a:gd name="adj" fmla="val 7246"/>
            </a:avLst>
          </a:prstGeom>
          <a:solidFill>
            <a:srgbClr val="FFFFFF"/>
          </a:solidFill>
          <a:ln/>
          <a:effectLst>
            <a:outerShdw sx="100000" sy="100000" kx="0" ky="0" algn="bl" rotWithShape="0" blurRad="114300" dist="25400" dir="5400000">
              <a:srgbClr val="9AA2B8">
                <a:alpha val="20000"/>
              </a:srgbClr>
            </a:outerShdw>
          </a:effectLst>
        </p:spPr>
      </p:sp>
      <p:sp>
        <p:nvSpPr>
          <p:cNvPr id="9" name="Shape 7"/>
          <p:cNvSpPr/>
          <p:nvPr/>
        </p:nvSpPr>
        <p:spPr>
          <a:xfrm>
            <a:off x="768096" y="2386584"/>
            <a:ext cx="1828800" cy="384048"/>
          </a:xfrm>
          <a:prstGeom prst="roundRect">
            <a:avLst>
              <a:gd name="adj" fmla="val 23810"/>
            </a:avLst>
          </a:prstGeom>
          <a:solidFill>
            <a:srgbClr val="EAEEF8"/>
          </a:solidFill>
          <a:ln/>
        </p:spPr>
      </p:sp>
      <p:sp>
        <p:nvSpPr>
          <p:cNvPr id="10" name="Text 8"/>
          <p:cNvSpPr/>
          <p:nvPr/>
        </p:nvSpPr>
        <p:spPr>
          <a:xfrm>
            <a:off x="768096" y="2386584"/>
            <a:ext cx="1828800" cy="384048"/>
          </a:xfrm>
          <a:prstGeom prst="rect">
            <a:avLst/>
          </a:prstGeom>
          <a:noFill/>
          <a:ln/>
        </p:spPr>
        <p:txBody>
          <a:bodyPr wrap="square" lIns="0" tIns="0" rIns="0" bIns="0" rtlCol="0" anchor="ctr"/>
          <a:lstStyle/>
          <a:p>
            <a:pPr algn="ctr" indent="0" marL="0">
              <a:buNone/>
            </a:pPr>
            <a:r>
              <a:rPr lang="en-US" sz="1250" b="1" dirty="0">
                <a:solidFill>
                  <a:srgbClr val="2E4A85"/>
                </a:solidFill>
                <a:latin typeface="Malgun Gothic" pitchFamily="34" charset="0"/>
                <a:ea typeface="Malgun Gothic" pitchFamily="34" charset="-122"/>
                <a:cs typeface="Malgun Gothic" pitchFamily="34" charset="-120"/>
              </a:rPr>
              <a:t>교수학습목표</a:t>
            </a:r>
            <a:endParaRPr lang="en-US" sz="1250" dirty="0"/>
          </a:p>
        </p:txBody>
      </p:sp>
      <p:sp>
        <p:nvSpPr>
          <p:cNvPr id="11" name="Text 9"/>
          <p:cNvSpPr/>
          <p:nvPr/>
        </p:nvSpPr>
        <p:spPr>
          <a:xfrm>
            <a:off x="2807208" y="2350008"/>
            <a:ext cx="8595360" cy="1042416"/>
          </a:xfrm>
          <a:prstGeom prst="rect">
            <a:avLst/>
          </a:prstGeom>
          <a:noFill/>
          <a:ln/>
        </p:spPr>
        <p:txBody>
          <a:bodyPr wrap="square" lIns="0" tIns="0" rIns="0" bIns="0" rtlCol="0" anchor="t"/>
          <a:lstStyle/>
          <a:p>
            <a:pPr algn="l" marL="203200" indent="-203200">
              <a:lnSpc>
                <a:spcPct val="104000"/>
              </a:lnSpc>
              <a:spcAft>
                <a:spcPts val="600"/>
              </a:spcAft>
              <a:buSzPct val="100000"/>
              <a:buChar char="•"/>
            </a:pPr>
            <a:r>
              <a:rPr lang="en-US" sz="1250" dirty="0">
                <a:solidFill>
                  <a:srgbClr val="343A4D"/>
                </a:solidFill>
                <a:latin typeface="Malgun Gothic" pitchFamily="34" charset="0"/>
                <a:ea typeface="Malgun Gothic" pitchFamily="34" charset="-122"/>
                <a:cs typeface="Malgun Gothic" pitchFamily="34" charset="-120"/>
              </a:rPr>
              <a:t>실기·수행 데이터 분석 결과를 공유하고, 수업–데이터–평가의 정합성을 비판적으로 성찰한다.</a:t>
            </a:r>
            <a:endParaRPr lang="en-US" sz="1250" dirty="0"/>
          </a:p>
          <a:p>
            <a:pPr algn="l" marL="203200" indent="-203200">
              <a:lnSpc>
                <a:spcPct val="104000"/>
              </a:lnSpc>
              <a:spcAft>
                <a:spcPts val="600"/>
              </a:spcAft>
              <a:buSzPct val="100000"/>
              <a:buChar char="•"/>
            </a:pPr>
            <a:r>
              <a:rPr lang="en-US" sz="1250" dirty="0">
                <a:solidFill>
                  <a:srgbClr val="343A4D"/>
                </a:solidFill>
                <a:latin typeface="Malgun Gothic" pitchFamily="34" charset="0"/>
                <a:ea typeface="Malgun Gothic" pitchFamily="34" charset="-122"/>
                <a:cs typeface="Malgun Gothic" pitchFamily="34" charset="-120"/>
              </a:rPr>
              <a:t>AI 데이터 분석이 하는 일과 교사 고유의 역할(정서·맥락)을 구분해 수업에 적용한다.</a:t>
            </a:r>
            <a:endParaRPr lang="en-US" sz="1250" dirty="0"/>
          </a:p>
          <a:p>
            <a:pPr algn="l" marL="203200" indent="-203200">
              <a:lnSpc>
                <a:spcPct val="104000"/>
              </a:lnSpc>
              <a:spcAft>
                <a:spcPts val="600"/>
              </a:spcAft>
              <a:buSzPct val="100000"/>
              <a:buChar char="•"/>
            </a:pPr>
            <a:r>
              <a:rPr lang="en-US" sz="1250" dirty="0">
                <a:solidFill>
                  <a:srgbClr val="343A4D"/>
                </a:solidFill>
                <a:latin typeface="Malgun Gothic" pitchFamily="34" charset="0"/>
                <a:ea typeface="Malgun Gothic" pitchFamily="34" charset="-122"/>
                <a:cs typeface="Malgun Gothic" pitchFamily="34" charset="-120"/>
              </a:rPr>
              <a:t>소속 학교 실기 환경에 맞춘 실효성 있는 데이터 기반 환류 계획을 수립한다.</a:t>
            </a:r>
            <a:endParaRPr lang="en-US" sz="1250" dirty="0"/>
          </a:p>
        </p:txBody>
      </p:sp>
      <p:sp>
        <p:nvSpPr>
          <p:cNvPr id="12" name="Shape 10"/>
          <p:cNvSpPr/>
          <p:nvPr/>
        </p:nvSpPr>
        <p:spPr>
          <a:xfrm>
            <a:off x="566928" y="3611880"/>
            <a:ext cx="11064240" cy="1261872"/>
          </a:xfrm>
          <a:prstGeom prst="roundRect">
            <a:avLst>
              <a:gd name="adj" fmla="val 7246"/>
            </a:avLst>
          </a:prstGeom>
          <a:solidFill>
            <a:srgbClr val="FFFFFF"/>
          </a:solidFill>
          <a:ln/>
          <a:effectLst>
            <a:outerShdw sx="100000" sy="100000" kx="0" ky="0" algn="bl" rotWithShape="0" blurRad="114300" dist="25400" dir="5400000">
              <a:srgbClr val="9AA2B8">
                <a:alpha val="20000"/>
              </a:srgbClr>
            </a:outerShdw>
          </a:effectLst>
        </p:spPr>
      </p:sp>
      <p:sp>
        <p:nvSpPr>
          <p:cNvPr id="13" name="Shape 11"/>
          <p:cNvSpPr/>
          <p:nvPr/>
        </p:nvSpPr>
        <p:spPr>
          <a:xfrm>
            <a:off x="768096" y="3794760"/>
            <a:ext cx="1828800" cy="384048"/>
          </a:xfrm>
          <a:prstGeom prst="roundRect">
            <a:avLst>
              <a:gd name="adj" fmla="val 23810"/>
            </a:avLst>
          </a:prstGeom>
          <a:solidFill>
            <a:srgbClr val="EAEEF8"/>
          </a:solidFill>
          <a:ln/>
        </p:spPr>
      </p:sp>
      <p:sp>
        <p:nvSpPr>
          <p:cNvPr id="14" name="Text 12"/>
          <p:cNvSpPr/>
          <p:nvPr/>
        </p:nvSpPr>
        <p:spPr>
          <a:xfrm>
            <a:off x="768096" y="3794760"/>
            <a:ext cx="1828800" cy="384048"/>
          </a:xfrm>
          <a:prstGeom prst="rect">
            <a:avLst/>
          </a:prstGeom>
          <a:noFill/>
          <a:ln/>
        </p:spPr>
        <p:txBody>
          <a:bodyPr wrap="square" lIns="0" tIns="0" rIns="0" bIns="0" rtlCol="0" anchor="ctr"/>
          <a:lstStyle/>
          <a:p>
            <a:pPr algn="ctr" indent="0" marL="0">
              <a:buNone/>
            </a:pPr>
            <a:r>
              <a:rPr lang="en-US" sz="1250" b="1" dirty="0">
                <a:solidFill>
                  <a:srgbClr val="2E4A85"/>
                </a:solidFill>
                <a:latin typeface="Malgun Gothic" pitchFamily="34" charset="0"/>
                <a:ea typeface="Malgun Gothic" pitchFamily="34" charset="-122"/>
                <a:cs typeface="Malgun Gothic" pitchFamily="34" charset="-120"/>
              </a:rPr>
              <a:t>교수학습활동</a:t>
            </a:r>
            <a:endParaRPr lang="en-US" sz="1250" dirty="0"/>
          </a:p>
        </p:txBody>
      </p:sp>
      <p:sp>
        <p:nvSpPr>
          <p:cNvPr id="15" name="Text 13"/>
          <p:cNvSpPr/>
          <p:nvPr/>
        </p:nvSpPr>
        <p:spPr>
          <a:xfrm>
            <a:off x="2807208" y="3758184"/>
            <a:ext cx="8595360" cy="1042416"/>
          </a:xfrm>
          <a:prstGeom prst="rect">
            <a:avLst/>
          </a:prstGeom>
          <a:noFill/>
          <a:ln/>
        </p:spPr>
        <p:txBody>
          <a:bodyPr wrap="square" lIns="0" tIns="0" rIns="0" bIns="0" rtlCol="0" anchor="t"/>
          <a:lstStyle/>
          <a:p>
            <a:pPr algn="l" marL="203200" indent="-203200">
              <a:lnSpc>
                <a:spcPct val="104000"/>
              </a:lnSpc>
              <a:spcAft>
                <a:spcPts val="600"/>
              </a:spcAft>
              <a:buSzPct val="100000"/>
              <a:buChar char="•"/>
            </a:pPr>
            <a:r>
              <a:rPr lang="en-US" sz="1250" dirty="0">
                <a:solidFill>
                  <a:srgbClr val="343A4D"/>
                </a:solidFill>
                <a:latin typeface="Malgun Gothic" pitchFamily="34" charset="0"/>
                <a:ea typeface="Malgun Gothic" pitchFamily="34" charset="-122"/>
                <a:cs typeface="Malgun Gothic" pitchFamily="34" charset="-120"/>
              </a:rPr>
              <a:t>활동 1  결과 공유. 갤러리 워크로 교과별 산출물을 전시·관람하며 분석 타당성을 상호 점검</a:t>
            </a:r>
            <a:endParaRPr lang="en-US" sz="1250" dirty="0"/>
          </a:p>
          <a:p>
            <a:pPr algn="l" marL="203200" indent="-203200">
              <a:lnSpc>
                <a:spcPct val="104000"/>
              </a:lnSpc>
              <a:spcAft>
                <a:spcPts val="600"/>
              </a:spcAft>
              <a:buSzPct val="100000"/>
              <a:buChar char="•"/>
            </a:pPr>
            <a:r>
              <a:rPr lang="en-US" sz="1250" dirty="0">
                <a:solidFill>
                  <a:srgbClr val="343A4D"/>
                </a:solidFill>
                <a:latin typeface="Malgun Gothic" pitchFamily="34" charset="0"/>
                <a:ea typeface="Malgun Gothic" pitchFamily="34" charset="-122"/>
                <a:cs typeface="Malgun Gothic" pitchFamily="34" charset="-120"/>
              </a:rPr>
              <a:t>활동 2  비판적 성찰. 데이터의 한계를 짚고 교사의 정서적 피드백 역할을 심층 토의</a:t>
            </a:r>
            <a:endParaRPr lang="en-US" sz="1250" dirty="0"/>
          </a:p>
          <a:p>
            <a:pPr algn="l" marL="203200" indent="-203200">
              <a:lnSpc>
                <a:spcPct val="104000"/>
              </a:lnSpc>
              <a:spcAft>
                <a:spcPts val="600"/>
              </a:spcAft>
              <a:buSzPct val="100000"/>
              <a:buChar char="•"/>
            </a:pPr>
            <a:r>
              <a:rPr lang="en-US" sz="1250" dirty="0">
                <a:solidFill>
                  <a:srgbClr val="343A4D"/>
                </a:solidFill>
                <a:latin typeface="Malgun Gothic" pitchFamily="34" charset="0"/>
                <a:ea typeface="Malgun Gothic" pitchFamily="34" charset="-122"/>
                <a:cs typeface="Malgun Gothic" pitchFamily="34" charset="-120"/>
              </a:rPr>
              <a:t>활동 3  현장 적용. 학교 환경을 반영한 데이터 기반 ‘최소 실행 단위’ 수립·발표</a:t>
            </a:r>
            <a:endParaRPr lang="en-US" sz="1250" dirty="0"/>
          </a:p>
        </p:txBody>
      </p:sp>
      <p:sp>
        <p:nvSpPr>
          <p:cNvPr id="16" name="Shape 14"/>
          <p:cNvSpPr/>
          <p:nvPr/>
        </p:nvSpPr>
        <p:spPr>
          <a:xfrm>
            <a:off x="566928" y="5020056"/>
            <a:ext cx="11064240" cy="777240"/>
          </a:xfrm>
          <a:prstGeom prst="roundRect">
            <a:avLst>
              <a:gd name="adj" fmla="val 11765"/>
            </a:avLst>
          </a:prstGeom>
          <a:solidFill>
            <a:srgbClr val="FFFFFF"/>
          </a:solidFill>
          <a:ln/>
          <a:effectLst>
            <a:outerShdw sx="100000" sy="100000" kx="0" ky="0" algn="bl" rotWithShape="0" blurRad="114300" dist="25400" dir="5400000">
              <a:srgbClr val="9AA2B8">
                <a:alpha val="20000"/>
              </a:srgbClr>
            </a:outerShdw>
          </a:effectLst>
        </p:spPr>
      </p:sp>
      <p:sp>
        <p:nvSpPr>
          <p:cNvPr id="17" name="Shape 15"/>
          <p:cNvSpPr/>
          <p:nvPr/>
        </p:nvSpPr>
        <p:spPr>
          <a:xfrm>
            <a:off x="768096" y="5184648"/>
            <a:ext cx="1828800" cy="384048"/>
          </a:xfrm>
          <a:prstGeom prst="roundRect">
            <a:avLst>
              <a:gd name="adj" fmla="val 23810"/>
            </a:avLst>
          </a:prstGeom>
          <a:solidFill>
            <a:srgbClr val="FBF1DC"/>
          </a:solidFill>
          <a:ln/>
        </p:spPr>
      </p:sp>
      <p:sp>
        <p:nvSpPr>
          <p:cNvPr id="18" name="Text 16"/>
          <p:cNvSpPr/>
          <p:nvPr/>
        </p:nvSpPr>
        <p:spPr>
          <a:xfrm>
            <a:off x="768096" y="5184648"/>
            <a:ext cx="1828800" cy="384048"/>
          </a:xfrm>
          <a:prstGeom prst="rect">
            <a:avLst/>
          </a:prstGeom>
          <a:noFill/>
          <a:ln/>
        </p:spPr>
        <p:txBody>
          <a:bodyPr wrap="square" lIns="0" tIns="0" rIns="0" bIns="0" rtlCol="0" anchor="ctr"/>
          <a:lstStyle/>
          <a:p>
            <a:pPr algn="ctr" indent="0" marL="0">
              <a:buNone/>
            </a:pPr>
            <a:r>
              <a:rPr lang="en-US" sz="1250" b="1" dirty="0">
                <a:solidFill>
                  <a:srgbClr val="B8801F"/>
                </a:solidFill>
                <a:latin typeface="Malgun Gothic" pitchFamily="34" charset="0"/>
                <a:ea typeface="Malgun Gothic" pitchFamily="34" charset="-122"/>
                <a:cs typeface="Malgun Gothic" pitchFamily="34" charset="-120"/>
              </a:rPr>
              <a:t>평가계획</a:t>
            </a:r>
            <a:endParaRPr lang="en-US" sz="1250" dirty="0"/>
          </a:p>
        </p:txBody>
      </p:sp>
      <p:sp>
        <p:nvSpPr>
          <p:cNvPr id="19" name="Text 17"/>
          <p:cNvSpPr/>
          <p:nvPr/>
        </p:nvSpPr>
        <p:spPr>
          <a:xfrm>
            <a:off x="2807208" y="5148072"/>
            <a:ext cx="8595360" cy="832104"/>
          </a:xfrm>
          <a:prstGeom prst="rect">
            <a:avLst/>
          </a:prstGeom>
          <a:noFill/>
          <a:ln/>
        </p:spPr>
        <p:txBody>
          <a:bodyPr wrap="square" lIns="0" tIns="0" rIns="0" bIns="0" rtlCol="0" anchor="t"/>
          <a:lstStyle/>
          <a:p>
            <a:pPr algn="l" marL="203200" indent="-203200">
              <a:lnSpc>
                <a:spcPct val="104000"/>
              </a:lnSpc>
              <a:spcAft>
                <a:spcPts val="4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우수  데이터 분석의 기능과 교사 역할을 함께 성찰하고, 환경에 맞는 구체적 활용 계획을 세움</a:t>
            </a:r>
            <a:endParaRPr lang="en-US" sz="1200" dirty="0"/>
          </a:p>
          <a:p>
            <a:pPr algn="l" marL="203200" indent="-203200">
              <a:lnSpc>
                <a:spcPct val="104000"/>
              </a:lnSpc>
              <a:spcAft>
                <a:spcPts val="4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보통  기본적 성찰과 계획은 세웠으나 환경 분석·계획의 구체성이 다소 부족</a:t>
            </a:r>
            <a:endParaRPr lang="en-US" sz="1200" dirty="0"/>
          </a:p>
          <a:p>
            <a:pPr algn="l" marL="203200" indent="-203200">
              <a:lnSpc>
                <a:spcPct val="104000"/>
              </a:lnSpc>
              <a:spcAft>
                <a:spcPts val="6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미흡  참여가 피상적이고 현장 적용 계획의 실현 가능성이 낮음</a:t>
            </a:r>
            <a:endParaRPr lang="en-US" sz="1200" dirty="0"/>
          </a:p>
        </p:txBody>
      </p:sp>
      <p:sp>
        <p:nvSpPr>
          <p:cNvPr id="20" name="Text 18"/>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21" name="Text 19"/>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59607A"/>
                </a:solidFill>
                <a:latin typeface="Malgun Gothic" pitchFamily="34" charset="0"/>
                <a:ea typeface="Malgun Gothic" pitchFamily="34" charset="-122"/>
                <a:cs typeface="Malgun Gothic" pitchFamily="34" charset="-120"/>
              </a:rPr>
              <a:t>ORIENTATION</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교수학습 방법 · 전략</a:t>
            </a:r>
            <a:endParaRPr lang="en-US" sz="2400" dirty="0"/>
          </a:p>
        </p:txBody>
      </p:sp>
      <p:sp>
        <p:nvSpPr>
          <p:cNvPr id="4" name="Text 2"/>
          <p:cNvSpPr/>
          <p:nvPr/>
        </p:nvSpPr>
        <p:spPr>
          <a:xfrm>
            <a:off x="566928" y="1371600"/>
            <a:ext cx="5394960" cy="310896"/>
          </a:xfrm>
          <a:prstGeom prst="rect">
            <a:avLst/>
          </a:prstGeom>
          <a:noFill/>
          <a:ln/>
        </p:spPr>
        <p:txBody>
          <a:bodyPr wrap="square" lIns="0" tIns="0" rIns="0" bIns="0" rtlCol="0" anchor="ctr"/>
          <a:lstStyle/>
          <a:p>
            <a:pPr indent="0" marL="0">
              <a:buNone/>
            </a:pPr>
            <a:r>
              <a:rPr lang="en-US" sz="1500" b="1" dirty="0">
                <a:solidFill>
                  <a:srgbClr val="2E4A85"/>
                </a:solidFill>
                <a:latin typeface="Malgun Gothic" pitchFamily="34" charset="0"/>
                <a:ea typeface="Malgun Gothic" pitchFamily="34" charset="-122"/>
                <a:cs typeface="Malgun Gothic" pitchFamily="34" charset="-120"/>
              </a:rPr>
              <a:t>교수학습 방법</a:t>
            </a:r>
            <a:endParaRPr lang="en-US" sz="1500" dirty="0"/>
          </a:p>
        </p:txBody>
      </p:sp>
      <p:sp>
        <p:nvSpPr>
          <p:cNvPr id="5" name="Shape 3"/>
          <p:cNvSpPr/>
          <p:nvPr/>
        </p:nvSpPr>
        <p:spPr>
          <a:xfrm>
            <a:off x="566928" y="1783080"/>
            <a:ext cx="5394960" cy="896112"/>
          </a:xfrm>
          <a:prstGeom prst="roundRect">
            <a:avLst>
              <a:gd name="adj" fmla="val 10204"/>
            </a:avLst>
          </a:prstGeom>
          <a:solidFill>
            <a:srgbClr val="FFFFFF"/>
          </a:solidFill>
          <a:ln/>
          <a:effectLst>
            <a:outerShdw sx="100000" sy="100000" kx="0" ky="0" algn="bl" rotWithShape="0" blurRad="114300" dist="25400" dir="5400000">
              <a:srgbClr val="9AA2B8">
                <a:alpha val="20000"/>
              </a:srgbClr>
            </a:outerShdw>
          </a:effectLst>
        </p:spPr>
      </p:sp>
      <p:sp>
        <p:nvSpPr>
          <p:cNvPr id="6" name="Text 4"/>
          <p:cNvSpPr/>
          <p:nvPr/>
        </p:nvSpPr>
        <p:spPr>
          <a:xfrm>
            <a:off x="786384" y="1911096"/>
            <a:ext cx="4937760" cy="292608"/>
          </a:xfrm>
          <a:prstGeom prst="rect">
            <a:avLst/>
          </a:prstGeom>
          <a:noFill/>
          <a:ln/>
        </p:spPr>
        <p:txBody>
          <a:bodyPr wrap="square" lIns="0" tIns="0" rIns="0" bIns="0" rtlCol="0" anchor="ctr"/>
          <a:lstStyle/>
          <a:p>
            <a:pPr indent="0" marL="0">
              <a:buNone/>
            </a:pPr>
            <a:r>
              <a:rPr lang="en-US" sz="1350" b="1" dirty="0">
                <a:solidFill>
                  <a:srgbClr val="1E3560"/>
                </a:solidFill>
                <a:latin typeface="Malgun Gothic" pitchFamily="34" charset="0"/>
                <a:ea typeface="Malgun Gothic" pitchFamily="34" charset="-122"/>
                <a:cs typeface="Malgun Gothic" pitchFamily="34" charset="-120"/>
              </a:rPr>
              <a:t>강의 10%</a:t>
            </a:r>
            <a:endParaRPr lang="en-US" sz="1350" dirty="0"/>
          </a:p>
        </p:txBody>
      </p:sp>
      <p:sp>
        <p:nvSpPr>
          <p:cNvPr id="7" name="Text 5"/>
          <p:cNvSpPr/>
          <p:nvPr/>
        </p:nvSpPr>
        <p:spPr>
          <a:xfrm>
            <a:off x="786384" y="2221992"/>
            <a:ext cx="4983480" cy="365760"/>
          </a:xfrm>
          <a:prstGeom prst="rect">
            <a:avLst/>
          </a:prstGeom>
          <a:noFill/>
          <a:ln/>
        </p:spPr>
        <p:txBody>
          <a:bodyPr wrap="square" lIns="0" tIns="0" rIns="0" bIns="0" rtlCol="0" anchor="t"/>
          <a:lstStyle/>
          <a:p>
            <a:pPr indent="0" marL="0">
              <a:buNone/>
            </a:pPr>
            <a:r>
              <a:rPr lang="en-US" sz="1150" dirty="0">
                <a:solidFill>
                  <a:srgbClr val="59607A"/>
                </a:solidFill>
                <a:latin typeface="Malgun Gothic" pitchFamily="34" charset="0"/>
                <a:ea typeface="Malgun Gothic" pitchFamily="34" charset="-122"/>
                <a:cs typeface="Malgun Gothic" pitchFamily="34" charset="-120"/>
              </a:rPr>
              <a:t>발표·성찰 기준 안내, 현장 적용 계획 방향 제시</a:t>
            </a:r>
            <a:endParaRPr lang="en-US" sz="1150" dirty="0"/>
          </a:p>
        </p:txBody>
      </p:sp>
      <p:sp>
        <p:nvSpPr>
          <p:cNvPr id="8" name="Shape 6"/>
          <p:cNvSpPr/>
          <p:nvPr/>
        </p:nvSpPr>
        <p:spPr>
          <a:xfrm>
            <a:off x="566928" y="2807208"/>
            <a:ext cx="5394960" cy="896112"/>
          </a:xfrm>
          <a:prstGeom prst="roundRect">
            <a:avLst>
              <a:gd name="adj" fmla="val 10204"/>
            </a:avLst>
          </a:prstGeom>
          <a:solidFill>
            <a:srgbClr val="FFFFFF"/>
          </a:solidFill>
          <a:ln/>
          <a:effectLst>
            <a:outerShdw sx="100000" sy="100000" kx="0" ky="0" algn="bl" rotWithShape="0" blurRad="114300" dist="25400" dir="5400000">
              <a:srgbClr val="9AA2B8">
                <a:alpha val="20000"/>
              </a:srgbClr>
            </a:outerShdw>
          </a:effectLst>
        </p:spPr>
      </p:sp>
      <p:sp>
        <p:nvSpPr>
          <p:cNvPr id="9" name="Text 7"/>
          <p:cNvSpPr/>
          <p:nvPr/>
        </p:nvSpPr>
        <p:spPr>
          <a:xfrm>
            <a:off x="786384" y="2935224"/>
            <a:ext cx="4937760" cy="292608"/>
          </a:xfrm>
          <a:prstGeom prst="rect">
            <a:avLst/>
          </a:prstGeom>
          <a:noFill/>
          <a:ln/>
        </p:spPr>
        <p:txBody>
          <a:bodyPr wrap="square" lIns="0" tIns="0" rIns="0" bIns="0" rtlCol="0" anchor="ctr"/>
          <a:lstStyle/>
          <a:p>
            <a:pPr indent="0" marL="0">
              <a:buNone/>
            </a:pPr>
            <a:r>
              <a:rPr lang="en-US" sz="1350" b="1" dirty="0">
                <a:solidFill>
                  <a:srgbClr val="1E3560"/>
                </a:solidFill>
                <a:latin typeface="Malgun Gothic" pitchFamily="34" charset="0"/>
                <a:ea typeface="Malgun Gothic" pitchFamily="34" charset="-122"/>
                <a:cs typeface="Malgun Gothic" pitchFamily="34" charset="-120"/>
              </a:rPr>
              <a:t>실습 30%</a:t>
            </a:r>
            <a:endParaRPr lang="en-US" sz="1350" dirty="0"/>
          </a:p>
        </p:txBody>
      </p:sp>
      <p:sp>
        <p:nvSpPr>
          <p:cNvPr id="10" name="Text 8"/>
          <p:cNvSpPr/>
          <p:nvPr/>
        </p:nvSpPr>
        <p:spPr>
          <a:xfrm>
            <a:off x="786384" y="3246120"/>
            <a:ext cx="4983480" cy="365760"/>
          </a:xfrm>
          <a:prstGeom prst="rect">
            <a:avLst/>
          </a:prstGeom>
          <a:noFill/>
          <a:ln/>
        </p:spPr>
        <p:txBody>
          <a:bodyPr wrap="square" lIns="0" tIns="0" rIns="0" bIns="0" rtlCol="0" anchor="t"/>
          <a:lstStyle/>
          <a:p>
            <a:pPr indent="0" marL="0">
              <a:buNone/>
            </a:pPr>
            <a:r>
              <a:rPr lang="en-US" sz="1150" dirty="0">
                <a:solidFill>
                  <a:srgbClr val="59607A"/>
                </a:solidFill>
                <a:latin typeface="Malgun Gothic" pitchFamily="34" charset="0"/>
                <a:ea typeface="Malgun Gothic" pitchFamily="34" charset="-122"/>
                <a:cs typeface="Malgun Gothic" pitchFamily="34" charset="-120"/>
              </a:rPr>
              <a:t>소속 학교 환경에 맞춘 개인별 현장 적용안 작성</a:t>
            </a:r>
            <a:endParaRPr lang="en-US" sz="1150" dirty="0"/>
          </a:p>
        </p:txBody>
      </p:sp>
      <p:sp>
        <p:nvSpPr>
          <p:cNvPr id="11" name="Shape 9"/>
          <p:cNvSpPr/>
          <p:nvPr/>
        </p:nvSpPr>
        <p:spPr>
          <a:xfrm>
            <a:off x="566928" y="3831336"/>
            <a:ext cx="5394960" cy="896112"/>
          </a:xfrm>
          <a:prstGeom prst="roundRect">
            <a:avLst>
              <a:gd name="adj" fmla="val 10204"/>
            </a:avLst>
          </a:prstGeom>
          <a:solidFill>
            <a:srgbClr val="FFFFFF"/>
          </a:solidFill>
          <a:ln/>
          <a:effectLst>
            <a:outerShdw sx="100000" sy="100000" kx="0" ky="0" algn="bl" rotWithShape="0" blurRad="114300" dist="25400" dir="5400000">
              <a:srgbClr val="9AA2B8">
                <a:alpha val="20000"/>
              </a:srgbClr>
            </a:outerShdw>
          </a:effectLst>
        </p:spPr>
      </p:sp>
      <p:sp>
        <p:nvSpPr>
          <p:cNvPr id="12" name="Text 10"/>
          <p:cNvSpPr/>
          <p:nvPr/>
        </p:nvSpPr>
        <p:spPr>
          <a:xfrm>
            <a:off x="786384" y="3959352"/>
            <a:ext cx="4937760" cy="292608"/>
          </a:xfrm>
          <a:prstGeom prst="rect">
            <a:avLst/>
          </a:prstGeom>
          <a:noFill/>
          <a:ln/>
        </p:spPr>
        <p:txBody>
          <a:bodyPr wrap="square" lIns="0" tIns="0" rIns="0" bIns="0" rtlCol="0" anchor="ctr"/>
          <a:lstStyle/>
          <a:p>
            <a:pPr indent="0" marL="0">
              <a:buNone/>
            </a:pPr>
            <a:r>
              <a:rPr lang="en-US" sz="1350" b="1" dirty="0">
                <a:solidFill>
                  <a:srgbClr val="1E3560"/>
                </a:solidFill>
                <a:latin typeface="Malgun Gothic" pitchFamily="34" charset="0"/>
                <a:ea typeface="Malgun Gothic" pitchFamily="34" charset="-122"/>
                <a:cs typeface="Malgun Gothic" pitchFamily="34" charset="-120"/>
              </a:rPr>
              <a:t>협력학습 30%</a:t>
            </a:r>
            <a:endParaRPr lang="en-US" sz="1350" dirty="0"/>
          </a:p>
        </p:txBody>
      </p:sp>
      <p:sp>
        <p:nvSpPr>
          <p:cNvPr id="13" name="Text 11"/>
          <p:cNvSpPr/>
          <p:nvPr/>
        </p:nvSpPr>
        <p:spPr>
          <a:xfrm>
            <a:off x="786384" y="4270248"/>
            <a:ext cx="4983480" cy="365760"/>
          </a:xfrm>
          <a:prstGeom prst="rect">
            <a:avLst/>
          </a:prstGeom>
          <a:noFill/>
          <a:ln/>
        </p:spPr>
        <p:txBody>
          <a:bodyPr wrap="square" lIns="0" tIns="0" rIns="0" bIns="0" rtlCol="0" anchor="t"/>
          <a:lstStyle/>
          <a:p>
            <a:pPr indent="0" marL="0">
              <a:buNone/>
            </a:pPr>
            <a:r>
              <a:rPr lang="en-US" sz="1150" dirty="0">
                <a:solidFill>
                  <a:srgbClr val="59607A"/>
                </a:solidFill>
                <a:latin typeface="Malgun Gothic" pitchFamily="34" charset="0"/>
                <a:ea typeface="Malgun Gothic" pitchFamily="34" charset="-122"/>
                <a:cs typeface="Malgun Gothic" pitchFamily="34" charset="-120"/>
              </a:rPr>
              <a:t>모둠 산출물 공유 및 갤러리 워크 상호 피드백</a:t>
            </a:r>
            <a:endParaRPr lang="en-US" sz="1150" dirty="0"/>
          </a:p>
        </p:txBody>
      </p:sp>
      <p:sp>
        <p:nvSpPr>
          <p:cNvPr id="14" name="Shape 12"/>
          <p:cNvSpPr/>
          <p:nvPr/>
        </p:nvSpPr>
        <p:spPr>
          <a:xfrm>
            <a:off x="566928" y="4855464"/>
            <a:ext cx="5394960" cy="896112"/>
          </a:xfrm>
          <a:prstGeom prst="roundRect">
            <a:avLst>
              <a:gd name="adj" fmla="val 10204"/>
            </a:avLst>
          </a:prstGeom>
          <a:solidFill>
            <a:srgbClr val="FFFFFF"/>
          </a:solidFill>
          <a:ln/>
          <a:effectLst>
            <a:outerShdw sx="100000" sy="100000" kx="0" ky="0" algn="bl" rotWithShape="0" blurRad="114300" dist="25400" dir="5400000">
              <a:srgbClr val="9AA2B8">
                <a:alpha val="20000"/>
              </a:srgbClr>
            </a:outerShdw>
          </a:effectLst>
        </p:spPr>
      </p:sp>
      <p:sp>
        <p:nvSpPr>
          <p:cNvPr id="15" name="Text 13"/>
          <p:cNvSpPr/>
          <p:nvPr/>
        </p:nvSpPr>
        <p:spPr>
          <a:xfrm>
            <a:off x="786384" y="4983480"/>
            <a:ext cx="4937760" cy="292608"/>
          </a:xfrm>
          <a:prstGeom prst="rect">
            <a:avLst/>
          </a:prstGeom>
          <a:noFill/>
          <a:ln/>
        </p:spPr>
        <p:txBody>
          <a:bodyPr wrap="square" lIns="0" tIns="0" rIns="0" bIns="0" rtlCol="0" anchor="ctr"/>
          <a:lstStyle/>
          <a:p>
            <a:pPr indent="0" marL="0">
              <a:buNone/>
            </a:pPr>
            <a:r>
              <a:rPr lang="en-US" sz="1350" b="1" dirty="0">
                <a:solidFill>
                  <a:srgbClr val="1E3560"/>
                </a:solidFill>
                <a:latin typeface="Malgun Gothic" pitchFamily="34" charset="0"/>
                <a:ea typeface="Malgun Gothic" pitchFamily="34" charset="-122"/>
                <a:cs typeface="Malgun Gothic" pitchFamily="34" charset="-120"/>
              </a:rPr>
              <a:t>토의·토론 30%</a:t>
            </a:r>
            <a:endParaRPr lang="en-US" sz="1350" dirty="0"/>
          </a:p>
        </p:txBody>
      </p:sp>
      <p:sp>
        <p:nvSpPr>
          <p:cNvPr id="16" name="Text 14"/>
          <p:cNvSpPr/>
          <p:nvPr/>
        </p:nvSpPr>
        <p:spPr>
          <a:xfrm>
            <a:off x="786384" y="5294376"/>
            <a:ext cx="4983480" cy="365760"/>
          </a:xfrm>
          <a:prstGeom prst="rect">
            <a:avLst/>
          </a:prstGeom>
          <a:noFill/>
          <a:ln/>
        </p:spPr>
        <p:txBody>
          <a:bodyPr wrap="square" lIns="0" tIns="0" rIns="0" bIns="0" rtlCol="0" anchor="t"/>
          <a:lstStyle/>
          <a:p>
            <a:pPr indent="0" marL="0">
              <a:buNone/>
            </a:pPr>
            <a:r>
              <a:rPr lang="en-US" sz="1150" dirty="0">
                <a:solidFill>
                  <a:srgbClr val="59607A"/>
                </a:solidFill>
                <a:latin typeface="Malgun Gothic" pitchFamily="34" charset="0"/>
                <a:ea typeface="Malgun Gothic" pitchFamily="34" charset="-122"/>
                <a:cs typeface="Malgun Gothic" pitchFamily="34" charset="-120"/>
              </a:rPr>
              <a:t>설계 결과의 다면 성찰, AI와 교사 역할 심층 토의</a:t>
            </a:r>
            <a:endParaRPr lang="en-US" sz="1150" dirty="0"/>
          </a:p>
        </p:txBody>
      </p:sp>
      <p:sp>
        <p:nvSpPr>
          <p:cNvPr id="17" name="Text 15"/>
          <p:cNvSpPr/>
          <p:nvPr/>
        </p:nvSpPr>
        <p:spPr>
          <a:xfrm>
            <a:off x="6254496" y="1371600"/>
            <a:ext cx="5394960" cy="310896"/>
          </a:xfrm>
          <a:prstGeom prst="rect">
            <a:avLst/>
          </a:prstGeom>
          <a:noFill/>
          <a:ln/>
        </p:spPr>
        <p:txBody>
          <a:bodyPr wrap="square" lIns="0" tIns="0" rIns="0" bIns="0" rtlCol="0" anchor="ctr"/>
          <a:lstStyle/>
          <a:p>
            <a:pPr indent="0" marL="0">
              <a:buNone/>
            </a:pPr>
            <a:r>
              <a:rPr lang="en-US" sz="1500" b="1" dirty="0">
                <a:solidFill>
                  <a:srgbClr val="2E4A85"/>
                </a:solidFill>
                <a:latin typeface="Malgun Gothic" pitchFamily="34" charset="0"/>
                <a:ea typeface="Malgun Gothic" pitchFamily="34" charset="-122"/>
                <a:cs typeface="Malgun Gothic" pitchFamily="34" charset="-120"/>
              </a:rPr>
              <a:t>교수학습 전략</a:t>
            </a:r>
            <a:endParaRPr lang="en-US" sz="1500" dirty="0"/>
          </a:p>
        </p:txBody>
      </p:sp>
      <p:sp>
        <p:nvSpPr>
          <p:cNvPr id="18" name="Shape 16"/>
          <p:cNvSpPr/>
          <p:nvPr/>
        </p:nvSpPr>
        <p:spPr>
          <a:xfrm>
            <a:off x="6254496" y="1783080"/>
            <a:ext cx="5394960" cy="896112"/>
          </a:xfrm>
          <a:prstGeom prst="roundRect">
            <a:avLst>
              <a:gd name="adj" fmla="val 10204"/>
            </a:avLst>
          </a:prstGeom>
          <a:solidFill>
            <a:srgbClr val="FFFFFF"/>
          </a:solidFill>
          <a:ln/>
          <a:effectLst>
            <a:outerShdw sx="100000" sy="100000" kx="0" ky="0" algn="bl" rotWithShape="0" blurRad="114300" dist="25400" dir="5400000">
              <a:srgbClr val="9AA2B8">
                <a:alpha val="20000"/>
              </a:srgbClr>
            </a:outerShdw>
          </a:effectLst>
        </p:spPr>
      </p:sp>
      <p:sp>
        <p:nvSpPr>
          <p:cNvPr id="19" name="Text 17"/>
          <p:cNvSpPr/>
          <p:nvPr/>
        </p:nvSpPr>
        <p:spPr>
          <a:xfrm>
            <a:off x="6473952" y="1911096"/>
            <a:ext cx="4937760" cy="292608"/>
          </a:xfrm>
          <a:prstGeom prst="rect">
            <a:avLst/>
          </a:prstGeom>
          <a:noFill/>
          <a:ln/>
        </p:spPr>
        <p:txBody>
          <a:bodyPr wrap="square" lIns="0" tIns="0" rIns="0" bIns="0" rtlCol="0" anchor="ctr"/>
          <a:lstStyle/>
          <a:p>
            <a:pPr indent="0" marL="0">
              <a:buNone/>
            </a:pPr>
            <a:r>
              <a:rPr lang="en-US" sz="1350" b="1" dirty="0">
                <a:solidFill>
                  <a:srgbClr val="2E4A85"/>
                </a:solidFill>
                <a:latin typeface="Malgun Gothic" pitchFamily="34" charset="0"/>
                <a:ea typeface="Malgun Gothic" pitchFamily="34" charset="-122"/>
                <a:cs typeface="Malgun Gothic" pitchFamily="34" charset="-120"/>
              </a:rPr>
              <a:t>피드백 전략</a:t>
            </a:r>
            <a:endParaRPr lang="en-US" sz="1350" dirty="0"/>
          </a:p>
        </p:txBody>
      </p:sp>
      <p:sp>
        <p:nvSpPr>
          <p:cNvPr id="20" name="Text 18"/>
          <p:cNvSpPr/>
          <p:nvPr/>
        </p:nvSpPr>
        <p:spPr>
          <a:xfrm>
            <a:off x="6473952" y="2221992"/>
            <a:ext cx="4983480" cy="365760"/>
          </a:xfrm>
          <a:prstGeom prst="rect">
            <a:avLst/>
          </a:prstGeom>
          <a:noFill/>
          <a:ln/>
        </p:spPr>
        <p:txBody>
          <a:bodyPr wrap="square" lIns="0" tIns="0" rIns="0" bIns="0" rtlCol="0" anchor="t"/>
          <a:lstStyle/>
          <a:p>
            <a:pPr indent="0" marL="0">
              <a:buNone/>
            </a:pPr>
            <a:r>
              <a:rPr lang="en-US" sz="1150" dirty="0">
                <a:solidFill>
                  <a:srgbClr val="59607A"/>
                </a:solidFill>
                <a:latin typeface="Malgun Gothic" pitchFamily="34" charset="0"/>
                <a:ea typeface="Malgun Gothic" pitchFamily="34" charset="-122"/>
                <a:cs typeface="Malgun Gothic" pitchFamily="34" charset="-120"/>
              </a:rPr>
              <a:t>‘장점·개선점’을 나누는 구조화된 동료평가로 건설적 다방향 피드백</a:t>
            </a:r>
            <a:endParaRPr lang="en-US" sz="1150" dirty="0"/>
          </a:p>
        </p:txBody>
      </p:sp>
      <p:sp>
        <p:nvSpPr>
          <p:cNvPr id="21" name="Shape 19"/>
          <p:cNvSpPr/>
          <p:nvPr/>
        </p:nvSpPr>
        <p:spPr>
          <a:xfrm>
            <a:off x="6254496" y="2807208"/>
            <a:ext cx="5394960" cy="896112"/>
          </a:xfrm>
          <a:prstGeom prst="roundRect">
            <a:avLst>
              <a:gd name="adj" fmla="val 10204"/>
            </a:avLst>
          </a:prstGeom>
          <a:solidFill>
            <a:srgbClr val="FFFFFF"/>
          </a:solidFill>
          <a:ln/>
          <a:effectLst>
            <a:outerShdw sx="100000" sy="100000" kx="0" ky="0" algn="bl" rotWithShape="0" blurRad="114300" dist="25400" dir="5400000">
              <a:srgbClr val="9AA2B8">
                <a:alpha val="20000"/>
              </a:srgbClr>
            </a:outerShdw>
          </a:effectLst>
        </p:spPr>
      </p:sp>
      <p:sp>
        <p:nvSpPr>
          <p:cNvPr id="22" name="Text 20"/>
          <p:cNvSpPr/>
          <p:nvPr/>
        </p:nvSpPr>
        <p:spPr>
          <a:xfrm>
            <a:off x="6473952" y="2935224"/>
            <a:ext cx="4937760" cy="292608"/>
          </a:xfrm>
          <a:prstGeom prst="rect">
            <a:avLst/>
          </a:prstGeom>
          <a:noFill/>
          <a:ln/>
        </p:spPr>
        <p:txBody>
          <a:bodyPr wrap="square" lIns="0" tIns="0" rIns="0" bIns="0" rtlCol="0" anchor="ctr"/>
          <a:lstStyle/>
          <a:p>
            <a:pPr indent="0" marL="0">
              <a:buNone/>
            </a:pPr>
            <a:r>
              <a:rPr lang="en-US" sz="1350" b="1" dirty="0">
                <a:solidFill>
                  <a:srgbClr val="2E4A85"/>
                </a:solidFill>
                <a:latin typeface="Malgun Gothic" pitchFamily="34" charset="0"/>
                <a:ea typeface="Malgun Gothic" pitchFamily="34" charset="-122"/>
                <a:cs typeface="Malgun Gothic" pitchFamily="34" charset="-120"/>
              </a:rPr>
              <a:t>동기 유발</a:t>
            </a:r>
            <a:endParaRPr lang="en-US" sz="1350" dirty="0"/>
          </a:p>
        </p:txBody>
      </p:sp>
      <p:sp>
        <p:nvSpPr>
          <p:cNvPr id="23" name="Text 21"/>
          <p:cNvSpPr/>
          <p:nvPr/>
        </p:nvSpPr>
        <p:spPr>
          <a:xfrm>
            <a:off x="6473952" y="3246120"/>
            <a:ext cx="4983480" cy="365760"/>
          </a:xfrm>
          <a:prstGeom prst="rect">
            <a:avLst/>
          </a:prstGeom>
          <a:noFill/>
          <a:ln/>
        </p:spPr>
        <p:txBody>
          <a:bodyPr wrap="square" lIns="0" tIns="0" rIns="0" bIns="0" rtlCol="0" anchor="t"/>
          <a:lstStyle/>
          <a:p>
            <a:pPr indent="0" marL="0">
              <a:buNone/>
            </a:pPr>
            <a:r>
              <a:rPr lang="en-US" sz="1150" dirty="0">
                <a:solidFill>
                  <a:srgbClr val="59607A"/>
                </a:solidFill>
                <a:latin typeface="Malgun Gothic" pitchFamily="34" charset="0"/>
                <a:ea typeface="Malgun Gothic" pitchFamily="34" charset="-122"/>
                <a:cs typeface="Malgun Gothic" pitchFamily="34" charset="-120"/>
              </a:rPr>
              <a:t>타 교과·종목 산출물을 벤치마킹해 내 수업 접목 아이디어와 실천 의지 고취</a:t>
            </a:r>
            <a:endParaRPr lang="en-US" sz="1150" dirty="0"/>
          </a:p>
        </p:txBody>
      </p:sp>
      <p:sp>
        <p:nvSpPr>
          <p:cNvPr id="24" name="Shape 22"/>
          <p:cNvSpPr/>
          <p:nvPr/>
        </p:nvSpPr>
        <p:spPr>
          <a:xfrm>
            <a:off x="6254496" y="3831336"/>
            <a:ext cx="5394960" cy="896112"/>
          </a:xfrm>
          <a:prstGeom prst="roundRect">
            <a:avLst>
              <a:gd name="adj" fmla="val 10204"/>
            </a:avLst>
          </a:prstGeom>
          <a:solidFill>
            <a:srgbClr val="FFFFFF"/>
          </a:solidFill>
          <a:ln/>
          <a:effectLst>
            <a:outerShdw sx="100000" sy="100000" kx="0" ky="0" algn="bl" rotWithShape="0" blurRad="114300" dist="25400" dir="5400000">
              <a:srgbClr val="9AA2B8">
                <a:alpha val="20000"/>
              </a:srgbClr>
            </a:outerShdw>
          </a:effectLst>
        </p:spPr>
      </p:sp>
      <p:sp>
        <p:nvSpPr>
          <p:cNvPr id="25" name="Text 23"/>
          <p:cNvSpPr/>
          <p:nvPr/>
        </p:nvSpPr>
        <p:spPr>
          <a:xfrm>
            <a:off x="6473952" y="3959352"/>
            <a:ext cx="4937760" cy="292608"/>
          </a:xfrm>
          <a:prstGeom prst="rect">
            <a:avLst/>
          </a:prstGeom>
          <a:noFill/>
          <a:ln/>
        </p:spPr>
        <p:txBody>
          <a:bodyPr wrap="square" lIns="0" tIns="0" rIns="0" bIns="0" rtlCol="0" anchor="ctr"/>
          <a:lstStyle/>
          <a:p>
            <a:pPr indent="0" marL="0">
              <a:buNone/>
            </a:pPr>
            <a:r>
              <a:rPr lang="en-US" sz="1350" b="1" dirty="0">
                <a:solidFill>
                  <a:srgbClr val="2E4A85"/>
                </a:solidFill>
                <a:latin typeface="Malgun Gothic" pitchFamily="34" charset="0"/>
                <a:ea typeface="Malgun Gothic" pitchFamily="34" charset="-122"/>
                <a:cs typeface="Malgun Gothic" pitchFamily="34" charset="-120"/>
              </a:rPr>
              <a:t>이해 증진</a:t>
            </a:r>
            <a:endParaRPr lang="en-US" sz="1350" dirty="0"/>
          </a:p>
        </p:txBody>
      </p:sp>
      <p:sp>
        <p:nvSpPr>
          <p:cNvPr id="26" name="Text 24"/>
          <p:cNvSpPr/>
          <p:nvPr/>
        </p:nvSpPr>
        <p:spPr>
          <a:xfrm>
            <a:off x="6473952" y="4270248"/>
            <a:ext cx="4983480" cy="365760"/>
          </a:xfrm>
          <a:prstGeom prst="rect">
            <a:avLst/>
          </a:prstGeom>
          <a:noFill/>
          <a:ln/>
        </p:spPr>
        <p:txBody>
          <a:bodyPr wrap="square" lIns="0" tIns="0" rIns="0" bIns="0" rtlCol="0" anchor="t"/>
          <a:lstStyle/>
          <a:p>
            <a:pPr indent="0" marL="0">
              <a:buNone/>
            </a:pPr>
            <a:r>
              <a:rPr lang="en-US" sz="1150" dirty="0">
                <a:solidFill>
                  <a:srgbClr val="59607A"/>
                </a:solidFill>
                <a:latin typeface="Malgun Gothic" pitchFamily="34" charset="0"/>
                <a:ea typeface="Malgun Gothic" pitchFamily="34" charset="-122"/>
                <a:cs typeface="Malgun Gothic" pitchFamily="34" charset="-120"/>
              </a:rPr>
              <a:t>‘AI가 하는 것(데이터)’과 ‘교사가 개입할 것(정서)’을 대조하는 발문</a:t>
            </a:r>
            <a:endParaRPr lang="en-US" sz="1150" dirty="0"/>
          </a:p>
        </p:txBody>
      </p:sp>
      <p:sp>
        <p:nvSpPr>
          <p:cNvPr id="27" name="Shape 25"/>
          <p:cNvSpPr/>
          <p:nvPr/>
        </p:nvSpPr>
        <p:spPr>
          <a:xfrm>
            <a:off x="6254496" y="4855464"/>
            <a:ext cx="5394960" cy="896112"/>
          </a:xfrm>
          <a:prstGeom prst="roundRect">
            <a:avLst>
              <a:gd name="adj" fmla="val 10204"/>
            </a:avLst>
          </a:prstGeom>
          <a:solidFill>
            <a:srgbClr val="FFFFFF"/>
          </a:solidFill>
          <a:ln/>
          <a:effectLst>
            <a:outerShdw sx="100000" sy="100000" kx="0" ky="0" algn="bl" rotWithShape="0" blurRad="114300" dist="25400" dir="5400000">
              <a:srgbClr val="9AA2B8">
                <a:alpha val="20000"/>
              </a:srgbClr>
            </a:outerShdw>
          </a:effectLst>
        </p:spPr>
      </p:sp>
      <p:sp>
        <p:nvSpPr>
          <p:cNvPr id="28" name="Text 26"/>
          <p:cNvSpPr/>
          <p:nvPr/>
        </p:nvSpPr>
        <p:spPr>
          <a:xfrm>
            <a:off x="6473952" y="4983480"/>
            <a:ext cx="4937760" cy="292608"/>
          </a:xfrm>
          <a:prstGeom prst="rect">
            <a:avLst/>
          </a:prstGeom>
          <a:noFill/>
          <a:ln/>
        </p:spPr>
        <p:txBody>
          <a:bodyPr wrap="square" lIns="0" tIns="0" rIns="0" bIns="0" rtlCol="0" anchor="ctr"/>
          <a:lstStyle/>
          <a:p>
            <a:pPr indent="0" marL="0">
              <a:buNone/>
            </a:pPr>
            <a:r>
              <a:rPr lang="en-US" sz="1350" b="1" dirty="0">
                <a:solidFill>
                  <a:srgbClr val="2E4A85"/>
                </a:solidFill>
                <a:latin typeface="Malgun Gothic" pitchFamily="34" charset="0"/>
                <a:ea typeface="Malgun Gothic" pitchFamily="34" charset="-122"/>
                <a:cs typeface="Malgun Gothic" pitchFamily="34" charset="-120"/>
              </a:rPr>
              <a:t>참여 촉진</a:t>
            </a:r>
            <a:endParaRPr lang="en-US" sz="1350" dirty="0"/>
          </a:p>
        </p:txBody>
      </p:sp>
      <p:sp>
        <p:nvSpPr>
          <p:cNvPr id="29" name="Text 27"/>
          <p:cNvSpPr/>
          <p:nvPr/>
        </p:nvSpPr>
        <p:spPr>
          <a:xfrm>
            <a:off x="6473952" y="5294376"/>
            <a:ext cx="4983480" cy="365760"/>
          </a:xfrm>
          <a:prstGeom prst="rect">
            <a:avLst/>
          </a:prstGeom>
          <a:noFill/>
          <a:ln/>
        </p:spPr>
        <p:txBody>
          <a:bodyPr wrap="square" lIns="0" tIns="0" rIns="0" bIns="0" rtlCol="0" anchor="t"/>
          <a:lstStyle/>
          <a:p>
            <a:pPr indent="0" marL="0">
              <a:buNone/>
            </a:pPr>
            <a:r>
              <a:rPr lang="en-US" sz="1150" dirty="0">
                <a:solidFill>
                  <a:srgbClr val="59607A"/>
                </a:solidFill>
                <a:latin typeface="Malgun Gothic" pitchFamily="34" charset="0"/>
                <a:ea typeface="Malgun Gothic" pitchFamily="34" charset="-122"/>
                <a:cs typeface="Malgun Gothic" pitchFamily="34" charset="-120"/>
              </a:rPr>
              <a:t>거창한 계획 대신 내일 당장 할 수 있는 ‘최소 실행 단위’ 선언·공유</a:t>
            </a:r>
            <a:endParaRPr lang="en-US" sz="1150" dirty="0"/>
          </a:p>
        </p:txBody>
      </p:sp>
      <p:sp>
        <p:nvSpPr>
          <p:cNvPr id="30" name="Text 28"/>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31" name="Text 29"/>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B"/>
        </a:solidFill>
      </p:bgPr>
    </p:bg>
    <p:spTree>
      <p:nvGrpSpPr>
        <p:cNvPr id="1" name=""/>
        <p:cNvGrpSpPr/>
        <p:nvPr/>
      </p:nvGrpSpPr>
      <p:grpSpPr>
        <a:xfrm>
          <a:off x="0" y="0"/>
          <a:ext cx="0" cy="0"/>
          <a:chOff x="0" y="0"/>
          <a:chExt cx="0" cy="0"/>
        </a:xfrm>
      </p:grpSpPr>
      <p:sp>
        <p:nvSpPr>
          <p:cNvPr id="2" name="Shape 0"/>
          <p:cNvSpPr/>
          <p:nvPr/>
        </p:nvSpPr>
        <p:spPr>
          <a:xfrm>
            <a:off x="9509760" y="-1371600"/>
            <a:ext cx="4937760" cy="4937760"/>
          </a:xfrm>
          <a:prstGeom prst="ellipse">
            <a:avLst/>
          </a:prstGeom>
          <a:solidFill>
            <a:srgbClr val="EAEEF8"/>
          </a:solidFill>
          <a:ln/>
        </p:spPr>
      </p:sp>
      <p:sp>
        <p:nvSpPr>
          <p:cNvPr id="3" name="Text 1"/>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59607A"/>
                </a:solidFill>
                <a:latin typeface="Malgun Gothic" pitchFamily="34" charset="0"/>
                <a:ea typeface="Malgun Gothic" pitchFamily="34" charset="-122"/>
                <a:cs typeface="Malgun Gothic" pitchFamily="34" charset="-120"/>
              </a:rPr>
              <a:t>CONTENTS</a:t>
            </a:r>
            <a:endParaRPr lang="en-US" sz="1100" dirty="0"/>
          </a:p>
        </p:txBody>
      </p:sp>
      <p:sp>
        <p:nvSpPr>
          <p:cNvPr id="4" name="Text 2"/>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오늘의 흐름</a:t>
            </a:r>
            <a:endParaRPr lang="en-US" sz="2400" dirty="0"/>
          </a:p>
        </p:txBody>
      </p:sp>
      <p:sp>
        <p:nvSpPr>
          <p:cNvPr id="5" name="Shape 3"/>
          <p:cNvSpPr/>
          <p:nvPr/>
        </p:nvSpPr>
        <p:spPr>
          <a:xfrm>
            <a:off x="566928" y="1600200"/>
            <a:ext cx="10058400" cy="1024128"/>
          </a:xfrm>
          <a:prstGeom prst="roundRect">
            <a:avLst>
              <a:gd name="adj" fmla="val 8929"/>
            </a:avLst>
          </a:prstGeom>
          <a:solidFill>
            <a:srgbClr val="FFFFFF"/>
          </a:solidFill>
          <a:ln/>
          <a:effectLst>
            <a:outerShdw sx="100000" sy="100000" kx="0" ky="0" algn="bl" rotWithShape="0" blurRad="114300" dist="25400" dir="5400000">
              <a:srgbClr val="9AA2B8">
                <a:alpha val="20000"/>
              </a:srgbClr>
            </a:outerShdw>
          </a:effectLst>
        </p:spPr>
      </p:sp>
      <p:sp>
        <p:nvSpPr>
          <p:cNvPr id="6" name="Shape 4"/>
          <p:cNvSpPr/>
          <p:nvPr/>
        </p:nvSpPr>
        <p:spPr>
          <a:xfrm>
            <a:off x="804672" y="1874520"/>
            <a:ext cx="1298448" cy="475488"/>
          </a:xfrm>
          <a:prstGeom prst="roundRect">
            <a:avLst>
              <a:gd name="adj" fmla="val 19231"/>
            </a:avLst>
          </a:prstGeom>
          <a:solidFill>
            <a:srgbClr val="EAEEF8"/>
          </a:solidFill>
          <a:ln/>
        </p:spPr>
      </p:sp>
      <p:sp>
        <p:nvSpPr>
          <p:cNvPr id="7" name="Text 5"/>
          <p:cNvSpPr/>
          <p:nvPr/>
        </p:nvSpPr>
        <p:spPr>
          <a:xfrm>
            <a:off x="804672" y="1874520"/>
            <a:ext cx="1298448" cy="475488"/>
          </a:xfrm>
          <a:prstGeom prst="rect">
            <a:avLst/>
          </a:prstGeom>
          <a:noFill/>
          <a:ln/>
        </p:spPr>
        <p:txBody>
          <a:bodyPr wrap="square" lIns="0" tIns="0" rIns="0" bIns="0" rtlCol="0" anchor="ctr"/>
          <a:lstStyle/>
          <a:p>
            <a:pPr algn="ctr" indent="0" marL="0">
              <a:buNone/>
            </a:pPr>
            <a:r>
              <a:rPr lang="en-US" sz="1400" b="1" dirty="0">
                <a:solidFill>
                  <a:srgbClr val="2E4A85"/>
                </a:solidFill>
                <a:latin typeface="Malgun Gothic" pitchFamily="34" charset="0"/>
                <a:ea typeface="Malgun Gothic" pitchFamily="34" charset="-122"/>
                <a:cs typeface="Malgun Gothic" pitchFamily="34" charset="-120"/>
              </a:rPr>
              <a:t>Part 1</a:t>
            </a:r>
            <a:endParaRPr lang="en-US" sz="1400" dirty="0"/>
          </a:p>
        </p:txBody>
      </p:sp>
      <p:sp>
        <p:nvSpPr>
          <p:cNvPr id="8" name="Text 6"/>
          <p:cNvSpPr/>
          <p:nvPr/>
        </p:nvSpPr>
        <p:spPr>
          <a:xfrm>
            <a:off x="2350008" y="1783080"/>
            <a:ext cx="7955280" cy="402336"/>
          </a:xfrm>
          <a:prstGeom prst="rect">
            <a:avLst/>
          </a:prstGeom>
          <a:noFill/>
          <a:ln/>
        </p:spPr>
        <p:txBody>
          <a:bodyPr wrap="square" lIns="0" tIns="0" rIns="0" bIns="0" rtlCol="0" anchor="ctr"/>
          <a:lstStyle/>
          <a:p>
            <a:pPr indent="0" marL="0">
              <a:buNone/>
            </a:pPr>
            <a:r>
              <a:rPr lang="en-US" sz="1600" b="1" dirty="0">
                <a:solidFill>
                  <a:srgbClr val="1E3560"/>
                </a:solidFill>
                <a:latin typeface="Malgun Gothic" pitchFamily="34" charset="0"/>
                <a:ea typeface="Malgun Gothic" pitchFamily="34" charset="-122"/>
                <a:cs typeface="Malgun Gothic" pitchFamily="34" charset="-120"/>
              </a:rPr>
              <a:t>환류의 이론적 근거</a:t>
            </a:r>
            <a:endParaRPr lang="en-US" sz="1600" dirty="0"/>
          </a:p>
        </p:txBody>
      </p:sp>
      <p:sp>
        <p:nvSpPr>
          <p:cNvPr id="9" name="Text 7"/>
          <p:cNvSpPr/>
          <p:nvPr/>
        </p:nvSpPr>
        <p:spPr>
          <a:xfrm>
            <a:off x="2350008" y="2185416"/>
            <a:ext cx="8046720" cy="347472"/>
          </a:xfrm>
          <a:prstGeom prst="rect">
            <a:avLst/>
          </a:prstGeom>
          <a:noFill/>
          <a:ln/>
        </p:spPr>
        <p:txBody>
          <a:bodyPr wrap="square" lIns="0" tIns="0" rIns="0" bIns="0" rtlCol="0" anchor="ctr"/>
          <a:lstStyle/>
          <a:p>
            <a:pPr indent="0" marL="0">
              <a:buNone/>
            </a:pPr>
            <a:r>
              <a:rPr lang="en-US" sz="1150" dirty="0">
                <a:solidFill>
                  <a:srgbClr val="59607A"/>
                </a:solidFill>
                <a:latin typeface="Malgun Gothic" pitchFamily="34" charset="0"/>
                <a:ea typeface="Malgun Gothic" pitchFamily="34" charset="-122"/>
                <a:cs typeface="Malgun Gothic" pitchFamily="34" charset="-120"/>
              </a:rPr>
              <a:t>정의(Ramaprasad·Sadler), OECD 2030 AAR 순환, 2022 개정 교육과정, 창작 교과에서의 필요성</a:t>
            </a:r>
            <a:endParaRPr lang="en-US" sz="1150" dirty="0"/>
          </a:p>
        </p:txBody>
      </p:sp>
      <p:sp>
        <p:nvSpPr>
          <p:cNvPr id="10" name="Shape 8"/>
          <p:cNvSpPr/>
          <p:nvPr/>
        </p:nvSpPr>
        <p:spPr>
          <a:xfrm>
            <a:off x="566928" y="2734056"/>
            <a:ext cx="10058400" cy="1024128"/>
          </a:xfrm>
          <a:prstGeom prst="roundRect">
            <a:avLst>
              <a:gd name="adj" fmla="val 8929"/>
            </a:avLst>
          </a:prstGeom>
          <a:solidFill>
            <a:srgbClr val="FFFFFF"/>
          </a:solidFill>
          <a:ln/>
          <a:effectLst>
            <a:outerShdw sx="100000" sy="100000" kx="0" ky="0" algn="bl" rotWithShape="0" blurRad="114300" dist="25400" dir="5400000">
              <a:srgbClr val="9AA2B8">
                <a:alpha val="20000"/>
              </a:srgbClr>
            </a:outerShdw>
          </a:effectLst>
        </p:spPr>
      </p:sp>
      <p:sp>
        <p:nvSpPr>
          <p:cNvPr id="11" name="Shape 9"/>
          <p:cNvSpPr/>
          <p:nvPr/>
        </p:nvSpPr>
        <p:spPr>
          <a:xfrm>
            <a:off x="804672" y="3008376"/>
            <a:ext cx="1298448" cy="475488"/>
          </a:xfrm>
          <a:prstGeom prst="roundRect">
            <a:avLst>
              <a:gd name="adj" fmla="val 19231"/>
            </a:avLst>
          </a:prstGeom>
          <a:solidFill>
            <a:srgbClr val="ECE8F8"/>
          </a:solidFill>
          <a:ln/>
        </p:spPr>
      </p:sp>
      <p:sp>
        <p:nvSpPr>
          <p:cNvPr id="12" name="Text 10"/>
          <p:cNvSpPr/>
          <p:nvPr/>
        </p:nvSpPr>
        <p:spPr>
          <a:xfrm>
            <a:off x="804672" y="3008376"/>
            <a:ext cx="1298448" cy="475488"/>
          </a:xfrm>
          <a:prstGeom prst="rect">
            <a:avLst/>
          </a:prstGeom>
          <a:noFill/>
          <a:ln/>
        </p:spPr>
        <p:txBody>
          <a:bodyPr wrap="square" lIns="0" tIns="0" rIns="0" bIns="0" rtlCol="0" anchor="ctr"/>
          <a:lstStyle/>
          <a:p>
            <a:pPr algn="ctr" indent="0" marL="0">
              <a:buNone/>
            </a:pPr>
            <a:r>
              <a:rPr lang="en-US" sz="1400" b="1" dirty="0">
                <a:solidFill>
                  <a:srgbClr val="5B4C9E"/>
                </a:solidFill>
                <a:latin typeface="Malgun Gothic" pitchFamily="34" charset="0"/>
                <a:ea typeface="Malgun Gothic" pitchFamily="34" charset="-122"/>
                <a:cs typeface="Malgun Gothic" pitchFamily="34" charset="-120"/>
              </a:rPr>
              <a:t>Part 2</a:t>
            </a:r>
            <a:endParaRPr lang="en-US" sz="1400" dirty="0"/>
          </a:p>
        </p:txBody>
      </p:sp>
      <p:sp>
        <p:nvSpPr>
          <p:cNvPr id="13" name="Text 11"/>
          <p:cNvSpPr/>
          <p:nvPr/>
        </p:nvSpPr>
        <p:spPr>
          <a:xfrm>
            <a:off x="2350008" y="2916936"/>
            <a:ext cx="7955280" cy="402336"/>
          </a:xfrm>
          <a:prstGeom prst="rect">
            <a:avLst/>
          </a:prstGeom>
          <a:noFill/>
          <a:ln/>
        </p:spPr>
        <p:txBody>
          <a:bodyPr wrap="square" lIns="0" tIns="0" rIns="0" bIns="0" rtlCol="0" anchor="ctr"/>
          <a:lstStyle/>
          <a:p>
            <a:pPr indent="0" marL="0">
              <a:buNone/>
            </a:pPr>
            <a:r>
              <a:rPr lang="en-US" sz="1600" b="1" dirty="0">
                <a:solidFill>
                  <a:srgbClr val="1E3560"/>
                </a:solidFill>
                <a:latin typeface="Malgun Gothic" pitchFamily="34" charset="0"/>
                <a:ea typeface="Malgun Gothic" pitchFamily="34" charset="-122"/>
                <a:cs typeface="Malgun Gothic" pitchFamily="34" charset="-120"/>
              </a:rPr>
              <a:t>교과별 최신 연구·사례</a:t>
            </a:r>
            <a:endParaRPr lang="en-US" sz="1600" dirty="0"/>
          </a:p>
        </p:txBody>
      </p:sp>
      <p:sp>
        <p:nvSpPr>
          <p:cNvPr id="14" name="Text 12"/>
          <p:cNvSpPr/>
          <p:nvPr/>
        </p:nvSpPr>
        <p:spPr>
          <a:xfrm>
            <a:off x="2350008" y="3319272"/>
            <a:ext cx="8046720" cy="347472"/>
          </a:xfrm>
          <a:prstGeom prst="rect">
            <a:avLst/>
          </a:prstGeom>
          <a:noFill/>
          <a:ln/>
        </p:spPr>
        <p:txBody>
          <a:bodyPr wrap="square" lIns="0" tIns="0" rIns="0" bIns="0" rtlCol="0" anchor="ctr"/>
          <a:lstStyle/>
          <a:p>
            <a:pPr indent="0" marL="0">
              <a:buNone/>
            </a:pPr>
            <a:r>
              <a:rPr lang="en-US" sz="1150" dirty="0">
                <a:solidFill>
                  <a:srgbClr val="59607A"/>
                </a:solidFill>
                <a:latin typeface="Malgun Gothic" pitchFamily="34" charset="0"/>
                <a:ea typeface="Malgun Gothic" pitchFamily="34" charset="-122"/>
                <a:cs typeface="Malgun Gothic" pitchFamily="34" charset="-120"/>
              </a:rPr>
              <a:t>음악·미술·체육의 2024–2025 연구와 국내 현장 사례, 흥미로운 발견과 방법</a:t>
            </a:r>
            <a:endParaRPr lang="en-US" sz="1150" dirty="0"/>
          </a:p>
        </p:txBody>
      </p:sp>
      <p:sp>
        <p:nvSpPr>
          <p:cNvPr id="15" name="Shape 13"/>
          <p:cNvSpPr/>
          <p:nvPr/>
        </p:nvSpPr>
        <p:spPr>
          <a:xfrm>
            <a:off x="566928" y="3867912"/>
            <a:ext cx="10058400" cy="1024128"/>
          </a:xfrm>
          <a:prstGeom prst="roundRect">
            <a:avLst>
              <a:gd name="adj" fmla="val 8929"/>
            </a:avLst>
          </a:prstGeom>
          <a:solidFill>
            <a:srgbClr val="FFFFFF"/>
          </a:solidFill>
          <a:ln/>
          <a:effectLst>
            <a:outerShdw sx="100000" sy="100000" kx="0" ky="0" algn="bl" rotWithShape="0" blurRad="114300" dist="25400" dir="5400000">
              <a:srgbClr val="9AA2B8">
                <a:alpha val="20000"/>
              </a:srgbClr>
            </a:outerShdw>
          </a:effectLst>
        </p:spPr>
      </p:sp>
      <p:sp>
        <p:nvSpPr>
          <p:cNvPr id="16" name="Shape 14"/>
          <p:cNvSpPr/>
          <p:nvPr/>
        </p:nvSpPr>
        <p:spPr>
          <a:xfrm>
            <a:off x="804672" y="4142232"/>
            <a:ext cx="1298448" cy="475488"/>
          </a:xfrm>
          <a:prstGeom prst="roundRect">
            <a:avLst>
              <a:gd name="adj" fmla="val 19231"/>
            </a:avLst>
          </a:prstGeom>
          <a:solidFill>
            <a:srgbClr val="FAE8E3"/>
          </a:solidFill>
          <a:ln/>
        </p:spPr>
      </p:sp>
      <p:sp>
        <p:nvSpPr>
          <p:cNvPr id="17" name="Text 15"/>
          <p:cNvSpPr/>
          <p:nvPr/>
        </p:nvSpPr>
        <p:spPr>
          <a:xfrm>
            <a:off x="804672" y="4142232"/>
            <a:ext cx="1298448" cy="475488"/>
          </a:xfrm>
          <a:prstGeom prst="rect">
            <a:avLst/>
          </a:prstGeom>
          <a:noFill/>
          <a:ln/>
        </p:spPr>
        <p:txBody>
          <a:bodyPr wrap="square" lIns="0" tIns="0" rIns="0" bIns="0" rtlCol="0" anchor="ctr"/>
          <a:lstStyle/>
          <a:p>
            <a:pPr algn="ctr" indent="0" marL="0">
              <a:buNone/>
            </a:pPr>
            <a:r>
              <a:rPr lang="en-US" sz="1400" b="1" dirty="0">
                <a:solidFill>
                  <a:srgbClr val="B15C45"/>
                </a:solidFill>
                <a:latin typeface="Malgun Gothic" pitchFamily="34" charset="0"/>
                <a:ea typeface="Malgun Gothic" pitchFamily="34" charset="-122"/>
                <a:cs typeface="Malgun Gothic" pitchFamily="34" charset="-120"/>
              </a:rPr>
              <a:t>Part 3</a:t>
            </a:r>
            <a:endParaRPr lang="en-US" sz="1400" dirty="0"/>
          </a:p>
        </p:txBody>
      </p:sp>
      <p:sp>
        <p:nvSpPr>
          <p:cNvPr id="18" name="Text 16"/>
          <p:cNvSpPr/>
          <p:nvPr/>
        </p:nvSpPr>
        <p:spPr>
          <a:xfrm>
            <a:off x="2350008" y="4050792"/>
            <a:ext cx="7955280" cy="402336"/>
          </a:xfrm>
          <a:prstGeom prst="rect">
            <a:avLst/>
          </a:prstGeom>
          <a:noFill/>
          <a:ln/>
        </p:spPr>
        <p:txBody>
          <a:bodyPr wrap="square" lIns="0" tIns="0" rIns="0" bIns="0" rtlCol="0" anchor="ctr"/>
          <a:lstStyle/>
          <a:p>
            <a:pPr indent="0" marL="0">
              <a:buNone/>
            </a:pPr>
            <a:r>
              <a:rPr lang="en-US" sz="1600" b="1" dirty="0">
                <a:solidFill>
                  <a:srgbClr val="1E3560"/>
                </a:solidFill>
                <a:latin typeface="Malgun Gothic" pitchFamily="34" charset="0"/>
                <a:ea typeface="Malgun Gothic" pitchFamily="34" charset="-122"/>
                <a:cs typeface="Malgun Gothic" pitchFamily="34" charset="-120"/>
              </a:rPr>
              <a:t>데이터 기반 환류 실습</a:t>
            </a:r>
            <a:endParaRPr lang="en-US" sz="1600" dirty="0"/>
          </a:p>
        </p:txBody>
      </p:sp>
      <p:sp>
        <p:nvSpPr>
          <p:cNvPr id="19" name="Text 17"/>
          <p:cNvSpPr/>
          <p:nvPr/>
        </p:nvSpPr>
        <p:spPr>
          <a:xfrm>
            <a:off x="2350008" y="4453128"/>
            <a:ext cx="8046720" cy="347472"/>
          </a:xfrm>
          <a:prstGeom prst="rect">
            <a:avLst/>
          </a:prstGeom>
          <a:noFill/>
          <a:ln/>
        </p:spPr>
        <p:txBody>
          <a:bodyPr wrap="square" lIns="0" tIns="0" rIns="0" bIns="0" rtlCol="0" anchor="ctr"/>
          <a:lstStyle/>
          <a:p>
            <a:pPr indent="0" marL="0">
              <a:buNone/>
            </a:pPr>
            <a:r>
              <a:rPr lang="en-US" sz="1150" dirty="0">
                <a:solidFill>
                  <a:srgbClr val="59607A"/>
                </a:solidFill>
                <a:latin typeface="Malgun Gothic" pitchFamily="34" charset="0"/>
                <a:ea typeface="Malgun Gothic" pitchFamily="34" charset="-122"/>
                <a:cs typeface="Malgun Gothic" pitchFamily="34" charset="-120"/>
              </a:rPr>
              <a:t>갤러리 워크 · 상호 점검 · 데이터 해석 · AI와 교사의 역할 · 액션 플랜</a:t>
            </a:r>
            <a:endParaRPr lang="en-US" sz="1150" dirty="0"/>
          </a:p>
        </p:txBody>
      </p:sp>
      <p:sp>
        <p:nvSpPr>
          <p:cNvPr id="20" name="Shape 18"/>
          <p:cNvSpPr/>
          <p:nvPr/>
        </p:nvSpPr>
        <p:spPr>
          <a:xfrm>
            <a:off x="566928" y="5001768"/>
            <a:ext cx="10058400" cy="1024128"/>
          </a:xfrm>
          <a:prstGeom prst="roundRect">
            <a:avLst>
              <a:gd name="adj" fmla="val 8929"/>
            </a:avLst>
          </a:prstGeom>
          <a:solidFill>
            <a:srgbClr val="FFFFFF"/>
          </a:solidFill>
          <a:ln/>
          <a:effectLst>
            <a:outerShdw sx="100000" sy="100000" kx="0" ky="0" algn="bl" rotWithShape="0" blurRad="114300" dist="25400" dir="5400000">
              <a:srgbClr val="9AA2B8">
                <a:alpha val="20000"/>
              </a:srgbClr>
            </a:outerShdw>
          </a:effectLst>
        </p:spPr>
      </p:sp>
      <p:sp>
        <p:nvSpPr>
          <p:cNvPr id="21" name="Shape 19"/>
          <p:cNvSpPr/>
          <p:nvPr/>
        </p:nvSpPr>
        <p:spPr>
          <a:xfrm>
            <a:off x="804672" y="5276088"/>
            <a:ext cx="1298448" cy="475488"/>
          </a:xfrm>
          <a:prstGeom prst="roundRect">
            <a:avLst>
              <a:gd name="adj" fmla="val 19231"/>
            </a:avLst>
          </a:prstGeom>
          <a:solidFill>
            <a:srgbClr val="E2F0E8"/>
          </a:solidFill>
          <a:ln/>
        </p:spPr>
      </p:sp>
      <p:sp>
        <p:nvSpPr>
          <p:cNvPr id="22" name="Text 20"/>
          <p:cNvSpPr/>
          <p:nvPr/>
        </p:nvSpPr>
        <p:spPr>
          <a:xfrm>
            <a:off x="804672" y="5276088"/>
            <a:ext cx="1298448" cy="475488"/>
          </a:xfrm>
          <a:prstGeom prst="rect">
            <a:avLst/>
          </a:prstGeom>
          <a:noFill/>
          <a:ln/>
        </p:spPr>
        <p:txBody>
          <a:bodyPr wrap="square" lIns="0" tIns="0" rIns="0" bIns="0" rtlCol="0" anchor="ctr"/>
          <a:lstStyle/>
          <a:p>
            <a:pPr algn="ctr" indent="0" marL="0">
              <a:buNone/>
            </a:pPr>
            <a:r>
              <a:rPr lang="en-US" sz="1400" b="1" dirty="0">
                <a:solidFill>
                  <a:srgbClr val="3B7A5A"/>
                </a:solidFill>
                <a:latin typeface="Malgun Gothic" pitchFamily="34" charset="0"/>
                <a:ea typeface="Malgun Gothic" pitchFamily="34" charset="-122"/>
                <a:cs typeface="Malgun Gothic" pitchFamily="34" charset="-120"/>
              </a:rPr>
              <a:t>Part 4</a:t>
            </a:r>
            <a:endParaRPr lang="en-US" sz="1400" dirty="0"/>
          </a:p>
        </p:txBody>
      </p:sp>
      <p:sp>
        <p:nvSpPr>
          <p:cNvPr id="23" name="Text 21"/>
          <p:cNvSpPr/>
          <p:nvPr/>
        </p:nvSpPr>
        <p:spPr>
          <a:xfrm>
            <a:off x="2350008" y="5184648"/>
            <a:ext cx="7955280" cy="402336"/>
          </a:xfrm>
          <a:prstGeom prst="rect">
            <a:avLst/>
          </a:prstGeom>
          <a:noFill/>
          <a:ln/>
        </p:spPr>
        <p:txBody>
          <a:bodyPr wrap="square" lIns="0" tIns="0" rIns="0" bIns="0" rtlCol="0" anchor="ctr"/>
          <a:lstStyle/>
          <a:p>
            <a:pPr indent="0" marL="0">
              <a:buNone/>
            </a:pPr>
            <a:r>
              <a:rPr lang="en-US" sz="1600" b="1" dirty="0">
                <a:solidFill>
                  <a:srgbClr val="1E3560"/>
                </a:solidFill>
                <a:latin typeface="Malgun Gothic" pitchFamily="34" charset="0"/>
                <a:ea typeface="Malgun Gothic" pitchFamily="34" charset="-122"/>
                <a:cs typeface="Malgun Gothic" pitchFamily="34" charset="-120"/>
              </a:rPr>
              <a:t>발표 · 회고 · 마무리</a:t>
            </a:r>
            <a:endParaRPr lang="en-US" sz="1600" dirty="0"/>
          </a:p>
        </p:txBody>
      </p:sp>
      <p:sp>
        <p:nvSpPr>
          <p:cNvPr id="24" name="Text 22"/>
          <p:cNvSpPr/>
          <p:nvPr/>
        </p:nvSpPr>
        <p:spPr>
          <a:xfrm>
            <a:off x="2350008" y="5586984"/>
            <a:ext cx="8046720" cy="347472"/>
          </a:xfrm>
          <a:prstGeom prst="rect">
            <a:avLst/>
          </a:prstGeom>
          <a:noFill/>
          <a:ln/>
        </p:spPr>
        <p:txBody>
          <a:bodyPr wrap="square" lIns="0" tIns="0" rIns="0" bIns="0" rtlCol="0" anchor="ctr"/>
          <a:lstStyle/>
          <a:p>
            <a:pPr indent="0" marL="0">
              <a:buNone/>
            </a:pPr>
            <a:r>
              <a:rPr lang="en-US" sz="1150" dirty="0">
                <a:solidFill>
                  <a:srgbClr val="59607A"/>
                </a:solidFill>
                <a:latin typeface="Malgun Gothic" pitchFamily="34" charset="0"/>
                <a:ea typeface="Malgun Gothic" pitchFamily="34" charset="-122"/>
                <a:cs typeface="Malgun Gothic" pitchFamily="34" charset="-120"/>
              </a:rPr>
              <a:t>우수 설계안 발표와 크리틱, 성찰 저널, KPT 회고와 전이</a:t>
            </a:r>
            <a:endParaRPr lang="en-US" sz="1150" dirty="0"/>
          </a:p>
        </p:txBody>
      </p:sp>
      <p:sp>
        <p:nvSpPr>
          <p:cNvPr id="25" name="Text 23"/>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26" name="Text 24"/>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5B4C9E"/>
                </a:solidFill>
                <a:latin typeface="Malgun Gothic" pitchFamily="34" charset="0"/>
                <a:ea typeface="Malgun Gothic" pitchFamily="34" charset="-122"/>
                <a:cs typeface="Malgun Gothic" pitchFamily="34" charset="-120"/>
              </a:rPr>
              <a:t>START · 문 열기</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지난 세션의 흐름과 오늘 ⑫의 위치</a:t>
            </a:r>
            <a:endParaRPr lang="en-US" sz="2400" dirty="0"/>
          </a:p>
        </p:txBody>
      </p:sp>
      <p:sp>
        <p:nvSpPr>
          <p:cNvPr id="4" name="Shape 2"/>
          <p:cNvSpPr/>
          <p:nvPr/>
        </p:nvSpPr>
        <p:spPr>
          <a:xfrm>
            <a:off x="566928" y="1517904"/>
            <a:ext cx="3246120" cy="1371600"/>
          </a:xfrm>
          <a:prstGeom prst="roundRect">
            <a:avLst>
              <a:gd name="adj" fmla="val 6667"/>
            </a:avLst>
          </a:prstGeom>
          <a:solidFill>
            <a:srgbClr val="FFFFFF"/>
          </a:solidFill>
          <a:ln/>
          <a:effectLst>
            <a:outerShdw sx="100000" sy="100000" kx="0" ky="0" algn="bl" rotWithShape="0" blurRad="114300" dist="25400" dir="5400000">
              <a:srgbClr val="9AA2B8">
                <a:alpha val="20000"/>
              </a:srgbClr>
            </a:outerShdw>
          </a:effectLst>
        </p:spPr>
      </p:sp>
      <p:sp>
        <p:nvSpPr>
          <p:cNvPr id="5" name="Text 3"/>
          <p:cNvSpPr/>
          <p:nvPr/>
        </p:nvSpPr>
        <p:spPr>
          <a:xfrm>
            <a:off x="768096" y="1645920"/>
            <a:ext cx="2834640" cy="329184"/>
          </a:xfrm>
          <a:prstGeom prst="rect">
            <a:avLst/>
          </a:prstGeom>
          <a:noFill/>
          <a:ln/>
        </p:spPr>
        <p:txBody>
          <a:bodyPr wrap="square" lIns="0" tIns="0" rIns="0" bIns="0" rtlCol="0" anchor="ctr"/>
          <a:lstStyle/>
          <a:p>
            <a:pPr indent="0" marL="0">
              <a:buNone/>
            </a:pPr>
            <a:r>
              <a:rPr lang="en-US" sz="1500" b="1" dirty="0">
                <a:solidFill>
                  <a:srgbClr val="3B7A5A"/>
                </a:solidFill>
                <a:latin typeface="Malgun Gothic" pitchFamily="34" charset="0"/>
                <a:ea typeface="Malgun Gothic" pitchFamily="34" charset="-122"/>
                <a:cs typeface="Malgun Gothic" pitchFamily="34" charset="-120"/>
              </a:rPr>
              <a:t>⑩ 실행</a:t>
            </a:r>
            <a:endParaRPr lang="en-US" sz="1500" dirty="0"/>
          </a:p>
        </p:txBody>
      </p:sp>
      <p:sp>
        <p:nvSpPr>
          <p:cNvPr id="6" name="Text 4"/>
          <p:cNvSpPr/>
          <p:nvPr/>
        </p:nvSpPr>
        <p:spPr>
          <a:xfrm>
            <a:off x="768096" y="2011680"/>
            <a:ext cx="2880360" cy="749808"/>
          </a:xfrm>
          <a:prstGeom prst="rect">
            <a:avLst/>
          </a:prstGeom>
          <a:noFill/>
          <a:ln/>
        </p:spPr>
        <p:txBody>
          <a:bodyPr wrap="square" lIns="0" tIns="0" rIns="0" bIns="0" rtlCol="0" anchor="t"/>
          <a:lstStyle/>
          <a:p>
            <a:pPr indent="0" marL="0">
              <a:lnSpc>
                <a:spcPct val="105000"/>
              </a:lnSpc>
              <a:buNone/>
            </a:pPr>
            <a:r>
              <a:rPr lang="en-US" sz="1150" dirty="0">
                <a:solidFill>
                  <a:srgbClr val="59607A"/>
                </a:solidFill>
                <a:latin typeface="Malgun Gothic" pitchFamily="34" charset="0"/>
                <a:ea typeface="Malgun Gothic" pitchFamily="34" charset="-122"/>
                <a:cs typeface="Malgun Gothic" pitchFamily="34" charset="-120"/>
              </a:rPr>
              <a:t>마이크로티칭으로</a:t>
            </a:r>
            <a:endParaRPr lang="en-US" sz="1150" dirty="0"/>
          </a:p>
          <a:p>
            <a:pPr indent="0" marL="0">
              <a:lnSpc>
                <a:spcPct val="105000"/>
              </a:lnSpc>
              <a:buNone/>
            </a:pPr>
            <a:r>
              <a:rPr lang="en-US" sz="1150" dirty="0">
                <a:solidFill>
                  <a:srgbClr val="59607A"/>
                </a:solidFill>
                <a:latin typeface="Malgun Gothic" pitchFamily="34" charset="0"/>
                <a:ea typeface="Malgun Gothic" pitchFamily="34" charset="-122"/>
                <a:cs typeface="Malgun Gothic" pitchFamily="34" charset="-120"/>
              </a:rPr>
              <a:t>수업을 실행</a:t>
            </a:r>
            <a:endParaRPr lang="en-US" sz="1150" dirty="0"/>
          </a:p>
        </p:txBody>
      </p:sp>
      <p:sp>
        <p:nvSpPr>
          <p:cNvPr id="7" name="Text 5"/>
          <p:cNvSpPr/>
          <p:nvPr/>
        </p:nvSpPr>
        <p:spPr>
          <a:xfrm>
            <a:off x="3813048" y="1517904"/>
            <a:ext cx="402336" cy="1371600"/>
          </a:xfrm>
          <a:prstGeom prst="rect">
            <a:avLst/>
          </a:prstGeom>
          <a:noFill/>
          <a:ln/>
        </p:spPr>
        <p:txBody>
          <a:bodyPr wrap="square" lIns="0" tIns="0" rIns="0" bIns="0" rtlCol="0" anchor="ctr"/>
          <a:lstStyle/>
          <a:p>
            <a:pPr algn="ctr" indent="0" marL="0">
              <a:buNone/>
            </a:pPr>
            <a:r>
              <a:rPr lang="en-US" sz="2000" b="1" dirty="0">
                <a:solidFill>
                  <a:srgbClr val="99A0B4"/>
                </a:solidFill>
                <a:latin typeface="Malgun Gothic" pitchFamily="34" charset="0"/>
                <a:ea typeface="Malgun Gothic" pitchFamily="34" charset="-122"/>
                <a:cs typeface="Malgun Gothic" pitchFamily="34" charset="-120"/>
              </a:rPr>
              <a:t>→</a:t>
            </a:r>
            <a:endParaRPr lang="en-US" sz="2000" dirty="0"/>
          </a:p>
        </p:txBody>
      </p:sp>
      <p:sp>
        <p:nvSpPr>
          <p:cNvPr id="8" name="Shape 6"/>
          <p:cNvSpPr/>
          <p:nvPr/>
        </p:nvSpPr>
        <p:spPr>
          <a:xfrm>
            <a:off x="4215384" y="1517904"/>
            <a:ext cx="3246120" cy="1371600"/>
          </a:xfrm>
          <a:prstGeom prst="roundRect">
            <a:avLst>
              <a:gd name="adj" fmla="val 6667"/>
            </a:avLst>
          </a:prstGeom>
          <a:solidFill>
            <a:srgbClr val="FFFFFF"/>
          </a:solidFill>
          <a:ln/>
          <a:effectLst>
            <a:outerShdw sx="100000" sy="100000" kx="0" ky="0" algn="bl" rotWithShape="0" blurRad="114300" dist="25400" dir="5400000">
              <a:srgbClr val="9AA2B8">
                <a:alpha val="20000"/>
              </a:srgbClr>
            </a:outerShdw>
          </a:effectLst>
        </p:spPr>
      </p:sp>
      <p:sp>
        <p:nvSpPr>
          <p:cNvPr id="9" name="Text 7"/>
          <p:cNvSpPr/>
          <p:nvPr/>
        </p:nvSpPr>
        <p:spPr>
          <a:xfrm>
            <a:off x="4416552" y="1645920"/>
            <a:ext cx="2834640" cy="329184"/>
          </a:xfrm>
          <a:prstGeom prst="rect">
            <a:avLst/>
          </a:prstGeom>
          <a:noFill/>
          <a:ln/>
        </p:spPr>
        <p:txBody>
          <a:bodyPr wrap="square" lIns="0" tIns="0" rIns="0" bIns="0" rtlCol="0" anchor="ctr"/>
          <a:lstStyle/>
          <a:p>
            <a:pPr indent="0" marL="0">
              <a:buNone/>
            </a:pPr>
            <a:r>
              <a:rPr lang="en-US" sz="1500" b="1" dirty="0">
                <a:solidFill>
                  <a:srgbClr val="5B4C9E"/>
                </a:solidFill>
                <a:latin typeface="Malgun Gothic" pitchFamily="34" charset="0"/>
                <a:ea typeface="Malgun Gothic" pitchFamily="34" charset="-122"/>
                <a:cs typeface="Malgun Gothic" pitchFamily="34" charset="-120"/>
              </a:rPr>
              <a:t>⑪ 분석</a:t>
            </a:r>
            <a:endParaRPr lang="en-US" sz="1500" dirty="0"/>
          </a:p>
        </p:txBody>
      </p:sp>
      <p:sp>
        <p:nvSpPr>
          <p:cNvPr id="10" name="Text 8"/>
          <p:cNvSpPr/>
          <p:nvPr/>
        </p:nvSpPr>
        <p:spPr>
          <a:xfrm>
            <a:off x="4416552" y="2011680"/>
            <a:ext cx="2880360" cy="749808"/>
          </a:xfrm>
          <a:prstGeom prst="rect">
            <a:avLst/>
          </a:prstGeom>
          <a:noFill/>
          <a:ln/>
        </p:spPr>
        <p:txBody>
          <a:bodyPr wrap="square" lIns="0" tIns="0" rIns="0" bIns="0" rtlCol="0" anchor="t"/>
          <a:lstStyle/>
          <a:p>
            <a:pPr indent="0" marL="0">
              <a:lnSpc>
                <a:spcPct val="105000"/>
              </a:lnSpc>
              <a:buNone/>
            </a:pPr>
            <a:r>
              <a:rPr lang="en-US" sz="1150" dirty="0">
                <a:solidFill>
                  <a:srgbClr val="59607A"/>
                </a:solidFill>
                <a:latin typeface="Malgun Gothic" pitchFamily="34" charset="0"/>
                <a:ea typeface="Malgun Gothic" pitchFamily="34" charset="-122"/>
                <a:cs typeface="Malgun Gothic" pitchFamily="34" charset="-120"/>
              </a:rPr>
              <a:t>실기·수행 데이터를</a:t>
            </a:r>
            <a:endParaRPr lang="en-US" sz="1150" dirty="0"/>
          </a:p>
          <a:p>
            <a:pPr indent="0" marL="0">
              <a:lnSpc>
                <a:spcPct val="105000"/>
              </a:lnSpc>
              <a:buNone/>
            </a:pPr>
            <a:r>
              <a:rPr lang="en-US" sz="1150" dirty="0">
                <a:solidFill>
                  <a:srgbClr val="59607A"/>
                </a:solidFill>
                <a:latin typeface="Malgun Gothic" pitchFamily="34" charset="0"/>
                <a:ea typeface="Malgun Gothic" pitchFamily="34" charset="-122"/>
                <a:cs typeface="Malgun Gothic" pitchFamily="34" charset="-120"/>
              </a:rPr>
              <a:t>AI로 분석</a:t>
            </a:r>
            <a:endParaRPr lang="en-US" sz="1150" dirty="0"/>
          </a:p>
        </p:txBody>
      </p:sp>
      <p:sp>
        <p:nvSpPr>
          <p:cNvPr id="11" name="Text 9"/>
          <p:cNvSpPr/>
          <p:nvPr/>
        </p:nvSpPr>
        <p:spPr>
          <a:xfrm>
            <a:off x="7461504" y="1517904"/>
            <a:ext cx="402336" cy="1371600"/>
          </a:xfrm>
          <a:prstGeom prst="rect">
            <a:avLst/>
          </a:prstGeom>
          <a:noFill/>
          <a:ln/>
        </p:spPr>
        <p:txBody>
          <a:bodyPr wrap="square" lIns="0" tIns="0" rIns="0" bIns="0" rtlCol="0" anchor="ctr"/>
          <a:lstStyle/>
          <a:p>
            <a:pPr algn="ctr" indent="0" marL="0">
              <a:buNone/>
            </a:pPr>
            <a:r>
              <a:rPr lang="en-US" sz="2000" b="1" dirty="0">
                <a:solidFill>
                  <a:srgbClr val="99A0B4"/>
                </a:solidFill>
                <a:latin typeface="Malgun Gothic" pitchFamily="34" charset="0"/>
                <a:ea typeface="Malgun Gothic" pitchFamily="34" charset="-122"/>
                <a:cs typeface="Malgun Gothic" pitchFamily="34" charset="-120"/>
              </a:rPr>
              <a:t>→</a:t>
            </a:r>
            <a:endParaRPr lang="en-US" sz="2000" dirty="0"/>
          </a:p>
        </p:txBody>
      </p:sp>
      <p:sp>
        <p:nvSpPr>
          <p:cNvPr id="12" name="Shape 10"/>
          <p:cNvSpPr/>
          <p:nvPr/>
        </p:nvSpPr>
        <p:spPr>
          <a:xfrm>
            <a:off x="7863840" y="1517904"/>
            <a:ext cx="3246120" cy="1371600"/>
          </a:xfrm>
          <a:prstGeom prst="roundRect">
            <a:avLst>
              <a:gd name="adj" fmla="val 6667"/>
            </a:avLst>
          </a:prstGeom>
          <a:solidFill>
            <a:srgbClr val="FFFFFF"/>
          </a:solidFill>
          <a:ln/>
          <a:effectLst>
            <a:outerShdw sx="100000" sy="100000" kx="0" ky="0" algn="bl" rotWithShape="0" blurRad="114300" dist="25400" dir="5400000">
              <a:srgbClr val="9AA2B8">
                <a:alpha val="20000"/>
              </a:srgbClr>
            </a:outerShdw>
          </a:effectLst>
        </p:spPr>
      </p:sp>
      <p:sp>
        <p:nvSpPr>
          <p:cNvPr id="13" name="Text 11"/>
          <p:cNvSpPr/>
          <p:nvPr/>
        </p:nvSpPr>
        <p:spPr>
          <a:xfrm>
            <a:off x="8065008" y="1645920"/>
            <a:ext cx="2834640" cy="329184"/>
          </a:xfrm>
          <a:prstGeom prst="rect">
            <a:avLst/>
          </a:prstGeom>
          <a:noFill/>
          <a:ln/>
        </p:spPr>
        <p:txBody>
          <a:bodyPr wrap="square" lIns="0" tIns="0" rIns="0" bIns="0" rtlCol="0" anchor="ctr"/>
          <a:lstStyle/>
          <a:p>
            <a:pPr indent="0" marL="0">
              <a:buNone/>
            </a:pPr>
            <a:r>
              <a:rPr lang="en-US" sz="1500" b="1" dirty="0">
                <a:solidFill>
                  <a:srgbClr val="B15C45"/>
                </a:solidFill>
                <a:latin typeface="Malgun Gothic" pitchFamily="34" charset="0"/>
                <a:ea typeface="Malgun Gothic" pitchFamily="34" charset="-122"/>
                <a:cs typeface="Malgun Gothic" pitchFamily="34" charset="-120"/>
              </a:rPr>
              <a:t>⑫ 환류</a:t>
            </a:r>
            <a:endParaRPr lang="en-US" sz="1500" dirty="0"/>
          </a:p>
        </p:txBody>
      </p:sp>
      <p:sp>
        <p:nvSpPr>
          <p:cNvPr id="14" name="Text 12"/>
          <p:cNvSpPr/>
          <p:nvPr/>
        </p:nvSpPr>
        <p:spPr>
          <a:xfrm>
            <a:off x="8065008" y="2011680"/>
            <a:ext cx="2880360" cy="749808"/>
          </a:xfrm>
          <a:prstGeom prst="rect">
            <a:avLst/>
          </a:prstGeom>
          <a:noFill/>
          <a:ln/>
        </p:spPr>
        <p:txBody>
          <a:bodyPr wrap="square" lIns="0" tIns="0" rIns="0" bIns="0" rtlCol="0" anchor="t"/>
          <a:lstStyle/>
          <a:p>
            <a:pPr indent="0" marL="0">
              <a:lnSpc>
                <a:spcPct val="105000"/>
              </a:lnSpc>
              <a:buNone/>
            </a:pPr>
            <a:r>
              <a:rPr lang="en-US" sz="1150" dirty="0">
                <a:solidFill>
                  <a:srgbClr val="59607A"/>
                </a:solidFill>
                <a:latin typeface="Malgun Gothic" pitchFamily="34" charset="0"/>
                <a:ea typeface="Malgun Gothic" pitchFamily="34" charset="-122"/>
                <a:cs typeface="Malgun Gothic" pitchFamily="34" charset="-120"/>
              </a:rPr>
              <a:t>데이터를 성장의 근거로</a:t>
            </a:r>
            <a:endParaRPr lang="en-US" sz="1150" dirty="0"/>
          </a:p>
          <a:p>
            <a:pPr indent="0" marL="0">
              <a:lnSpc>
                <a:spcPct val="105000"/>
              </a:lnSpc>
              <a:buNone/>
            </a:pPr>
            <a:r>
              <a:rPr lang="en-US" sz="1150" dirty="0">
                <a:solidFill>
                  <a:srgbClr val="59607A"/>
                </a:solidFill>
                <a:latin typeface="Malgun Gothic" pitchFamily="34" charset="0"/>
                <a:ea typeface="Malgun Gothic" pitchFamily="34" charset="-122"/>
                <a:cs typeface="Malgun Gothic" pitchFamily="34" charset="-120"/>
              </a:rPr>
              <a:t>수업을 다시 설계</a:t>
            </a:r>
            <a:endParaRPr lang="en-US" sz="1150" dirty="0"/>
          </a:p>
        </p:txBody>
      </p:sp>
      <p:sp>
        <p:nvSpPr>
          <p:cNvPr id="15" name="Shape 13"/>
          <p:cNvSpPr/>
          <p:nvPr/>
        </p:nvSpPr>
        <p:spPr>
          <a:xfrm>
            <a:off x="566928" y="3200400"/>
            <a:ext cx="11064240" cy="2331720"/>
          </a:xfrm>
          <a:prstGeom prst="roundRect">
            <a:avLst>
              <a:gd name="adj" fmla="val 3922"/>
            </a:avLst>
          </a:prstGeom>
          <a:solidFill>
            <a:srgbClr val="ECE8F8"/>
          </a:solidFill>
          <a:ln/>
          <a:effectLst>
            <a:outerShdw sx="100000" sy="100000" kx="0" ky="0" algn="bl" rotWithShape="0" blurRad="114300" dist="25400" dir="5400000">
              <a:srgbClr val="9AA2B8">
                <a:alpha val="20000"/>
              </a:srgbClr>
            </a:outerShdw>
          </a:effectLst>
        </p:spPr>
      </p:sp>
      <p:sp>
        <p:nvSpPr>
          <p:cNvPr id="16" name="Text 14"/>
          <p:cNvSpPr/>
          <p:nvPr/>
        </p:nvSpPr>
        <p:spPr>
          <a:xfrm>
            <a:off x="841248" y="3346704"/>
            <a:ext cx="5486400" cy="329184"/>
          </a:xfrm>
          <a:prstGeom prst="rect">
            <a:avLst/>
          </a:prstGeom>
          <a:noFill/>
          <a:ln/>
        </p:spPr>
        <p:txBody>
          <a:bodyPr wrap="square" lIns="0" tIns="0" rIns="0" bIns="0" rtlCol="0" anchor="ctr"/>
          <a:lstStyle/>
          <a:p>
            <a:pPr indent="0" marL="0">
              <a:buNone/>
            </a:pPr>
            <a:r>
              <a:rPr lang="en-US" sz="1400" b="1" dirty="0">
                <a:solidFill>
                  <a:srgbClr val="5B4C9E"/>
                </a:solidFill>
                <a:latin typeface="Malgun Gothic" pitchFamily="34" charset="0"/>
                <a:ea typeface="Malgun Gothic" pitchFamily="34" charset="-122"/>
                <a:cs typeface="Malgun Gothic" pitchFamily="34" charset="-120"/>
              </a:rPr>
              <a:t>잠깐, 스몰토크</a:t>
            </a:r>
            <a:endParaRPr lang="en-US" sz="1400" dirty="0"/>
          </a:p>
        </p:txBody>
      </p:sp>
      <p:sp>
        <p:nvSpPr>
          <p:cNvPr id="17" name="Text 15"/>
          <p:cNvSpPr/>
          <p:nvPr/>
        </p:nvSpPr>
        <p:spPr>
          <a:xfrm>
            <a:off x="841248" y="3767328"/>
            <a:ext cx="10515600" cy="1645920"/>
          </a:xfrm>
          <a:prstGeom prst="rect">
            <a:avLst/>
          </a:prstGeom>
          <a:noFill/>
          <a:ln/>
        </p:spPr>
        <p:txBody>
          <a:bodyPr wrap="square" lIns="0" tIns="0" rIns="0" bIns="0" rtlCol="0" anchor="t"/>
          <a:lstStyle/>
          <a:p>
            <a:pPr algn="l" indent="0" marL="0">
              <a:lnSpc>
                <a:spcPct val="104000"/>
              </a:lnSpc>
              <a:spcAft>
                <a:spcPts val="800"/>
              </a:spcAft>
              <a:buNone/>
            </a:pPr>
            <a:r>
              <a:rPr lang="en-US" sz="1400" i="1" dirty="0">
                <a:solidFill>
                  <a:srgbClr val="343A4D"/>
                </a:solidFill>
                <a:latin typeface="Malgun Gothic" pitchFamily="34" charset="0"/>
                <a:ea typeface="Malgun Gothic" pitchFamily="34" charset="-122"/>
                <a:cs typeface="Malgun Gothic" pitchFamily="34" charset="-120"/>
              </a:rPr>
              <a:t>“AI한테 수업을 맡겨 보니 제일 편했던 순간은 언제였나요? 반대로, 이건 도저히 기계가 못 하겠다 싶었던 순간은요?”</a:t>
            </a:r>
            <a:endParaRPr lang="en-US" sz="1400" dirty="0"/>
          </a:p>
          <a:p>
            <a:pPr algn="l" indent="0" marL="0">
              <a:lnSpc>
                <a:spcPct val="104000"/>
              </a:lnSpc>
              <a:buNone/>
            </a:pPr>
            <a:r>
              <a:rPr lang="en-US" sz="1200" dirty="0">
                <a:solidFill>
                  <a:srgbClr val="59607A"/>
                </a:solidFill>
                <a:latin typeface="Malgun Gothic" pitchFamily="34" charset="0"/>
                <a:ea typeface="Malgun Gothic" pitchFamily="34" charset="-122"/>
                <a:cs typeface="Malgun Gothic" pitchFamily="34" charset="-120"/>
              </a:rPr>
              <a:t>옆 선생님과 30초씩 나눠 봅니다. 오늘 우리가 종일 다룰 질문이 이 두 문장 안에 들어 있습니다. ‘데이터가 잘하는 일’과 ‘교사만 할 수 있는 일’입니다.</a:t>
            </a:r>
            <a:endParaRPr lang="en-US" sz="1400" dirty="0"/>
          </a:p>
        </p:txBody>
      </p:sp>
      <p:sp>
        <p:nvSpPr>
          <p:cNvPr id="18" name="Text 16"/>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19" name="Text 17"/>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B"/>
        </a:solidFill>
      </p:bgPr>
    </p:bg>
    <p:spTree>
      <p:nvGrpSpPr>
        <p:cNvPr id="1" name=""/>
        <p:cNvGrpSpPr/>
        <p:nvPr/>
      </p:nvGrpSpPr>
      <p:grpSpPr>
        <a:xfrm>
          <a:off x="0" y="0"/>
          <a:ext cx="0" cy="0"/>
          <a:chOff x="0" y="0"/>
          <a:chExt cx="0" cy="0"/>
        </a:xfrm>
      </p:grpSpPr>
      <p:sp>
        <p:nvSpPr>
          <p:cNvPr id="2" name="Shape 0"/>
          <p:cNvSpPr/>
          <p:nvPr/>
        </p:nvSpPr>
        <p:spPr>
          <a:xfrm>
            <a:off x="8869680" y="-1188720"/>
            <a:ext cx="5120640" cy="5120640"/>
          </a:xfrm>
          <a:prstGeom prst="ellipse">
            <a:avLst/>
          </a:prstGeom>
          <a:solidFill>
            <a:srgbClr val="EAEEF8"/>
          </a:solidFill>
          <a:ln/>
        </p:spPr>
      </p:sp>
      <p:sp>
        <p:nvSpPr>
          <p:cNvPr id="3" name="Shape 1"/>
          <p:cNvSpPr/>
          <p:nvPr/>
        </p:nvSpPr>
        <p:spPr>
          <a:xfrm>
            <a:off x="10241280" y="3291840"/>
            <a:ext cx="2926080" cy="2926080"/>
          </a:xfrm>
          <a:prstGeom prst="ellipse">
            <a:avLst/>
          </a:prstGeom>
          <a:solidFill>
            <a:srgbClr val="EAEEF8"/>
          </a:solidFill>
          <a:ln/>
        </p:spPr>
      </p:sp>
      <p:sp>
        <p:nvSpPr>
          <p:cNvPr id="4" name="Text 2"/>
          <p:cNvSpPr/>
          <p:nvPr/>
        </p:nvSpPr>
        <p:spPr>
          <a:xfrm>
            <a:off x="566928" y="2148840"/>
            <a:ext cx="7315200" cy="457200"/>
          </a:xfrm>
          <a:prstGeom prst="rect">
            <a:avLst/>
          </a:prstGeom>
          <a:noFill/>
          <a:ln/>
        </p:spPr>
        <p:txBody>
          <a:bodyPr wrap="square" lIns="0" tIns="0" rIns="0" bIns="0" rtlCol="0" anchor="ctr"/>
          <a:lstStyle/>
          <a:p>
            <a:pPr indent="0" marL="0">
              <a:buNone/>
            </a:pPr>
            <a:r>
              <a:rPr lang="en-US" sz="1500" b="1" spc="200" kern="0" dirty="0">
                <a:solidFill>
                  <a:srgbClr val="2E4A85"/>
                </a:solidFill>
                <a:latin typeface="Malgun Gothic" pitchFamily="34" charset="0"/>
                <a:ea typeface="Malgun Gothic" pitchFamily="34" charset="-122"/>
                <a:cs typeface="Malgun Gothic" pitchFamily="34" charset="-120"/>
              </a:rPr>
              <a:t>PART 1</a:t>
            </a:r>
            <a:endParaRPr lang="en-US" sz="1500" dirty="0"/>
          </a:p>
        </p:txBody>
      </p:sp>
      <p:sp>
        <p:nvSpPr>
          <p:cNvPr id="5" name="Text 3"/>
          <p:cNvSpPr/>
          <p:nvPr/>
        </p:nvSpPr>
        <p:spPr>
          <a:xfrm>
            <a:off x="566928" y="2606040"/>
            <a:ext cx="7863840" cy="1097280"/>
          </a:xfrm>
          <a:prstGeom prst="rect">
            <a:avLst/>
          </a:prstGeom>
          <a:noFill/>
          <a:ln/>
        </p:spPr>
        <p:txBody>
          <a:bodyPr wrap="square" lIns="0" tIns="0" rIns="0" bIns="0" rtlCol="0" anchor="ctr"/>
          <a:lstStyle/>
          <a:p>
            <a:pPr indent="0" marL="0">
              <a:buNone/>
            </a:pPr>
            <a:r>
              <a:rPr lang="en-US" sz="3400" b="1" dirty="0">
                <a:solidFill>
                  <a:srgbClr val="1E3560"/>
                </a:solidFill>
                <a:latin typeface="Malgun Gothic" pitchFamily="34" charset="0"/>
                <a:ea typeface="Malgun Gothic" pitchFamily="34" charset="-122"/>
                <a:cs typeface="Malgun Gothic" pitchFamily="34" charset="-120"/>
              </a:rPr>
              <a:t>환류의 이론적 근거</a:t>
            </a:r>
            <a:endParaRPr lang="en-US" sz="3400" dirty="0"/>
          </a:p>
        </p:txBody>
      </p:sp>
      <p:sp>
        <p:nvSpPr>
          <p:cNvPr id="6" name="Text 4"/>
          <p:cNvSpPr/>
          <p:nvPr/>
        </p:nvSpPr>
        <p:spPr>
          <a:xfrm>
            <a:off x="566928" y="3794760"/>
            <a:ext cx="7680960" cy="822960"/>
          </a:xfrm>
          <a:prstGeom prst="rect">
            <a:avLst/>
          </a:prstGeom>
          <a:noFill/>
          <a:ln/>
        </p:spPr>
        <p:txBody>
          <a:bodyPr wrap="square" lIns="0" tIns="0" rIns="0" bIns="0" rtlCol="0" anchor="t"/>
          <a:lstStyle/>
          <a:p>
            <a:pPr indent="0" marL="0">
              <a:lnSpc>
                <a:spcPct val="110000"/>
              </a:lnSpc>
              <a:buNone/>
            </a:pPr>
            <a:r>
              <a:rPr lang="en-US" sz="1400" dirty="0">
                <a:solidFill>
                  <a:srgbClr val="59607A"/>
                </a:solidFill>
                <a:latin typeface="Malgun Gothic" pitchFamily="34" charset="0"/>
                <a:ea typeface="Malgun Gothic" pitchFamily="34" charset="-122"/>
                <a:cs typeface="Malgun Gothic" pitchFamily="34" charset="-120"/>
              </a:rPr>
              <a:t>교육학의 정의에서 시작해 OECD 2030, 2022 개정 교육과정, 창작 교과의 순서로 왜 환류가 필요한지 정리한다.</a:t>
            </a:r>
            <a:endParaRPr lang="en-US" sz="1400" dirty="0"/>
          </a:p>
        </p:txBody>
      </p:sp>
      <p:sp>
        <p:nvSpPr>
          <p:cNvPr id="7" name="Text 5"/>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8" name="Text 6"/>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2E4A85"/>
                </a:solidFill>
                <a:latin typeface="Malgun Gothic" pitchFamily="34" charset="0"/>
                <a:ea typeface="Malgun Gothic" pitchFamily="34" charset="-122"/>
                <a:cs typeface="Malgun Gothic" pitchFamily="34" charset="-120"/>
              </a:rPr>
              <a:t>PART 1 · 이론 ①</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환류의 교육학적 정의: 목표와 현재의 차이를 줄이는 되먹임</a:t>
            </a:r>
            <a:endParaRPr lang="en-US" sz="2400" dirty="0"/>
          </a:p>
        </p:txBody>
      </p:sp>
      <p:sp>
        <p:nvSpPr>
          <p:cNvPr id="4" name="Text 2"/>
          <p:cNvSpPr/>
          <p:nvPr/>
        </p:nvSpPr>
        <p:spPr>
          <a:xfrm>
            <a:off x="566928" y="1280160"/>
            <a:ext cx="11064240" cy="420624"/>
          </a:xfrm>
          <a:prstGeom prst="rect">
            <a:avLst/>
          </a:prstGeom>
          <a:noFill/>
          <a:ln/>
        </p:spPr>
        <p:txBody>
          <a:bodyPr wrap="square" lIns="0" tIns="0" rIns="0" bIns="0" rtlCol="0" anchor="ctr"/>
          <a:lstStyle/>
          <a:p>
            <a:pPr indent="0" marL="0">
              <a:buNone/>
            </a:pPr>
            <a:r>
              <a:rPr lang="en-US" sz="1200" b="1" dirty="0">
                <a:solidFill>
                  <a:srgbClr val="2E4A85"/>
                </a:solidFill>
                <a:latin typeface="Malgun Gothic" pitchFamily="34" charset="0"/>
                <a:ea typeface="Malgun Gothic" pitchFamily="34" charset="-122"/>
                <a:cs typeface="Malgun Gothic" pitchFamily="34" charset="-120"/>
              </a:rPr>
              <a:t>정의  </a:t>
            </a:r>
            <a:pPr indent="0" marL="0">
              <a:buNone/>
            </a:pPr>
            <a:r>
              <a:rPr lang="en-US" sz="1200" dirty="0">
                <a:solidFill>
                  <a:srgbClr val="59607A"/>
                </a:solidFill>
                <a:latin typeface="Malgun Gothic" pitchFamily="34" charset="0"/>
                <a:ea typeface="Malgun Gothic" pitchFamily="34" charset="-122"/>
                <a:cs typeface="Malgun Gothic" pitchFamily="34" charset="-120"/>
              </a:rPr>
              <a:t>환류(피드백)는 목표 수준과 현재 수준의 ‘차이(gap)’에 관한 정보를, 그 차이를 줄이는 데 사용하는 것이다. (Ramaprasad, 1983)</a:t>
            </a:r>
            <a:endParaRPr lang="en-US" sz="1200" dirty="0"/>
          </a:p>
        </p:txBody>
      </p:sp>
      <p:sp>
        <p:nvSpPr>
          <p:cNvPr id="5" name="Shape 3"/>
          <p:cNvSpPr/>
          <p:nvPr/>
        </p:nvSpPr>
        <p:spPr>
          <a:xfrm>
            <a:off x="566928" y="1938528"/>
            <a:ext cx="3200400" cy="1481328"/>
          </a:xfrm>
          <a:prstGeom prst="roundRect">
            <a:avLst>
              <a:gd name="adj" fmla="val 6173"/>
            </a:avLst>
          </a:prstGeom>
          <a:solidFill>
            <a:srgbClr val="FFFFFF"/>
          </a:solidFill>
          <a:ln/>
          <a:effectLst>
            <a:outerShdw sx="100000" sy="100000" kx="0" ky="0" algn="bl" rotWithShape="0" blurRad="114300" dist="25400" dir="5400000">
              <a:srgbClr val="9AA2B8">
                <a:alpha val="20000"/>
              </a:srgbClr>
            </a:outerShdw>
          </a:effectLst>
        </p:spPr>
      </p:sp>
      <p:sp>
        <p:nvSpPr>
          <p:cNvPr id="6" name="Shape 4"/>
          <p:cNvSpPr/>
          <p:nvPr/>
        </p:nvSpPr>
        <p:spPr>
          <a:xfrm>
            <a:off x="566928" y="1938528"/>
            <a:ext cx="3200400" cy="457200"/>
          </a:xfrm>
          <a:prstGeom prst="roundRect">
            <a:avLst>
              <a:gd name="adj" fmla="val 16000"/>
            </a:avLst>
          </a:prstGeom>
          <a:solidFill>
            <a:srgbClr val="EAEEF8"/>
          </a:solidFill>
          <a:ln/>
        </p:spPr>
      </p:sp>
      <p:sp>
        <p:nvSpPr>
          <p:cNvPr id="7" name="Text 5"/>
          <p:cNvSpPr/>
          <p:nvPr/>
        </p:nvSpPr>
        <p:spPr>
          <a:xfrm>
            <a:off x="713232" y="1938528"/>
            <a:ext cx="2944368" cy="457200"/>
          </a:xfrm>
          <a:prstGeom prst="rect">
            <a:avLst/>
          </a:prstGeom>
          <a:noFill/>
          <a:ln/>
        </p:spPr>
        <p:txBody>
          <a:bodyPr wrap="square" lIns="0" tIns="0" rIns="0" bIns="0" rtlCol="0" anchor="ctr"/>
          <a:lstStyle/>
          <a:p>
            <a:pPr algn="ctr" indent="0" marL="0">
              <a:buNone/>
            </a:pPr>
            <a:r>
              <a:rPr lang="en-US" sz="1150" b="1" dirty="0">
                <a:solidFill>
                  <a:srgbClr val="2E4A85"/>
                </a:solidFill>
                <a:latin typeface="Malgun Gothic" pitchFamily="34" charset="0"/>
                <a:ea typeface="Malgun Gothic" pitchFamily="34" charset="-122"/>
                <a:cs typeface="Malgun Gothic" pitchFamily="34" charset="-120"/>
              </a:rPr>
              <a:t>어디로 가는가 · Feed Up</a:t>
            </a:r>
            <a:endParaRPr lang="en-US" sz="1150" dirty="0"/>
          </a:p>
        </p:txBody>
      </p:sp>
      <p:sp>
        <p:nvSpPr>
          <p:cNvPr id="8" name="Text 6"/>
          <p:cNvSpPr/>
          <p:nvPr/>
        </p:nvSpPr>
        <p:spPr>
          <a:xfrm>
            <a:off x="731520" y="2487168"/>
            <a:ext cx="2889504" cy="841248"/>
          </a:xfrm>
          <a:prstGeom prst="rect">
            <a:avLst/>
          </a:prstGeom>
          <a:noFill/>
          <a:ln/>
        </p:spPr>
        <p:txBody>
          <a:bodyPr wrap="square" lIns="0" tIns="0" rIns="0" bIns="0" rtlCol="0" anchor="t"/>
          <a:lstStyle/>
          <a:p>
            <a:pPr algn="l" indent="0" marL="0">
              <a:lnSpc>
                <a:spcPct val="104000"/>
              </a:lnSpc>
              <a:spcAft>
                <a:spcPts val="400"/>
              </a:spcAft>
              <a:buNone/>
            </a:pPr>
            <a:r>
              <a:rPr lang="en-US" sz="1150" dirty="0">
                <a:solidFill>
                  <a:srgbClr val="343A4D"/>
                </a:solidFill>
                <a:latin typeface="Malgun Gothic" pitchFamily="34" charset="0"/>
                <a:ea typeface="Malgun Gothic" pitchFamily="34" charset="-122"/>
                <a:cs typeface="Malgun Gothic" pitchFamily="34" charset="-120"/>
              </a:rPr>
              <a:t>도달할 목표와 기준을 함께 정한다.</a:t>
            </a:r>
            <a:endParaRPr lang="en-US" sz="1150" dirty="0"/>
          </a:p>
          <a:p>
            <a:pPr algn="l" indent="0" marL="0">
              <a:lnSpc>
                <a:spcPct val="104000"/>
              </a:lnSpc>
              <a:spcAft>
                <a:spcPts val="600"/>
              </a:spcAft>
              <a:buNone/>
            </a:pPr>
            <a:r>
              <a:rPr lang="en-US" sz="1100" i="1" dirty="0">
                <a:solidFill>
                  <a:srgbClr val="59607A"/>
                </a:solidFill>
                <a:latin typeface="Malgun Gothic" pitchFamily="34" charset="0"/>
                <a:ea typeface="Malgun Gothic" pitchFamily="34" charset="-122"/>
                <a:cs typeface="Malgun Gothic" pitchFamily="34" charset="-120"/>
              </a:rPr>
              <a:t>“이번 연주(작품·동작)의 목표가 무엇이었지?”</a:t>
            </a:r>
            <a:endParaRPr lang="en-US" sz="1150" dirty="0"/>
          </a:p>
        </p:txBody>
      </p:sp>
      <p:sp>
        <p:nvSpPr>
          <p:cNvPr id="9" name="Shape 7"/>
          <p:cNvSpPr/>
          <p:nvPr/>
        </p:nvSpPr>
        <p:spPr>
          <a:xfrm>
            <a:off x="658368" y="2011680"/>
            <a:ext cx="310896" cy="310896"/>
          </a:xfrm>
          <a:prstGeom prst="ellipse">
            <a:avLst/>
          </a:prstGeom>
          <a:solidFill>
            <a:srgbClr val="FFFFFF"/>
          </a:solidFill>
          <a:ln/>
        </p:spPr>
      </p:sp>
      <p:pic>
        <p:nvPicPr>
          <p:cNvPr id="10" name="Image 0" descr="/tmp/build/icons/clip.png">    </p:cNvPr>
          <p:cNvPicPr>
            <a:picLocks noChangeAspect="1"/>
          </p:cNvPicPr>
          <p:nvPr/>
        </p:nvPicPr>
        <p:blipFill>
          <a:blip r:embed="rId1"/>
          <a:stretch>
            <a:fillRect/>
          </a:stretch>
        </p:blipFill>
        <p:spPr>
          <a:xfrm>
            <a:off x="732983" y="2086295"/>
            <a:ext cx="161666" cy="161666"/>
          </a:xfrm>
          <a:prstGeom prst="rect">
            <a:avLst/>
          </a:prstGeom>
        </p:spPr>
      </p:pic>
      <p:sp>
        <p:nvSpPr>
          <p:cNvPr id="11" name="Shape 8"/>
          <p:cNvSpPr/>
          <p:nvPr/>
        </p:nvSpPr>
        <p:spPr>
          <a:xfrm>
            <a:off x="4498848" y="1938528"/>
            <a:ext cx="3200400" cy="1481328"/>
          </a:xfrm>
          <a:prstGeom prst="roundRect">
            <a:avLst>
              <a:gd name="adj" fmla="val 6173"/>
            </a:avLst>
          </a:prstGeom>
          <a:solidFill>
            <a:srgbClr val="FFFFFF"/>
          </a:solidFill>
          <a:ln/>
          <a:effectLst>
            <a:outerShdw sx="100000" sy="100000" kx="0" ky="0" algn="bl" rotWithShape="0" blurRad="114300" dist="25400" dir="5400000">
              <a:srgbClr val="9AA2B8">
                <a:alpha val="20000"/>
              </a:srgbClr>
            </a:outerShdw>
          </a:effectLst>
        </p:spPr>
      </p:sp>
      <p:sp>
        <p:nvSpPr>
          <p:cNvPr id="12" name="Shape 9"/>
          <p:cNvSpPr/>
          <p:nvPr/>
        </p:nvSpPr>
        <p:spPr>
          <a:xfrm>
            <a:off x="4498848" y="1938528"/>
            <a:ext cx="3200400" cy="457200"/>
          </a:xfrm>
          <a:prstGeom prst="roundRect">
            <a:avLst>
              <a:gd name="adj" fmla="val 16000"/>
            </a:avLst>
          </a:prstGeom>
          <a:solidFill>
            <a:srgbClr val="ECE8F8"/>
          </a:solidFill>
          <a:ln/>
        </p:spPr>
      </p:sp>
      <p:sp>
        <p:nvSpPr>
          <p:cNvPr id="13" name="Text 10"/>
          <p:cNvSpPr/>
          <p:nvPr/>
        </p:nvSpPr>
        <p:spPr>
          <a:xfrm>
            <a:off x="4645152" y="1938528"/>
            <a:ext cx="2944368" cy="457200"/>
          </a:xfrm>
          <a:prstGeom prst="rect">
            <a:avLst/>
          </a:prstGeom>
          <a:noFill/>
          <a:ln/>
        </p:spPr>
        <p:txBody>
          <a:bodyPr wrap="square" lIns="0" tIns="0" rIns="0" bIns="0" rtlCol="0" anchor="ctr"/>
          <a:lstStyle/>
          <a:p>
            <a:pPr algn="ctr" indent="0" marL="0">
              <a:buNone/>
            </a:pPr>
            <a:r>
              <a:rPr lang="en-US" sz="1150" b="1" dirty="0">
                <a:solidFill>
                  <a:srgbClr val="5B4C9E"/>
                </a:solidFill>
                <a:latin typeface="Malgun Gothic" pitchFamily="34" charset="0"/>
                <a:ea typeface="Malgun Gothic" pitchFamily="34" charset="-122"/>
                <a:cs typeface="Malgun Gothic" pitchFamily="34" charset="-120"/>
              </a:rPr>
              <a:t>지금 어디쯤인가 · Feed Back</a:t>
            </a:r>
            <a:endParaRPr lang="en-US" sz="1150" dirty="0"/>
          </a:p>
        </p:txBody>
      </p:sp>
      <p:sp>
        <p:nvSpPr>
          <p:cNvPr id="14" name="Text 11"/>
          <p:cNvSpPr/>
          <p:nvPr/>
        </p:nvSpPr>
        <p:spPr>
          <a:xfrm>
            <a:off x="4663440" y="2487168"/>
            <a:ext cx="2889504" cy="841248"/>
          </a:xfrm>
          <a:prstGeom prst="rect">
            <a:avLst/>
          </a:prstGeom>
          <a:noFill/>
          <a:ln/>
        </p:spPr>
        <p:txBody>
          <a:bodyPr wrap="square" lIns="0" tIns="0" rIns="0" bIns="0" rtlCol="0" anchor="t"/>
          <a:lstStyle/>
          <a:p>
            <a:pPr algn="l" indent="0" marL="0">
              <a:lnSpc>
                <a:spcPct val="104000"/>
              </a:lnSpc>
              <a:spcAft>
                <a:spcPts val="400"/>
              </a:spcAft>
              <a:buNone/>
            </a:pPr>
            <a:r>
              <a:rPr lang="en-US" sz="1150" dirty="0">
                <a:solidFill>
                  <a:srgbClr val="343A4D"/>
                </a:solidFill>
                <a:latin typeface="Malgun Gothic" pitchFamily="34" charset="0"/>
                <a:ea typeface="Malgun Gothic" pitchFamily="34" charset="-122"/>
                <a:cs typeface="Malgun Gothic" pitchFamily="34" charset="-120"/>
              </a:rPr>
              <a:t>현재 수행을 데이터로 확인한다.</a:t>
            </a:r>
            <a:endParaRPr lang="en-US" sz="1150" dirty="0"/>
          </a:p>
          <a:p>
            <a:pPr algn="l" indent="0" marL="0">
              <a:lnSpc>
                <a:spcPct val="104000"/>
              </a:lnSpc>
              <a:spcAft>
                <a:spcPts val="600"/>
              </a:spcAft>
              <a:buNone/>
            </a:pPr>
            <a:r>
              <a:rPr lang="en-US" sz="1100" i="1" dirty="0">
                <a:solidFill>
                  <a:srgbClr val="59607A"/>
                </a:solidFill>
                <a:latin typeface="Malgun Gothic" pitchFamily="34" charset="0"/>
                <a:ea typeface="Malgun Gothic" pitchFamily="34" charset="-122"/>
                <a:cs typeface="Malgun Gothic" pitchFamily="34" charset="-120"/>
              </a:rPr>
              <a:t>“녹음(로그·영상)을 보면 지금 어디쯤일까?”</a:t>
            </a:r>
            <a:endParaRPr lang="en-US" sz="1150" dirty="0"/>
          </a:p>
        </p:txBody>
      </p:sp>
      <p:sp>
        <p:nvSpPr>
          <p:cNvPr id="15" name="Shape 12"/>
          <p:cNvSpPr/>
          <p:nvPr/>
        </p:nvSpPr>
        <p:spPr>
          <a:xfrm>
            <a:off x="4590288" y="2011680"/>
            <a:ext cx="310896" cy="310896"/>
          </a:xfrm>
          <a:prstGeom prst="ellipse">
            <a:avLst/>
          </a:prstGeom>
          <a:solidFill>
            <a:srgbClr val="FFFFFF"/>
          </a:solidFill>
          <a:ln/>
        </p:spPr>
      </p:sp>
      <p:pic>
        <p:nvPicPr>
          <p:cNvPr id="16" name="Image 1" descr="/tmp/build/icons/chart.png">    </p:cNvPr>
          <p:cNvPicPr>
            <a:picLocks noChangeAspect="1"/>
          </p:cNvPicPr>
          <p:nvPr/>
        </p:nvPicPr>
        <p:blipFill>
          <a:blip r:embed="rId2"/>
          <a:stretch>
            <a:fillRect/>
          </a:stretch>
        </p:blipFill>
        <p:spPr>
          <a:xfrm>
            <a:off x="4664903" y="2086295"/>
            <a:ext cx="161666" cy="161666"/>
          </a:xfrm>
          <a:prstGeom prst="rect">
            <a:avLst/>
          </a:prstGeom>
        </p:spPr>
      </p:pic>
      <p:sp>
        <p:nvSpPr>
          <p:cNvPr id="17" name="Shape 13"/>
          <p:cNvSpPr/>
          <p:nvPr/>
        </p:nvSpPr>
        <p:spPr>
          <a:xfrm>
            <a:off x="8430768" y="1938528"/>
            <a:ext cx="3200400" cy="1481328"/>
          </a:xfrm>
          <a:prstGeom prst="roundRect">
            <a:avLst>
              <a:gd name="adj" fmla="val 6173"/>
            </a:avLst>
          </a:prstGeom>
          <a:solidFill>
            <a:srgbClr val="FFFFFF"/>
          </a:solidFill>
          <a:ln/>
          <a:effectLst>
            <a:outerShdw sx="100000" sy="100000" kx="0" ky="0" algn="bl" rotWithShape="0" blurRad="114300" dist="25400" dir="5400000">
              <a:srgbClr val="9AA2B8">
                <a:alpha val="20000"/>
              </a:srgbClr>
            </a:outerShdw>
          </a:effectLst>
        </p:spPr>
      </p:sp>
      <p:sp>
        <p:nvSpPr>
          <p:cNvPr id="18" name="Shape 14"/>
          <p:cNvSpPr/>
          <p:nvPr/>
        </p:nvSpPr>
        <p:spPr>
          <a:xfrm>
            <a:off x="8430768" y="1938528"/>
            <a:ext cx="3200400" cy="457200"/>
          </a:xfrm>
          <a:prstGeom prst="roundRect">
            <a:avLst>
              <a:gd name="adj" fmla="val 16000"/>
            </a:avLst>
          </a:prstGeom>
          <a:solidFill>
            <a:srgbClr val="FAE8E3"/>
          </a:solidFill>
          <a:ln/>
        </p:spPr>
      </p:sp>
      <p:sp>
        <p:nvSpPr>
          <p:cNvPr id="19" name="Text 15"/>
          <p:cNvSpPr/>
          <p:nvPr/>
        </p:nvSpPr>
        <p:spPr>
          <a:xfrm>
            <a:off x="8577072" y="1938528"/>
            <a:ext cx="2944368" cy="457200"/>
          </a:xfrm>
          <a:prstGeom prst="rect">
            <a:avLst/>
          </a:prstGeom>
          <a:noFill/>
          <a:ln/>
        </p:spPr>
        <p:txBody>
          <a:bodyPr wrap="square" lIns="0" tIns="0" rIns="0" bIns="0" rtlCol="0" anchor="ctr"/>
          <a:lstStyle/>
          <a:p>
            <a:pPr algn="ctr" indent="0" marL="0">
              <a:buNone/>
            </a:pPr>
            <a:r>
              <a:rPr lang="en-US" sz="1150" b="1" dirty="0">
                <a:solidFill>
                  <a:srgbClr val="B15C45"/>
                </a:solidFill>
                <a:latin typeface="Malgun Gothic" pitchFamily="34" charset="0"/>
                <a:ea typeface="Malgun Gothic" pitchFamily="34" charset="-122"/>
                <a:cs typeface="Malgun Gothic" pitchFamily="34" charset="-120"/>
              </a:rPr>
              <a:t>다음에 무엇을 할까 · Feed Forward</a:t>
            </a:r>
            <a:endParaRPr lang="en-US" sz="1150" dirty="0"/>
          </a:p>
        </p:txBody>
      </p:sp>
      <p:sp>
        <p:nvSpPr>
          <p:cNvPr id="20" name="Text 16"/>
          <p:cNvSpPr/>
          <p:nvPr/>
        </p:nvSpPr>
        <p:spPr>
          <a:xfrm>
            <a:off x="8595360" y="2487168"/>
            <a:ext cx="2889504" cy="841248"/>
          </a:xfrm>
          <a:prstGeom prst="rect">
            <a:avLst/>
          </a:prstGeom>
          <a:noFill/>
          <a:ln/>
        </p:spPr>
        <p:txBody>
          <a:bodyPr wrap="square" lIns="0" tIns="0" rIns="0" bIns="0" rtlCol="0" anchor="t"/>
          <a:lstStyle/>
          <a:p>
            <a:pPr algn="l" indent="0" marL="0">
              <a:lnSpc>
                <a:spcPct val="104000"/>
              </a:lnSpc>
              <a:spcAft>
                <a:spcPts val="400"/>
              </a:spcAft>
              <a:buNone/>
            </a:pPr>
            <a:r>
              <a:rPr lang="en-US" sz="1150" dirty="0">
                <a:solidFill>
                  <a:srgbClr val="343A4D"/>
                </a:solidFill>
                <a:latin typeface="Malgun Gothic" pitchFamily="34" charset="0"/>
                <a:ea typeface="Malgun Gothic" pitchFamily="34" charset="-122"/>
                <a:cs typeface="Malgun Gothic" pitchFamily="34" charset="-120"/>
              </a:rPr>
              <a:t>차이를 줄이는 행동으로 수업을 재설계한다.</a:t>
            </a:r>
            <a:endParaRPr lang="en-US" sz="1150" dirty="0"/>
          </a:p>
          <a:p>
            <a:pPr algn="l" indent="0" marL="0">
              <a:lnSpc>
                <a:spcPct val="104000"/>
              </a:lnSpc>
              <a:spcAft>
                <a:spcPts val="600"/>
              </a:spcAft>
              <a:buNone/>
            </a:pPr>
            <a:r>
              <a:rPr lang="en-US" sz="1100" i="1" dirty="0">
                <a:solidFill>
                  <a:srgbClr val="59607A"/>
                </a:solidFill>
                <a:latin typeface="Malgun Gothic" pitchFamily="34" charset="0"/>
                <a:ea typeface="Malgun Gothic" pitchFamily="34" charset="-122"/>
                <a:cs typeface="Malgun Gothic" pitchFamily="34" charset="-120"/>
              </a:rPr>
              <a:t>“다음 연습에서 무엇을 바꿔 볼까?”</a:t>
            </a:r>
            <a:endParaRPr lang="en-US" sz="1150" dirty="0"/>
          </a:p>
        </p:txBody>
      </p:sp>
      <p:sp>
        <p:nvSpPr>
          <p:cNvPr id="21" name="Shape 17"/>
          <p:cNvSpPr/>
          <p:nvPr/>
        </p:nvSpPr>
        <p:spPr>
          <a:xfrm>
            <a:off x="8522208" y="2011680"/>
            <a:ext cx="310896" cy="310896"/>
          </a:xfrm>
          <a:prstGeom prst="ellipse">
            <a:avLst/>
          </a:prstGeom>
          <a:solidFill>
            <a:srgbClr val="FFFFFF"/>
          </a:solidFill>
          <a:ln/>
        </p:spPr>
      </p:sp>
      <p:pic>
        <p:nvPicPr>
          <p:cNvPr id="22" name="Image 2" descr="/tmp/build/icons/sync.png">    </p:cNvPr>
          <p:cNvPicPr>
            <a:picLocks noChangeAspect="1"/>
          </p:cNvPicPr>
          <p:nvPr/>
        </p:nvPicPr>
        <p:blipFill>
          <a:blip r:embed="rId3"/>
          <a:stretch>
            <a:fillRect/>
          </a:stretch>
        </p:blipFill>
        <p:spPr>
          <a:xfrm>
            <a:off x="8596823" y="2086295"/>
            <a:ext cx="161666" cy="161666"/>
          </a:xfrm>
          <a:prstGeom prst="rect">
            <a:avLst/>
          </a:prstGeom>
        </p:spPr>
      </p:pic>
      <p:sp>
        <p:nvSpPr>
          <p:cNvPr id="23" name="Shape 18"/>
          <p:cNvSpPr/>
          <p:nvPr/>
        </p:nvSpPr>
        <p:spPr>
          <a:xfrm>
            <a:off x="3840480" y="2679192"/>
            <a:ext cx="585216" cy="0"/>
          </a:xfrm>
          <a:prstGeom prst="line">
            <a:avLst/>
          </a:prstGeom>
          <a:noFill/>
          <a:ln w="25400">
            <a:solidFill>
              <a:srgbClr val="6E86C4"/>
            </a:solidFill>
            <a:prstDash val="solid"/>
            <a:tailEnd type="triangle"/>
          </a:ln>
        </p:spPr>
      </p:sp>
      <p:sp>
        <p:nvSpPr>
          <p:cNvPr id="24" name="Shape 19"/>
          <p:cNvSpPr/>
          <p:nvPr/>
        </p:nvSpPr>
        <p:spPr>
          <a:xfrm>
            <a:off x="7772400" y="2679192"/>
            <a:ext cx="585216" cy="0"/>
          </a:xfrm>
          <a:prstGeom prst="line">
            <a:avLst/>
          </a:prstGeom>
          <a:noFill/>
          <a:ln w="25400">
            <a:solidFill>
              <a:srgbClr val="8E7BD6"/>
            </a:solidFill>
            <a:prstDash val="solid"/>
            <a:tailEnd type="triangle"/>
          </a:ln>
        </p:spPr>
      </p:sp>
      <p:sp>
        <p:nvSpPr>
          <p:cNvPr id="25" name="Shape 20"/>
          <p:cNvSpPr/>
          <p:nvPr/>
        </p:nvSpPr>
        <p:spPr>
          <a:xfrm>
            <a:off x="10030968" y="3419856"/>
            <a:ext cx="0" cy="310896"/>
          </a:xfrm>
          <a:prstGeom prst="line">
            <a:avLst/>
          </a:prstGeom>
          <a:noFill/>
          <a:ln w="25400">
            <a:solidFill>
              <a:srgbClr val="79B296"/>
            </a:solidFill>
            <a:prstDash val="solid"/>
          </a:ln>
        </p:spPr>
      </p:sp>
      <p:sp>
        <p:nvSpPr>
          <p:cNvPr id="26" name="Shape 21"/>
          <p:cNvSpPr/>
          <p:nvPr/>
        </p:nvSpPr>
        <p:spPr>
          <a:xfrm flipH="1">
            <a:off x="6099048" y="3730752"/>
            <a:ext cx="3931920" cy="0"/>
          </a:xfrm>
          <a:prstGeom prst="line">
            <a:avLst/>
          </a:prstGeom>
          <a:noFill/>
          <a:ln w="25400">
            <a:solidFill>
              <a:srgbClr val="79B296"/>
            </a:solidFill>
            <a:prstDash val="solid"/>
            <a:tailEnd type="triangle"/>
          </a:ln>
        </p:spPr>
      </p:sp>
      <p:sp>
        <p:nvSpPr>
          <p:cNvPr id="27" name="Shape 22"/>
          <p:cNvSpPr/>
          <p:nvPr/>
        </p:nvSpPr>
        <p:spPr>
          <a:xfrm>
            <a:off x="6099048" y="3419856"/>
            <a:ext cx="0" cy="310896"/>
          </a:xfrm>
          <a:prstGeom prst="line">
            <a:avLst/>
          </a:prstGeom>
          <a:noFill/>
          <a:ln w="25400">
            <a:solidFill>
              <a:srgbClr val="79B296"/>
            </a:solidFill>
            <a:prstDash val="solid"/>
          </a:ln>
        </p:spPr>
      </p:sp>
      <p:sp>
        <p:nvSpPr>
          <p:cNvPr id="28" name="Text 23"/>
          <p:cNvSpPr/>
          <p:nvPr/>
        </p:nvSpPr>
        <p:spPr>
          <a:xfrm>
            <a:off x="6099048" y="3767328"/>
            <a:ext cx="3931920" cy="274320"/>
          </a:xfrm>
          <a:prstGeom prst="rect">
            <a:avLst/>
          </a:prstGeom>
          <a:noFill/>
          <a:ln/>
        </p:spPr>
        <p:txBody>
          <a:bodyPr wrap="square" lIns="0" tIns="0" rIns="0" bIns="0" rtlCol="0" anchor="ctr"/>
          <a:lstStyle/>
          <a:p>
            <a:pPr algn="ctr" indent="0" marL="0">
              <a:buNone/>
            </a:pPr>
            <a:r>
              <a:rPr lang="en-US" sz="1000" i="1" dirty="0">
                <a:solidFill>
                  <a:srgbClr val="59607A"/>
                </a:solidFill>
                <a:latin typeface="Malgun Gothic" pitchFamily="34" charset="0"/>
                <a:ea typeface="Malgun Gothic" pitchFamily="34" charset="-122"/>
                <a:cs typeface="Malgun Gothic" pitchFamily="34" charset="-120"/>
              </a:rPr>
              <a:t>반복 · 다시 수행하고 관찰한다</a:t>
            </a:r>
            <a:endParaRPr lang="en-US" sz="1000" dirty="0"/>
          </a:p>
        </p:txBody>
      </p:sp>
      <p:sp>
        <p:nvSpPr>
          <p:cNvPr id="29" name="Shape 24"/>
          <p:cNvSpPr/>
          <p:nvPr/>
        </p:nvSpPr>
        <p:spPr>
          <a:xfrm>
            <a:off x="566928" y="4626864"/>
            <a:ext cx="11064240" cy="1097280"/>
          </a:xfrm>
          <a:prstGeom prst="roundRect">
            <a:avLst>
              <a:gd name="adj" fmla="val 8333"/>
            </a:avLst>
          </a:prstGeom>
          <a:solidFill>
            <a:srgbClr val="FBF1DC"/>
          </a:solidFill>
          <a:ln/>
          <a:effectLst>
            <a:outerShdw sx="100000" sy="100000" kx="0" ky="0" algn="bl" rotWithShape="0" blurRad="114300" dist="25400" dir="5400000">
              <a:srgbClr val="9AA2B8">
                <a:alpha val="20000"/>
              </a:srgbClr>
            </a:outerShdw>
          </a:effectLst>
        </p:spPr>
      </p:sp>
      <p:sp>
        <p:nvSpPr>
          <p:cNvPr id="30" name="Text 25"/>
          <p:cNvSpPr/>
          <p:nvPr/>
        </p:nvSpPr>
        <p:spPr>
          <a:xfrm>
            <a:off x="841248" y="4754880"/>
            <a:ext cx="5486400" cy="292608"/>
          </a:xfrm>
          <a:prstGeom prst="rect">
            <a:avLst/>
          </a:prstGeom>
          <a:noFill/>
          <a:ln/>
        </p:spPr>
        <p:txBody>
          <a:bodyPr wrap="square" lIns="0" tIns="0" rIns="0" bIns="0" rtlCol="0" anchor="ctr"/>
          <a:lstStyle/>
          <a:p>
            <a:pPr indent="0" marL="0">
              <a:buNone/>
            </a:pPr>
            <a:r>
              <a:rPr lang="en-US" sz="1250" b="1" dirty="0">
                <a:solidFill>
                  <a:srgbClr val="B8801F"/>
                </a:solidFill>
                <a:latin typeface="Malgun Gothic" pitchFamily="34" charset="0"/>
                <a:ea typeface="Malgun Gothic" pitchFamily="34" charset="-122"/>
                <a:cs typeface="Malgun Gothic" pitchFamily="34" charset="-120"/>
              </a:rPr>
              <a:t>성장의 세 조건 (Sadler, 1989)</a:t>
            </a:r>
            <a:endParaRPr lang="en-US" sz="1250" dirty="0"/>
          </a:p>
        </p:txBody>
      </p:sp>
      <p:sp>
        <p:nvSpPr>
          <p:cNvPr id="31" name="Text 26"/>
          <p:cNvSpPr/>
          <p:nvPr/>
        </p:nvSpPr>
        <p:spPr>
          <a:xfrm>
            <a:off x="841248" y="5084064"/>
            <a:ext cx="10515600" cy="603504"/>
          </a:xfrm>
          <a:prstGeom prst="rect">
            <a:avLst/>
          </a:prstGeom>
          <a:noFill/>
          <a:ln/>
        </p:spPr>
        <p:txBody>
          <a:bodyPr wrap="square" lIns="0" tIns="0" rIns="0" bIns="0" rtlCol="0" anchor="t"/>
          <a:lstStyle/>
          <a:p>
            <a:pPr algn="l" indent="0" marL="0">
              <a:lnSpc>
                <a:spcPct val="104000"/>
              </a:lnSpc>
              <a:spcAft>
                <a:spcPts val="400"/>
              </a:spcAft>
              <a:buNone/>
            </a:pPr>
            <a:r>
              <a:rPr lang="en-US" sz="1200" dirty="0">
                <a:solidFill>
                  <a:srgbClr val="343A4D"/>
                </a:solidFill>
                <a:latin typeface="Malgun Gothic" pitchFamily="34" charset="0"/>
                <a:ea typeface="Malgun Gothic" pitchFamily="34" charset="-122"/>
                <a:cs typeface="Malgun Gothic" pitchFamily="34" charset="-120"/>
              </a:rPr>
              <a:t>① 도달할 기준을 안다.  ② 현재 수행을 그 기준과 견준다.  ③ 차이를 좁히는 행동을 한다.</a:t>
            </a:r>
            <a:endParaRPr lang="en-US" sz="1200" dirty="0"/>
          </a:p>
          <a:p>
            <a:pPr algn="l" indent="0" marL="0">
              <a:lnSpc>
                <a:spcPct val="104000"/>
              </a:lnSpc>
              <a:spcAft>
                <a:spcPts val="600"/>
              </a:spcAft>
              <a:buNone/>
            </a:pPr>
            <a:r>
              <a:rPr lang="en-US" sz="1150" dirty="0">
                <a:solidFill>
                  <a:srgbClr val="59607A"/>
                </a:solidFill>
                <a:latin typeface="Malgun Gothic" pitchFamily="34" charset="0"/>
                <a:ea typeface="Malgun Gothic" pitchFamily="34" charset="-122"/>
                <a:cs typeface="Malgun Gothic" pitchFamily="34" charset="-120"/>
              </a:rPr>
              <a:t>세 조건이 모두 갖춰질 때 데이터는 성장의 근거로 작동한다. 형성평가의 되먹임 고리가 이 세 조건을 잇는다(Black &amp; Wiliam, 2009).</a:t>
            </a:r>
            <a:endParaRPr lang="en-US" sz="1200" dirty="0"/>
          </a:p>
        </p:txBody>
      </p:sp>
      <p:sp>
        <p:nvSpPr>
          <p:cNvPr id="32" name="Text 27"/>
          <p:cNvSpPr/>
          <p:nvPr/>
        </p:nvSpPr>
        <p:spPr>
          <a:xfrm>
            <a:off x="566928" y="6053328"/>
            <a:ext cx="11064240" cy="310896"/>
          </a:xfrm>
          <a:prstGeom prst="rect">
            <a:avLst/>
          </a:prstGeom>
          <a:noFill/>
          <a:ln/>
        </p:spPr>
        <p:txBody>
          <a:bodyPr wrap="square" lIns="0" tIns="0" rIns="0" bIns="0" rtlCol="0" anchor="ctr"/>
          <a:lstStyle/>
          <a:p>
            <a:pPr indent="0" marL="0">
              <a:buNone/>
            </a:pPr>
            <a:r>
              <a:rPr lang="en-US" sz="900" b="1" dirty="0">
                <a:solidFill>
                  <a:srgbClr val="59607A"/>
                </a:solidFill>
                <a:latin typeface="Malgun Gothic" pitchFamily="34" charset="0"/>
                <a:ea typeface="Malgun Gothic" pitchFamily="34" charset="-122"/>
                <a:cs typeface="Malgun Gothic" pitchFamily="34" charset="-120"/>
              </a:rPr>
              <a:t>출처 · </a:t>
            </a:r>
            <a:pPr indent="0" marL="0">
              <a:buNone/>
            </a:pPr>
            <a:r>
              <a:rPr lang="en-US" sz="900" u="sng" dirty="0">
                <a:solidFill>
                  <a:srgbClr val="2E4A85"/>
                </a:solidFill>
                <a:latin typeface="Malgun Gothic" pitchFamily="34" charset="0"/>
                <a:ea typeface="Malgun Gothic" pitchFamily="34" charset="-122"/>
                <a:cs typeface="Malgun Gothic" pitchFamily="34" charset="-120"/>
                <a:hlinkClick r:id="rId4" invalidUrl="" action="" tgtFrame="" tooltip="" history="1" highlightClick="0" endSnd="0">
                  <a:extLst>
                    <a:ext uri="{A12FA001-AC4F-418D-AE19-62706E023703}">
                      <ahyp:hlinkClr xmlns:ahyp="http://schemas.microsoft.com/office/drawing/2018/hyperlinkcolor" val="tx"/>
                    </a:ext>
                  </a:extLst>
                </a:hlinkClick>
              </a:rPr>
              <a:t>Ramaprasad (1983) Behavioral Science 28(1)</a:t>
            </a:r>
            <a:pPr indent="0" marL="0">
              <a:buNone/>
            </a:pPr>
            <a:r>
              <a:rPr lang="en-US" sz="900" dirty="0">
                <a:solidFill>
                  <a:srgbClr val="59607A"/>
                </a:solidFill>
                <a:latin typeface="Malgun Gothic" pitchFamily="34" charset="0"/>
                <a:ea typeface="Malgun Gothic" pitchFamily="34" charset="-122"/>
                <a:cs typeface="Malgun Gothic" pitchFamily="34" charset="-120"/>
              </a:rPr>
              <a:t>  ·  </a:t>
            </a:r>
            <a:pPr indent="0" marL="0">
              <a:buNone/>
            </a:pPr>
            <a:r>
              <a:rPr lang="en-US" sz="900" u="sng" dirty="0">
                <a:solidFill>
                  <a:srgbClr val="2E4A85"/>
                </a:solidFill>
                <a:latin typeface="Malgun Gothic" pitchFamily="34" charset="0"/>
                <a:ea typeface="Malgun Gothic" pitchFamily="34" charset="-122"/>
                <a:cs typeface="Malgun Gothic" pitchFamily="34" charset="-120"/>
                <a:hlinkClick r:id="rId5" invalidUrl="" action="" tgtFrame="" tooltip="" history="1" highlightClick="0" endSnd="0">
                  <a:extLst>
                    <a:ext uri="{A12FA001-AC4F-418D-AE19-62706E023703}">
                      <ahyp:hlinkClr xmlns:ahyp="http://schemas.microsoft.com/office/drawing/2018/hyperlinkcolor" val="tx"/>
                    </a:ext>
                  </a:extLst>
                </a:hlinkClick>
              </a:rPr>
              <a:t>Sadler (1989) Instructional Science 18</a:t>
            </a:r>
            <a:pPr indent="0" marL="0">
              <a:buNone/>
            </a:pPr>
            <a:r>
              <a:rPr lang="en-US" sz="900" dirty="0">
                <a:solidFill>
                  <a:srgbClr val="59607A"/>
                </a:solidFill>
                <a:latin typeface="Malgun Gothic" pitchFamily="34" charset="0"/>
                <a:ea typeface="Malgun Gothic" pitchFamily="34" charset="-122"/>
                <a:cs typeface="Malgun Gothic" pitchFamily="34" charset="-120"/>
              </a:rPr>
              <a:t>  ·  </a:t>
            </a:r>
            <a:pPr indent="0" marL="0">
              <a:buNone/>
            </a:pPr>
            <a:r>
              <a:rPr lang="en-US" sz="900" u="sng" dirty="0">
                <a:solidFill>
                  <a:srgbClr val="2E4A85"/>
                </a:solidFill>
                <a:latin typeface="Malgun Gothic" pitchFamily="34" charset="0"/>
                <a:ea typeface="Malgun Gothic" pitchFamily="34" charset="-122"/>
                <a:cs typeface="Malgun Gothic" pitchFamily="34" charset="-120"/>
                <a:hlinkClick r:id="rId6" invalidUrl="" action="" tgtFrame="" tooltip="" history="1" highlightClick="0" endSnd="0">
                  <a:extLst>
                    <a:ext uri="{A12FA001-AC4F-418D-AE19-62706E023703}">
                      <ahyp:hlinkClr xmlns:ahyp="http://schemas.microsoft.com/office/drawing/2018/hyperlinkcolor" val="tx"/>
                    </a:ext>
                  </a:extLst>
                </a:hlinkClick>
              </a:rPr>
              <a:t>Hattie &amp; Timperley (2007) Rev. Educ. Res. 77(1)</a:t>
            </a:r>
            <a:endParaRPr lang="en-US" sz="900" dirty="0"/>
          </a:p>
        </p:txBody>
      </p:sp>
      <p:sp>
        <p:nvSpPr>
          <p:cNvPr id="33" name="Text 28"/>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34" name="Text 29"/>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5B4C9E"/>
                </a:solidFill>
                <a:latin typeface="Malgun Gothic" pitchFamily="34" charset="0"/>
                <a:ea typeface="Malgun Gothic" pitchFamily="34" charset="-122"/>
                <a:cs typeface="Malgun Gothic" pitchFamily="34" charset="-120"/>
              </a:rPr>
              <a:t>PART 1 · 이론 ②</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OECD 2030 학습 나침반: 예측·행동·성찰(AAR) 순환</a:t>
            </a:r>
            <a:endParaRPr lang="en-US" sz="2400" dirty="0"/>
          </a:p>
        </p:txBody>
      </p:sp>
      <p:sp>
        <p:nvSpPr>
          <p:cNvPr id="4" name="Text 2"/>
          <p:cNvSpPr/>
          <p:nvPr/>
        </p:nvSpPr>
        <p:spPr>
          <a:xfrm>
            <a:off x="566928" y="1280160"/>
            <a:ext cx="11064240" cy="420624"/>
          </a:xfrm>
          <a:prstGeom prst="rect">
            <a:avLst/>
          </a:prstGeom>
          <a:noFill/>
          <a:ln/>
        </p:spPr>
        <p:txBody>
          <a:bodyPr wrap="square" lIns="0" tIns="0" rIns="0" bIns="0" rtlCol="0" anchor="ctr"/>
          <a:lstStyle/>
          <a:p>
            <a:pPr indent="0" marL="0">
              <a:buNone/>
            </a:pPr>
            <a:r>
              <a:rPr lang="en-US" sz="1200" b="1" dirty="0">
                <a:solidFill>
                  <a:srgbClr val="5B4C9E"/>
                </a:solidFill>
                <a:latin typeface="Malgun Gothic" pitchFamily="34" charset="0"/>
                <a:ea typeface="Malgun Gothic" pitchFamily="34" charset="-122"/>
                <a:cs typeface="Malgun Gothic" pitchFamily="34" charset="-120"/>
              </a:rPr>
              <a:t>OECD Learning Compass 2030</a:t>
            </a:r>
            <a:pPr indent="0" marL="0">
              <a:buNone/>
            </a:pPr>
            <a:r>
              <a:rPr lang="en-US" sz="1200" dirty="0">
                <a:solidFill>
                  <a:srgbClr val="59607A"/>
                </a:solidFill>
                <a:latin typeface="Malgun Gothic" pitchFamily="34" charset="0"/>
                <a:ea typeface="Malgun Gothic" pitchFamily="34" charset="-122"/>
                <a:cs typeface="Malgun Gothic" pitchFamily="34" charset="-120"/>
              </a:rPr>
              <a:t>은 학습을 예측–행동–성찰이 반복되는 순환으로 본다. 이 순환의 동력이 학습자 주도성(student agency)이다.</a:t>
            </a:r>
            <a:endParaRPr lang="en-US" sz="1200" dirty="0"/>
          </a:p>
        </p:txBody>
      </p:sp>
      <p:sp>
        <p:nvSpPr>
          <p:cNvPr id="5" name="Shape 3"/>
          <p:cNvSpPr/>
          <p:nvPr/>
        </p:nvSpPr>
        <p:spPr>
          <a:xfrm>
            <a:off x="566928" y="1938528"/>
            <a:ext cx="3200400" cy="1481328"/>
          </a:xfrm>
          <a:prstGeom prst="roundRect">
            <a:avLst>
              <a:gd name="adj" fmla="val 6173"/>
            </a:avLst>
          </a:prstGeom>
          <a:solidFill>
            <a:srgbClr val="FFFFFF"/>
          </a:solidFill>
          <a:ln/>
          <a:effectLst>
            <a:outerShdw sx="100000" sy="100000" kx="0" ky="0" algn="bl" rotWithShape="0" blurRad="114300" dist="25400" dir="5400000">
              <a:srgbClr val="9AA2B8">
                <a:alpha val="20000"/>
              </a:srgbClr>
            </a:outerShdw>
          </a:effectLst>
        </p:spPr>
      </p:sp>
      <p:sp>
        <p:nvSpPr>
          <p:cNvPr id="6" name="Shape 4"/>
          <p:cNvSpPr/>
          <p:nvPr/>
        </p:nvSpPr>
        <p:spPr>
          <a:xfrm>
            <a:off x="566928" y="1938528"/>
            <a:ext cx="3200400" cy="457200"/>
          </a:xfrm>
          <a:prstGeom prst="roundRect">
            <a:avLst>
              <a:gd name="adj" fmla="val 16000"/>
            </a:avLst>
          </a:prstGeom>
          <a:solidFill>
            <a:srgbClr val="ECE8F8"/>
          </a:solidFill>
          <a:ln/>
        </p:spPr>
      </p:sp>
      <p:sp>
        <p:nvSpPr>
          <p:cNvPr id="7" name="Text 5"/>
          <p:cNvSpPr/>
          <p:nvPr/>
        </p:nvSpPr>
        <p:spPr>
          <a:xfrm>
            <a:off x="713232" y="1938528"/>
            <a:ext cx="2944368" cy="457200"/>
          </a:xfrm>
          <a:prstGeom prst="rect">
            <a:avLst/>
          </a:prstGeom>
          <a:noFill/>
          <a:ln/>
        </p:spPr>
        <p:txBody>
          <a:bodyPr wrap="square" lIns="0" tIns="0" rIns="0" bIns="0" rtlCol="0" anchor="ctr"/>
          <a:lstStyle/>
          <a:p>
            <a:pPr algn="ctr" indent="0" marL="0">
              <a:buNone/>
            </a:pPr>
            <a:r>
              <a:rPr lang="en-US" sz="1250" b="1" dirty="0">
                <a:solidFill>
                  <a:srgbClr val="5B4C9E"/>
                </a:solidFill>
                <a:latin typeface="Malgun Gothic" pitchFamily="34" charset="0"/>
                <a:ea typeface="Malgun Gothic" pitchFamily="34" charset="-122"/>
                <a:cs typeface="Malgun Gothic" pitchFamily="34" charset="-120"/>
              </a:rPr>
              <a:t>예측 Anticipation</a:t>
            </a:r>
            <a:endParaRPr lang="en-US" sz="1250" dirty="0"/>
          </a:p>
        </p:txBody>
      </p:sp>
      <p:sp>
        <p:nvSpPr>
          <p:cNvPr id="8" name="Text 6"/>
          <p:cNvSpPr/>
          <p:nvPr/>
        </p:nvSpPr>
        <p:spPr>
          <a:xfrm>
            <a:off x="731520" y="2487168"/>
            <a:ext cx="2889504" cy="841248"/>
          </a:xfrm>
          <a:prstGeom prst="rect">
            <a:avLst/>
          </a:prstGeom>
          <a:noFill/>
          <a:ln/>
        </p:spPr>
        <p:txBody>
          <a:bodyPr wrap="square" lIns="0" tIns="0" rIns="0" bIns="0" rtlCol="0" anchor="t"/>
          <a:lstStyle/>
          <a:p>
            <a:pPr algn="l" indent="0" marL="0">
              <a:lnSpc>
                <a:spcPct val="104000"/>
              </a:lnSpc>
              <a:spcAft>
                <a:spcPts val="400"/>
              </a:spcAft>
              <a:buNone/>
            </a:pPr>
            <a:r>
              <a:rPr lang="en-US" sz="1150" dirty="0">
                <a:solidFill>
                  <a:srgbClr val="343A4D"/>
                </a:solidFill>
                <a:latin typeface="Malgun Gothic" pitchFamily="34" charset="0"/>
                <a:ea typeface="Malgun Gothic" pitchFamily="34" charset="-122"/>
                <a:cs typeface="Malgun Gothic" pitchFamily="34" charset="-120"/>
              </a:rPr>
              <a:t>오늘의 행동이 낳을 결과를 내다본다.</a:t>
            </a:r>
            <a:endParaRPr lang="en-US" sz="1150" dirty="0"/>
          </a:p>
          <a:p>
            <a:pPr algn="l" indent="0" marL="0">
              <a:lnSpc>
                <a:spcPct val="104000"/>
              </a:lnSpc>
              <a:spcAft>
                <a:spcPts val="600"/>
              </a:spcAft>
              <a:buNone/>
            </a:pPr>
            <a:r>
              <a:rPr lang="en-US" sz="1100" i="1" dirty="0">
                <a:solidFill>
                  <a:srgbClr val="59607A"/>
                </a:solidFill>
                <a:latin typeface="Malgun Gothic" pitchFamily="34" charset="0"/>
                <a:ea typeface="Malgun Gothic" pitchFamily="34" charset="-122"/>
                <a:cs typeface="Malgun Gothic" pitchFamily="34" charset="-120"/>
              </a:rPr>
              <a:t>학생: “이 안무에서 착지가 흔들릴 것 같다.”</a:t>
            </a:r>
            <a:endParaRPr lang="en-US" sz="1150" dirty="0"/>
          </a:p>
        </p:txBody>
      </p:sp>
      <p:sp>
        <p:nvSpPr>
          <p:cNvPr id="9" name="Shape 7"/>
          <p:cNvSpPr/>
          <p:nvPr/>
        </p:nvSpPr>
        <p:spPr>
          <a:xfrm>
            <a:off x="4498848" y="1938528"/>
            <a:ext cx="3200400" cy="1481328"/>
          </a:xfrm>
          <a:prstGeom prst="roundRect">
            <a:avLst>
              <a:gd name="adj" fmla="val 6173"/>
            </a:avLst>
          </a:prstGeom>
          <a:solidFill>
            <a:srgbClr val="FFFFFF"/>
          </a:solidFill>
          <a:ln/>
          <a:effectLst>
            <a:outerShdw sx="100000" sy="100000" kx="0" ky="0" algn="bl" rotWithShape="0" blurRad="114300" dist="25400" dir="5400000">
              <a:srgbClr val="9AA2B8">
                <a:alpha val="20000"/>
              </a:srgbClr>
            </a:outerShdw>
          </a:effectLst>
        </p:spPr>
      </p:sp>
      <p:sp>
        <p:nvSpPr>
          <p:cNvPr id="10" name="Shape 8"/>
          <p:cNvSpPr/>
          <p:nvPr/>
        </p:nvSpPr>
        <p:spPr>
          <a:xfrm>
            <a:off x="4498848" y="1938528"/>
            <a:ext cx="3200400" cy="457200"/>
          </a:xfrm>
          <a:prstGeom prst="roundRect">
            <a:avLst>
              <a:gd name="adj" fmla="val 16000"/>
            </a:avLst>
          </a:prstGeom>
          <a:solidFill>
            <a:srgbClr val="EAEEF8"/>
          </a:solidFill>
          <a:ln/>
        </p:spPr>
      </p:sp>
      <p:sp>
        <p:nvSpPr>
          <p:cNvPr id="11" name="Text 9"/>
          <p:cNvSpPr/>
          <p:nvPr/>
        </p:nvSpPr>
        <p:spPr>
          <a:xfrm>
            <a:off x="4645152" y="1938528"/>
            <a:ext cx="2944368" cy="457200"/>
          </a:xfrm>
          <a:prstGeom prst="rect">
            <a:avLst/>
          </a:prstGeom>
          <a:noFill/>
          <a:ln/>
        </p:spPr>
        <p:txBody>
          <a:bodyPr wrap="square" lIns="0" tIns="0" rIns="0" bIns="0" rtlCol="0" anchor="ctr"/>
          <a:lstStyle/>
          <a:p>
            <a:pPr algn="ctr" indent="0" marL="0">
              <a:buNone/>
            </a:pPr>
            <a:r>
              <a:rPr lang="en-US" sz="1250" b="1" dirty="0">
                <a:solidFill>
                  <a:srgbClr val="2E4A85"/>
                </a:solidFill>
                <a:latin typeface="Malgun Gothic" pitchFamily="34" charset="0"/>
                <a:ea typeface="Malgun Gothic" pitchFamily="34" charset="-122"/>
                <a:cs typeface="Malgun Gothic" pitchFamily="34" charset="-120"/>
              </a:rPr>
              <a:t>행동 Action</a:t>
            </a:r>
            <a:endParaRPr lang="en-US" sz="1250" dirty="0"/>
          </a:p>
        </p:txBody>
      </p:sp>
      <p:sp>
        <p:nvSpPr>
          <p:cNvPr id="12" name="Text 10"/>
          <p:cNvSpPr/>
          <p:nvPr/>
        </p:nvSpPr>
        <p:spPr>
          <a:xfrm>
            <a:off x="4663440" y="2487168"/>
            <a:ext cx="2889504" cy="841248"/>
          </a:xfrm>
          <a:prstGeom prst="rect">
            <a:avLst/>
          </a:prstGeom>
          <a:noFill/>
          <a:ln/>
        </p:spPr>
        <p:txBody>
          <a:bodyPr wrap="square" lIns="0" tIns="0" rIns="0" bIns="0" rtlCol="0" anchor="t"/>
          <a:lstStyle/>
          <a:p>
            <a:pPr algn="l" indent="0" marL="0">
              <a:lnSpc>
                <a:spcPct val="104000"/>
              </a:lnSpc>
              <a:spcAft>
                <a:spcPts val="400"/>
              </a:spcAft>
              <a:buNone/>
            </a:pPr>
            <a:r>
              <a:rPr lang="en-US" sz="1150" dirty="0">
                <a:solidFill>
                  <a:srgbClr val="343A4D"/>
                </a:solidFill>
                <a:latin typeface="Malgun Gothic" pitchFamily="34" charset="0"/>
                <a:ea typeface="Malgun Gothic" pitchFamily="34" charset="-122"/>
                <a:cs typeface="Malgun Gothic" pitchFamily="34" charset="-120"/>
              </a:rPr>
              <a:t>목표를 향해 의도적으로 실행한다.</a:t>
            </a:r>
            <a:endParaRPr lang="en-US" sz="1150" dirty="0"/>
          </a:p>
          <a:p>
            <a:pPr algn="l" indent="0" marL="0">
              <a:lnSpc>
                <a:spcPct val="104000"/>
              </a:lnSpc>
              <a:spcAft>
                <a:spcPts val="600"/>
              </a:spcAft>
              <a:buNone/>
            </a:pPr>
            <a:r>
              <a:rPr lang="en-US" sz="1100" i="1" dirty="0">
                <a:solidFill>
                  <a:srgbClr val="59607A"/>
                </a:solidFill>
                <a:latin typeface="Malgun Gothic" pitchFamily="34" charset="0"/>
                <a:ea typeface="Malgun Gothic" pitchFamily="34" charset="-122"/>
                <a:cs typeface="Malgun Gothic" pitchFamily="34" charset="-120"/>
              </a:rPr>
              <a:t>학생: “착지 구간만 10회 반복해 촬영했다.”</a:t>
            </a:r>
            <a:endParaRPr lang="en-US" sz="1150" dirty="0"/>
          </a:p>
        </p:txBody>
      </p:sp>
      <p:sp>
        <p:nvSpPr>
          <p:cNvPr id="13" name="Shape 11"/>
          <p:cNvSpPr/>
          <p:nvPr/>
        </p:nvSpPr>
        <p:spPr>
          <a:xfrm>
            <a:off x="8430768" y="1938528"/>
            <a:ext cx="3200400" cy="1481328"/>
          </a:xfrm>
          <a:prstGeom prst="roundRect">
            <a:avLst>
              <a:gd name="adj" fmla="val 6173"/>
            </a:avLst>
          </a:prstGeom>
          <a:solidFill>
            <a:srgbClr val="FFFFFF"/>
          </a:solidFill>
          <a:ln/>
          <a:effectLst>
            <a:outerShdw sx="100000" sy="100000" kx="0" ky="0" algn="bl" rotWithShape="0" blurRad="114300" dist="25400" dir="5400000">
              <a:srgbClr val="9AA2B8">
                <a:alpha val="20000"/>
              </a:srgbClr>
            </a:outerShdw>
          </a:effectLst>
        </p:spPr>
      </p:sp>
      <p:sp>
        <p:nvSpPr>
          <p:cNvPr id="14" name="Shape 12"/>
          <p:cNvSpPr/>
          <p:nvPr/>
        </p:nvSpPr>
        <p:spPr>
          <a:xfrm>
            <a:off x="8430768" y="1938528"/>
            <a:ext cx="3200400" cy="457200"/>
          </a:xfrm>
          <a:prstGeom prst="roundRect">
            <a:avLst>
              <a:gd name="adj" fmla="val 16000"/>
            </a:avLst>
          </a:prstGeom>
          <a:solidFill>
            <a:srgbClr val="E2F0E8"/>
          </a:solidFill>
          <a:ln/>
        </p:spPr>
      </p:sp>
      <p:sp>
        <p:nvSpPr>
          <p:cNvPr id="15" name="Text 13"/>
          <p:cNvSpPr/>
          <p:nvPr/>
        </p:nvSpPr>
        <p:spPr>
          <a:xfrm>
            <a:off x="8577072" y="1938528"/>
            <a:ext cx="2944368" cy="457200"/>
          </a:xfrm>
          <a:prstGeom prst="rect">
            <a:avLst/>
          </a:prstGeom>
          <a:noFill/>
          <a:ln/>
        </p:spPr>
        <p:txBody>
          <a:bodyPr wrap="square" lIns="0" tIns="0" rIns="0" bIns="0" rtlCol="0" anchor="ctr"/>
          <a:lstStyle/>
          <a:p>
            <a:pPr algn="ctr" indent="0" marL="0">
              <a:buNone/>
            </a:pPr>
            <a:r>
              <a:rPr lang="en-US" sz="1250" b="1" dirty="0">
                <a:solidFill>
                  <a:srgbClr val="3B7A5A"/>
                </a:solidFill>
                <a:latin typeface="Malgun Gothic" pitchFamily="34" charset="0"/>
                <a:ea typeface="Malgun Gothic" pitchFamily="34" charset="-122"/>
                <a:cs typeface="Malgun Gothic" pitchFamily="34" charset="-120"/>
              </a:rPr>
              <a:t>성찰 Reflection</a:t>
            </a:r>
            <a:endParaRPr lang="en-US" sz="1250" dirty="0"/>
          </a:p>
        </p:txBody>
      </p:sp>
      <p:sp>
        <p:nvSpPr>
          <p:cNvPr id="16" name="Text 14"/>
          <p:cNvSpPr/>
          <p:nvPr/>
        </p:nvSpPr>
        <p:spPr>
          <a:xfrm>
            <a:off x="8595360" y="2487168"/>
            <a:ext cx="2889504" cy="841248"/>
          </a:xfrm>
          <a:prstGeom prst="rect">
            <a:avLst/>
          </a:prstGeom>
          <a:noFill/>
          <a:ln/>
        </p:spPr>
        <p:txBody>
          <a:bodyPr wrap="square" lIns="0" tIns="0" rIns="0" bIns="0" rtlCol="0" anchor="t"/>
          <a:lstStyle/>
          <a:p>
            <a:pPr algn="l" indent="0" marL="0">
              <a:lnSpc>
                <a:spcPct val="104000"/>
              </a:lnSpc>
              <a:spcAft>
                <a:spcPts val="400"/>
              </a:spcAft>
              <a:buNone/>
            </a:pPr>
            <a:r>
              <a:rPr lang="en-US" sz="1150" dirty="0">
                <a:solidFill>
                  <a:srgbClr val="343A4D"/>
                </a:solidFill>
                <a:latin typeface="Malgun Gothic" pitchFamily="34" charset="0"/>
                <a:ea typeface="Malgun Gothic" pitchFamily="34" charset="-122"/>
                <a:cs typeface="Malgun Gothic" pitchFamily="34" charset="-120"/>
              </a:rPr>
              <a:t>사고를 개선해 다음 행동을 바꾼다.</a:t>
            </a:r>
            <a:endParaRPr lang="en-US" sz="1150" dirty="0"/>
          </a:p>
          <a:p>
            <a:pPr algn="l" indent="0" marL="0">
              <a:lnSpc>
                <a:spcPct val="104000"/>
              </a:lnSpc>
              <a:spcAft>
                <a:spcPts val="600"/>
              </a:spcAft>
              <a:buNone/>
            </a:pPr>
            <a:r>
              <a:rPr lang="en-US" sz="1100" i="1" dirty="0">
                <a:solidFill>
                  <a:srgbClr val="59607A"/>
                </a:solidFill>
                <a:latin typeface="Malgun Gothic" pitchFamily="34" charset="0"/>
                <a:ea typeface="Malgun Gothic" pitchFamily="34" charset="-122"/>
                <a:cs typeface="Malgun Gothic" pitchFamily="34" charset="-120"/>
              </a:rPr>
              <a:t>학생: “3회차부터 무릎 각도가 안정됐다.”</a:t>
            </a:r>
            <a:endParaRPr lang="en-US" sz="1150" dirty="0"/>
          </a:p>
        </p:txBody>
      </p:sp>
      <p:sp>
        <p:nvSpPr>
          <p:cNvPr id="17" name="Shape 15"/>
          <p:cNvSpPr/>
          <p:nvPr/>
        </p:nvSpPr>
        <p:spPr>
          <a:xfrm>
            <a:off x="11027664" y="566928"/>
            <a:ext cx="512064" cy="512064"/>
          </a:xfrm>
          <a:prstGeom prst="ellipse">
            <a:avLst/>
          </a:prstGeom>
          <a:solidFill>
            <a:srgbClr val="ECE8F8"/>
          </a:solidFill>
          <a:ln/>
        </p:spPr>
      </p:sp>
      <p:pic>
        <p:nvPicPr>
          <p:cNvPr id="18" name="Image 0" descr="/tmp/build/icons/compass.png">    </p:cNvPr>
          <p:cNvPicPr>
            <a:picLocks noChangeAspect="1"/>
          </p:cNvPicPr>
          <p:nvPr/>
        </p:nvPicPr>
        <p:blipFill>
          <a:blip r:embed="rId1"/>
          <a:stretch>
            <a:fillRect/>
          </a:stretch>
        </p:blipFill>
        <p:spPr>
          <a:xfrm>
            <a:off x="11150559" y="689823"/>
            <a:ext cx="266273" cy="266273"/>
          </a:xfrm>
          <a:prstGeom prst="rect">
            <a:avLst/>
          </a:prstGeom>
        </p:spPr>
      </p:pic>
      <p:sp>
        <p:nvSpPr>
          <p:cNvPr id="19" name="Shape 16"/>
          <p:cNvSpPr/>
          <p:nvPr/>
        </p:nvSpPr>
        <p:spPr>
          <a:xfrm>
            <a:off x="3840480" y="2679192"/>
            <a:ext cx="585216" cy="0"/>
          </a:xfrm>
          <a:prstGeom prst="line">
            <a:avLst/>
          </a:prstGeom>
          <a:noFill/>
          <a:ln w="25400">
            <a:solidFill>
              <a:srgbClr val="8E7BD6"/>
            </a:solidFill>
            <a:prstDash val="solid"/>
            <a:tailEnd type="triangle"/>
          </a:ln>
        </p:spPr>
      </p:sp>
      <p:sp>
        <p:nvSpPr>
          <p:cNvPr id="20" name="Shape 17"/>
          <p:cNvSpPr/>
          <p:nvPr/>
        </p:nvSpPr>
        <p:spPr>
          <a:xfrm>
            <a:off x="7772400" y="2679192"/>
            <a:ext cx="585216" cy="0"/>
          </a:xfrm>
          <a:prstGeom prst="line">
            <a:avLst/>
          </a:prstGeom>
          <a:noFill/>
          <a:ln w="25400">
            <a:solidFill>
              <a:srgbClr val="6E86C4"/>
            </a:solidFill>
            <a:prstDash val="solid"/>
            <a:tailEnd type="triangle"/>
          </a:ln>
        </p:spPr>
      </p:sp>
      <p:sp>
        <p:nvSpPr>
          <p:cNvPr id="21" name="Shape 18"/>
          <p:cNvSpPr/>
          <p:nvPr/>
        </p:nvSpPr>
        <p:spPr>
          <a:xfrm>
            <a:off x="10030968" y="3419856"/>
            <a:ext cx="0" cy="310896"/>
          </a:xfrm>
          <a:prstGeom prst="line">
            <a:avLst/>
          </a:prstGeom>
          <a:noFill/>
          <a:ln w="25400">
            <a:solidFill>
              <a:srgbClr val="8E7BD6"/>
            </a:solidFill>
            <a:prstDash val="solid"/>
          </a:ln>
        </p:spPr>
      </p:sp>
      <p:sp>
        <p:nvSpPr>
          <p:cNvPr id="22" name="Shape 19"/>
          <p:cNvSpPr/>
          <p:nvPr/>
        </p:nvSpPr>
        <p:spPr>
          <a:xfrm flipH="1">
            <a:off x="6099048" y="3730752"/>
            <a:ext cx="3931920" cy="0"/>
          </a:xfrm>
          <a:prstGeom prst="line">
            <a:avLst/>
          </a:prstGeom>
          <a:noFill/>
          <a:ln w="25400">
            <a:solidFill>
              <a:srgbClr val="8E7BD6"/>
            </a:solidFill>
            <a:prstDash val="solid"/>
            <a:tailEnd type="triangle"/>
          </a:ln>
        </p:spPr>
      </p:sp>
      <p:sp>
        <p:nvSpPr>
          <p:cNvPr id="23" name="Shape 20"/>
          <p:cNvSpPr/>
          <p:nvPr/>
        </p:nvSpPr>
        <p:spPr>
          <a:xfrm>
            <a:off x="6099048" y="3419856"/>
            <a:ext cx="0" cy="310896"/>
          </a:xfrm>
          <a:prstGeom prst="line">
            <a:avLst/>
          </a:prstGeom>
          <a:noFill/>
          <a:ln w="25400">
            <a:solidFill>
              <a:srgbClr val="8E7BD6"/>
            </a:solidFill>
            <a:prstDash val="solid"/>
          </a:ln>
        </p:spPr>
      </p:sp>
      <p:sp>
        <p:nvSpPr>
          <p:cNvPr id="24" name="Text 21"/>
          <p:cNvSpPr/>
          <p:nvPr/>
        </p:nvSpPr>
        <p:spPr>
          <a:xfrm>
            <a:off x="6099048" y="3767328"/>
            <a:ext cx="3931920" cy="274320"/>
          </a:xfrm>
          <a:prstGeom prst="rect">
            <a:avLst/>
          </a:prstGeom>
          <a:noFill/>
          <a:ln/>
        </p:spPr>
        <p:txBody>
          <a:bodyPr wrap="square" lIns="0" tIns="0" rIns="0" bIns="0" rtlCol="0" anchor="ctr"/>
          <a:lstStyle/>
          <a:p>
            <a:pPr algn="ctr" indent="0" marL="0">
              <a:buNone/>
            </a:pPr>
            <a:r>
              <a:rPr lang="en-US" sz="1000" i="1" dirty="0">
                <a:solidFill>
                  <a:srgbClr val="59607A"/>
                </a:solidFill>
                <a:latin typeface="Malgun Gothic" pitchFamily="34" charset="0"/>
                <a:ea typeface="Malgun Gothic" pitchFamily="34" charset="-122"/>
                <a:cs typeface="Malgun Gothic" pitchFamily="34" charset="-120"/>
              </a:rPr>
              <a:t>반복 순환 · 성찰이 다음 예측으로 이어진다</a:t>
            </a:r>
            <a:endParaRPr lang="en-US" sz="1000" dirty="0"/>
          </a:p>
        </p:txBody>
      </p:sp>
      <p:sp>
        <p:nvSpPr>
          <p:cNvPr id="25" name="Shape 22"/>
          <p:cNvSpPr/>
          <p:nvPr/>
        </p:nvSpPr>
        <p:spPr>
          <a:xfrm>
            <a:off x="566928" y="4626864"/>
            <a:ext cx="11064240" cy="1097280"/>
          </a:xfrm>
          <a:prstGeom prst="roundRect">
            <a:avLst>
              <a:gd name="adj" fmla="val 8333"/>
            </a:avLst>
          </a:prstGeom>
          <a:solidFill>
            <a:srgbClr val="FBF1DC"/>
          </a:solidFill>
          <a:ln/>
          <a:effectLst>
            <a:outerShdw sx="100000" sy="100000" kx="0" ky="0" algn="bl" rotWithShape="0" blurRad="114300" dist="25400" dir="5400000">
              <a:srgbClr val="9AA2B8">
                <a:alpha val="20000"/>
              </a:srgbClr>
            </a:outerShdw>
          </a:effectLst>
        </p:spPr>
      </p:sp>
      <p:sp>
        <p:nvSpPr>
          <p:cNvPr id="26" name="Text 23"/>
          <p:cNvSpPr/>
          <p:nvPr/>
        </p:nvSpPr>
        <p:spPr>
          <a:xfrm>
            <a:off x="841248" y="4754880"/>
            <a:ext cx="5486400" cy="292608"/>
          </a:xfrm>
          <a:prstGeom prst="rect">
            <a:avLst/>
          </a:prstGeom>
          <a:noFill/>
          <a:ln/>
        </p:spPr>
        <p:txBody>
          <a:bodyPr wrap="square" lIns="0" tIns="0" rIns="0" bIns="0" rtlCol="0" anchor="ctr"/>
          <a:lstStyle/>
          <a:p>
            <a:pPr indent="0" marL="0">
              <a:buNone/>
            </a:pPr>
            <a:r>
              <a:rPr lang="en-US" sz="1250" b="1" dirty="0">
                <a:solidFill>
                  <a:srgbClr val="B8801F"/>
                </a:solidFill>
                <a:latin typeface="Malgun Gothic" pitchFamily="34" charset="0"/>
                <a:ea typeface="Malgun Gothic" pitchFamily="34" charset="-122"/>
                <a:cs typeface="Malgun Gothic" pitchFamily="34" charset="-120"/>
              </a:rPr>
              <a:t>환류와의 연결</a:t>
            </a:r>
            <a:endParaRPr lang="en-US" sz="1250" dirty="0"/>
          </a:p>
        </p:txBody>
      </p:sp>
      <p:sp>
        <p:nvSpPr>
          <p:cNvPr id="27" name="Text 24"/>
          <p:cNvSpPr/>
          <p:nvPr/>
        </p:nvSpPr>
        <p:spPr>
          <a:xfrm>
            <a:off x="841248" y="5084064"/>
            <a:ext cx="10515600" cy="603504"/>
          </a:xfrm>
          <a:prstGeom prst="rect">
            <a:avLst/>
          </a:prstGeom>
          <a:noFill/>
          <a:ln/>
        </p:spPr>
        <p:txBody>
          <a:bodyPr wrap="square" lIns="0" tIns="0" rIns="0" bIns="0" rtlCol="0" anchor="t"/>
          <a:lstStyle/>
          <a:p>
            <a:pPr algn="l" indent="0" marL="0">
              <a:lnSpc>
                <a:spcPct val="104000"/>
              </a:lnSpc>
              <a:spcAft>
                <a:spcPts val="400"/>
              </a:spcAft>
              <a:buNone/>
            </a:pPr>
            <a:r>
              <a:rPr lang="en-US" sz="1200" dirty="0">
                <a:solidFill>
                  <a:srgbClr val="343A4D"/>
                </a:solidFill>
                <a:latin typeface="Malgun Gothic" pitchFamily="34" charset="0"/>
                <a:ea typeface="Malgun Gothic" pitchFamily="34" charset="-122"/>
                <a:cs typeface="Malgun Gothic" pitchFamily="34" charset="-120"/>
              </a:rPr>
              <a:t>성찰(Reflection) 단계가 곧 학생의 환류다. 학습자 주도성은 ‘남에게 휘둘리지 않고 스스로 행동하는 것(to act, rather than be acted upon)’으로 정의된다.</a:t>
            </a:r>
            <a:endParaRPr lang="en-US" sz="1200" dirty="0"/>
          </a:p>
          <a:p>
            <a:pPr algn="l" indent="0" marL="0">
              <a:lnSpc>
                <a:spcPct val="104000"/>
              </a:lnSpc>
              <a:spcAft>
                <a:spcPts val="600"/>
              </a:spcAft>
              <a:buNone/>
            </a:pPr>
            <a:r>
              <a:rPr lang="en-US" sz="1150" dirty="0">
                <a:solidFill>
                  <a:srgbClr val="59607A"/>
                </a:solidFill>
                <a:latin typeface="Malgun Gothic" pitchFamily="34" charset="0"/>
                <a:ea typeface="Malgun Gothic" pitchFamily="34" charset="-122"/>
                <a:cs typeface="Malgun Gothic" pitchFamily="34" charset="-120"/>
              </a:rPr>
              <a:t>교사의 환류는 이 순환이 끊기지 않도록 떠받치는 일이다. 학습 나침반은 학습 틀이며 평가 틀로 설계되지 않았다는 점도 함께 기억한다.</a:t>
            </a:r>
            <a:endParaRPr lang="en-US" sz="1200" dirty="0"/>
          </a:p>
        </p:txBody>
      </p:sp>
      <p:sp>
        <p:nvSpPr>
          <p:cNvPr id="28" name="Text 25"/>
          <p:cNvSpPr/>
          <p:nvPr/>
        </p:nvSpPr>
        <p:spPr>
          <a:xfrm>
            <a:off x="566928" y="6053328"/>
            <a:ext cx="11064240" cy="310896"/>
          </a:xfrm>
          <a:prstGeom prst="rect">
            <a:avLst/>
          </a:prstGeom>
          <a:noFill/>
          <a:ln/>
        </p:spPr>
        <p:txBody>
          <a:bodyPr wrap="square" lIns="0" tIns="0" rIns="0" bIns="0" rtlCol="0" anchor="ctr"/>
          <a:lstStyle/>
          <a:p>
            <a:pPr indent="0" marL="0">
              <a:buNone/>
            </a:pPr>
            <a:r>
              <a:rPr lang="en-US" sz="900" b="1" dirty="0">
                <a:solidFill>
                  <a:srgbClr val="59607A"/>
                </a:solidFill>
                <a:latin typeface="Malgun Gothic" pitchFamily="34" charset="0"/>
                <a:ea typeface="Malgun Gothic" pitchFamily="34" charset="-122"/>
                <a:cs typeface="Malgun Gothic" pitchFamily="34" charset="-120"/>
              </a:rPr>
              <a:t>출처 · </a:t>
            </a:r>
            <a:pPr indent="0" marL="0">
              <a:buNone/>
            </a:pPr>
            <a:r>
              <a:rPr lang="en-US" sz="900" u="sng" dirty="0">
                <a:solidFill>
                  <a:srgbClr val="2E4A85"/>
                </a:solidFill>
                <a:latin typeface="Malgun Gothic" pitchFamily="34" charset="0"/>
                <a:ea typeface="Malgun Gothic" pitchFamily="34" charset="-122"/>
                <a:cs typeface="Malgun Goth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OECD (2019) Learning Compass 2030 · AAR Cycle</a:t>
            </a:r>
            <a:endParaRPr lang="en-US" sz="900" dirty="0"/>
          </a:p>
        </p:txBody>
      </p:sp>
      <p:sp>
        <p:nvSpPr>
          <p:cNvPr id="29" name="Text 26"/>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30" name="Text 27"/>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B15C45"/>
                </a:solidFill>
                <a:latin typeface="Malgun Gothic" pitchFamily="34" charset="0"/>
                <a:ea typeface="Malgun Gothic" pitchFamily="34" charset="-122"/>
                <a:cs typeface="Malgun Gothic" pitchFamily="34" charset="-120"/>
              </a:rPr>
              <a:t>PART 1 · 이론 ③</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2022 개정 교육과정에서 환류의 위치</a:t>
            </a:r>
            <a:endParaRPr lang="en-US" sz="2400" dirty="0"/>
          </a:p>
        </p:txBody>
      </p:sp>
      <p:sp>
        <p:nvSpPr>
          <p:cNvPr id="4" name="Text 2"/>
          <p:cNvSpPr/>
          <p:nvPr/>
        </p:nvSpPr>
        <p:spPr>
          <a:xfrm>
            <a:off x="566928" y="1280160"/>
            <a:ext cx="11064240" cy="402336"/>
          </a:xfrm>
          <a:prstGeom prst="rect">
            <a:avLst/>
          </a:prstGeom>
          <a:noFill/>
          <a:ln/>
        </p:spPr>
        <p:txBody>
          <a:bodyPr wrap="square" lIns="0" tIns="0" rIns="0" bIns="0" rtlCol="0" anchor="ctr"/>
          <a:lstStyle/>
          <a:p>
            <a:pPr indent="0" marL="0">
              <a:buNone/>
            </a:pPr>
            <a:r>
              <a:rPr lang="en-US" sz="1200" dirty="0">
                <a:solidFill>
                  <a:srgbClr val="59607A"/>
                </a:solidFill>
                <a:latin typeface="Malgun Gothic" pitchFamily="34" charset="0"/>
                <a:ea typeface="Malgun Gothic" pitchFamily="34" charset="-122"/>
                <a:cs typeface="Malgun Gothic" pitchFamily="34" charset="-120"/>
              </a:rPr>
              <a:t>2022 개정 교육과정 총론의 네 방향이 모두 환류로 모인다. 환류는 이 방향들을 실제 수업에서 실현하는 장치다.</a:t>
            </a:r>
            <a:endParaRPr lang="en-US" sz="1200" dirty="0"/>
          </a:p>
        </p:txBody>
      </p:sp>
      <p:sp>
        <p:nvSpPr>
          <p:cNvPr id="5" name="Shape 3"/>
          <p:cNvSpPr/>
          <p:nvPr/>
        </p:nvSpPr>
        <p:spPr>
          <a:xfrm>
            <a:off x="566928" y="1773936"/>
            <a:ext cx="2606040" cy="1371600"/>
          </a:xfrm>
          <a:prstGeom prst="roundRect">
            <a:avLst>
              <a:gd name="adj" fmla="val 6667"/>
            </a:avLst>
          </a:prstGeom>
          <a:solidFill>
            <a:srgbClr val="FFFFFF"/>
          </a:solidFill>
          <a:ln/>
          <a:effectLst>
            <a:outerShdw sx="100000" sy="100000" kx="0" ky="0" algn="bl" rotWithShape="0" blurRad="114300" dist="25400" dir="5400000">
              <a:srgbClr val="9AA2B8">
                <a:alpha val="20000"/>
              </a:srgbClr>
            </a:outerShdw>
          </a:effectLst>
        </p:spPr>
      </p:sp>
      <p:sp>
        <p:nvSpPr>
          <p:cNvPr id="6" name="Shape 4"/>
          <p:cNvSpPr/>
          <p:nvPr/>
        </p:nvSpPr>
        <p:spPr>
          <a:xfrm>
            <a:off x="566928" y="1773936"/>
            <a:ext cx="2606040" cy="475488"/>
          </a:xfrm>
          <a:prstGeom prst="roundRect">
            <a:avLst>
              <a:gd name="adj" fmla="val 15385"/>
            </a:avLst>
          </a:prstGeom>
          <a:solidFill>
            <a:srgbClr val="EAEEF8"/>
          </a:solidFill>
          <a:ln/>
        </p:spPr>
      </p:sp>
      <p:sp>
        <p:nvSpPr>
          <p:cNvPr id="7" name="Text 5"/>
          <p:cNvSpPr/>
          <p:nvPr/>
        </p:nvSpPr>
        <p:spPr>
          <a:xfrm>
            <a:off x="676656" y="1773936"/>
            <a:ext cx="2386584" cy="475488"/>
          </a:xfrm>
          <a:prstGeom prst="rect">
            <a:avLst/>
          </a:prstGeom>
          <a:noFill/>
          <a:ln/>
        </p:spPr>
        <p:txBody>
          <a:bodyPr wrap="square" lIns="0" tIns="0" rIns="0" bIns="0" rtlCol="0" anchor="ctr"/>
          <a:lstStyle/>
          <a:p>
            <a:pPr algn="ctr" indent="0" marL="0">
              <a:buNone/>
            </a:pPr>
            <a:r>
              <a:rPr lang="en-US" sz="1200" b="1" dirty="0">
                <a:solidFill>
                  <a:srgbClr val="2E4A85"/>
                </a:solidFill>
                <a:latin typeface="Malgun Gothic" pitchFamily="34" charset="0"/>
                <a:ea typeface="Malgun Gothic" pitchFamily="34" charset="-122"/>
                <a:cs typeface="Malgun Gothic" pitchFamily="34" charset="-120"/>
              </a:rPr>
              <a:t>과정을 중시하는 평가</a:t>
            </a:r>
            <a:endParaRPr lang="en-US" sz="1200" dirty="0"/>
          </a:p>
        </p:txBody>
      </p:sp>
      <p:sp>
        <p:nvSpPr>
          <p:cNvPr id="8" name="Text 6"/>
          <p:cNvSpPr/>
          <p:nvPr/>
        </p:nvSpPr>
        <p:spPr>
          <a:xfrm>
            <a:off x="713232" y="2340864"/>
            <a:ext cx="2313432" cy="749808"/>
          </a:xfrm>
          <a:prstGeom prst="rect">
            <a:avLst/>
          </a:prstGeom>
          <a:noFill/>
          <a:ln/>
        </p:spPr>
        <p:txBody>
          <a:bodyPr wrap="square" lIns="0" tIns="0" rIns="0" bIns="0" rtlCol="0" anchor="t"/>
          <a:lstStyle/>
          <a:p>
            <a:pPr algn="ctr" indent="0" marL="0">
              <a:lnSpc>
                <a:spcPct val="106000"/>
              </a:lnSpc>
              <a:buNone/>
            </a:pPr>
            <a:r>
              <a:rPr lang="en-US" sz="1100" dirty="0">
                <a:solidFill>
                  <a:srgbClr val="343A4D"/>
                </a:solidFill>
                <a:latin typeface="Malgun Gothic" pitchFamily="34" charset="0"/>
                <a:ea typeface="Malgun Gothic" pitchFamily="34" charset="-122"/>
                <a:cs typeface="Malgun Gothic" pitchFamily="34" charset="-120"/>
              </a:rPr>
              <a:t>문제 해결과 사고의 과정을 평가한다</a:t>
            </a:r>
            <a:endParaRPr lang="en-US" sz="1100" dirty="0"/>
          </a:p>
        </p:txBody>
      </p:sp>
      <p:sp>
        <p:nvSpPr>
          <p:cNvPr id="9" name="Shape 7"/>
          <p:cNvSpPr/>
          <p:nvPr/>
        </p:nvSpPr>
        <p:spPr>
          <a:xfrm>
            <a:off x="1869948" y="3145536"/>
            <a:ext cx="0" cy="310896"/>
          </a:xfrm>
          <a:prstGeom prst="line">
            <a:avLst/>
          </a:prstGeom>
          <a:noFill/>
          <a:ln w="25400">
            <a:solidFill>
              <a:srgbClr val="99A0B4"/>
            </a:solidFill>
            <a:prstDash val="solid"/>
            <a:tailEnd type="triangle"/>
          </a:ln>
        </p:spPr>
      </p:sp>
      <p:sp>
        <p:nvSpPr>
          <p:cNvPr id="10" name="Shape 8"/>
          <p:cNvSpPr/>
          <p:nvPr/>
        </p:nvSpPr>
        <p:spPr>
          <a:xfrm>
            <a:off x="3346704" y="1773936"/>
            <a:ext cx="2606040" cy="1371600"/>
          </a:xfrm>
          <a:prstGeom prst="roundRect">
            <a:avLst>
              <a:gd name="adj" fmla="val 6667"/>
            </a:avLst>
          </a:prstGeom>
          <a:solidFill>
            <a:srgbClr val="FFFFFF"/>
          </a:solidFill>
          <a:ln/>
          <a:effectLst>
            <a:outerShdw sx="100000" sy="100000" kx="0" ky="0" algn="bl" rotWithShape="0" blurRad="114300" dist="25400" dir="5400000">
              <a:srgbClr val="9AA2B8">
                <a:alpha val="20000"/>
              </a:srgbClr>
            </a:outerShdw>
          </a:effectLst>
        </p:spPr>
      </p:sp>
      <p:sp>
        <p:nvSpPr>
          <p:cNvPr id="11" name="Shape 9"/>
          <p:cNvSpPr/>
          <p:nvPr/>
        </p:nvSpPr>
        <p:spPr>
          <a:xfrm>
            <a:off x="3346704" y="1773936"/>
            <a:ext cx="2606040" cy="475488"/>
          </a:xfrm>
          <a:prstGeom prst="roundRect">
            <a:avLst>
              <a:gd name="adj" fmla="val 15385"/>
            </a:avLst>
          </a:prstGeom>
          <a:solidFill>
            <a:srgbClr val="ECE8F8"/>
          </a:solidFill>
          <a:ln/>
        </p:spPr>
      </p:sp>
      <p:sp>
        <p:nvSpPr>
          <p:cNvPr id="12" name="Text 10"/>
          <p:cNvSpPr/>
          <p:nvPr/>
        </p:nvSpPr>
        <p:spPr>
          <a:xfrm>
            <a:off x="3456432" y="1773936"/>
            <a:ext cx="2386584" cy="475488"/>
          </a:xfrm>
          <a:prstGeom prst="rect">
            <a:avLst/>
          </a:prstGeom>
          <a:noFill/>
          <a:ln/>
        </p:spPr>
        <p:txBody>
          <a:bodyPr wrap="square" lIns="0" tIns="0" rIns="0" bIns="0" rtlCol="0" anchor="ctr"/>
          <a:lstStyle/>
          <a:p>
            <a:pPr algn="ctr" indent="0" marL="0">
              <a:buNone/>
            </a:pPr>
            <a:r>
              <a:rPr lang="en-US" sz="1200" b="1" dirty="0">
                <a:solidFill>
                  <a:srgbClr val="5B4C9E"/>
                </a:solidFill>
                <a:latin typeface="Malgun Gothic" pitchFamily="34" charset="0"/>
                <a:ea typeface="Malgun Gothic" pitchFamily="34" charset="-122"/>
                <a:cs typeface="Malgun Gothic" pitchFamily="34" charset="-120"/>
              </a:rPr>
              <a:t>학습에 대한 성찰 강화</a:t>
            </a:r>
            <a:endParaRPr lang="en-US" sz="1200" dirty="0"/>
          </a:p>
        </p:txBody>
      </p:sp>
      <p:sp>
        <p:nvSpPr>
          <p:cNvPr id="13" name="Text 11"/>
          <p:cNvSpPr/>
          <p:nvPr/>
        </p:nvSpPr>
        <p:spPr>
          <a:xfrm>
            <a:off x="3493008" y="2340864"/>
            <a:ext cx="2313432" cy="749808"/>
          </a:xfrm>
          <a:prstGeom prst="rect">
            <a:avLst/>
          </a:prstGeom>
          <a:noFill/>
          <a:ln/>
        </p:spPr>
        <p:txBody>
          <a:bodyPr wrap="square" lIns="0" tIns="0" rIns="0" bIns="0" rtlCol="0" anchor="t"/>
          <a:lstStyle/>
          <a:p>
            <a:pPr algn="ctr" indent="0" marL="0">
              <a:lnSpc>
                <a:spcPct val="106000"/>
              </a:lnSpc>
              <a:buNone/>
            </a:pPr>
            <a:r>
              <a:rPr lang="en-US" sz="1100" dirty="0">
                <a:solidFill>
                  <a:srgbClr val="343A4D"/>
                </a:solidFill>
                <a:latin typeface="Malgun Gothic" pitchFamily="34" charset="0"/>
                <a:ea typeface="Malgun Gothic" pitchFamily="34" charset="-122"/>
                <a:cs typeface="Malgun Gothic" pitchFamily="34" charset="-120"/>
              </a:rPr>
              <a:t>깊이 있는 학습을 위해 성찰을 강화한다</a:t>
            </a:r>
            <a:endParaRPr lang="en-US" sz="1100" dirty="0"/>
          </a:p>
        </p:txBody>
      </p:sp>
      <p:sp>
        <p:nvSpPr>
          <p:cNvPr id="14" name="Shape 12"/>
          <p:cNvSpPr/>
          <p:nvPr/>
        </p:nvSpPr>
        <p:spPr>
          <a:xfrm>
            <a:off x="4649724" y="3145536"/>
            <a:ext cx="0" cy="310896"/>
          </a:xfrm>
          <a:prstGeom prst="line">
            <a:avLst/>
          </a:prstGeom>
          <a:noFill/>
          <a:ln w="25400">
            <a:solidFill>
              <a:srgbClr val="99A0B4"/>
            </a:solidFill>
            <a:prstDash val="solid"/>
            <a:tailEnd type="triangle"/>
          </a:ln>
        </p:spPr>
      </p:sp>
      <p:sp>
        <p:nvSpPr>
          <p:cNvPr id="15" name="Shape 13"/>
          <p:cNvSpPr/>
          <p:nvPr/>
        </p:nvSpPr>
        <p:spPr>
          <a:xfrm>
            <a:off x="6126480" y="1773936"/>
            <a:ext cx="2606040" cy="1371600"/>
          </a:xfrm>
          <a:prstGeom prst="roundRect">
            <a:avLst>
              <a:gd name="adj" fmla="val 6667"/>
            </a:avLst>
          </a:prstGeom>
          <a:solidFill>
            <a:srgbClr val="FFFFFF"/>
          </a:solidFill>
          <a:ln/>
          <a:effectLst>
            <a:outerShdw sx="100000" sy="100000" kx="0" ky="0" algn="bl" rotWithShape="0" blurRad="114300" dist="25400" dir="5400000">
              <a:srgbClr val="9AA2B8">
                <a:alpha val="20000"/>
              </a:srgbClr>
            </a:outerShdw>
          </a:effectLst>
        </p:spPr>
      </p:sp>
      <p:sp>
        <p:nvSpPr>
          <p:cNvPr id="16" name="Shape 14"/>
          <p:cNvSpPr/>
          <p:nvPr/>
        </p:nvSpPr>
        <p:spPr>
          <a:xfrm>
            <a:off x="6126480" y="1773936"/>
            <a:ext cx="2606040" cy="475488"/>
          </a:xfrm>
          <a:prstGeom prst="roundRect">
            <a:avLst>
              <a:gd name="adj" fmla="val 15385"/>
            </a:avLst>
          </a:prstGeom>
          <a:solidFill>
            <a:srgbClr val="FAE8E3"/>
          </a:solidFill>
          <a:ln/>
        </p:spPr>
      </p:sp>
      <p:sp>
        <p:nvSpPr>
          <p:cNvPr id="17" name="Text 15"/>
          <p:cNvSpPr/>
          <p:nvPr/>
        </p:nvSpPr>
        <p:spPr>
          <a:xfrm>
            <a:off x="6236208" y="1773936"/>
            <a:ext cx="2386584" cy="475488"/>
          </a:xfrm>
          <a:prstGeom prst="rect">
            <a:avLst/>
          </a:prstGeom>
          <a:noFill/>
          <a:ln/>
        </p:spPr>
        <p:txBody>
          <a:bodyPr wrap="square" lIns="0" tIns="0" rIns="0" bIns="0" rtlCol="0" anchor="ctr"/>
          <a:lstStyle/>
          <a:p>
            <a:pPr algn="ctr" indent="0" marL="0">
              <a:buNone/>
            </a:pPr>
            <a:r>
              <a:rPr lang="en-US" sz="1200" b="1" dirty="0">
                <a:solidFill>
                  <a:srgbClr val="B15C45"/>
                </a:solidFill>
                <a:latin typeface="Malgun Gothic" pitchFamily="34" charset="0"/>
                <a:ea typeface="Malgun Gothic" pitchFamily="34" charset="-122"/>
                <a:cs typeface="Malgun Gothic" pitchFamily="34" charset="-120"/>
              </a:rPr>
              <a:t>학생 주도성</a:t>
            </a:r>
            <a:endParaRPr lang="en-US" sz="1200" dirty="0"/>
          </a:p>
        </p:txBody>
      </p:sp>
      <p:sp>
        <p:nvSpPr>
          <p:cNvPr id="18" name="Text 16"/>
          <p:cNvSpPr/>
          <p:nvPr/>
        </p:nvSpPr>
        <p:spPr>
          <a:xfrm>
            <a:off x="6272784" y="2340864"/>
            <a:ext cx="2313432" cy="749808"/>
          </a:xfrm>
          <a:prstGeom prst="rect">
            <a:avLst/>
          </a:prstGeom>
          <a:noFill/>
          <a:ln/>
        </p:spPr>
        <p:txBody>
          <a:bodyPr wrap="square" lIns="0" tIns="0" rIns="0" bIns="0" rtlCol="0" anchor="t"/>
          <a:lstStyle/>
          <a:p>
            <a:pPr algn="ctr" indent="0" marL="0">
              <a:lnSpc>
                <a:spcPct val="106000"/>
              </a:lnSpc>
              <a:buNone/>
            </a:pPr>
            <a:r>
              <a:rPr lang="en-US" sz="1100" dirty="0">
                <a:solidFill>
                  <a:srgbClr val="343A4D"/>
                </a:solidFill>
                <a:latin typeface="Malgun Gothic" pitchFamily="34" charset="0"/>
                <a:ea typeface="Malgun Gothic" pitchFamily="34" charset="-122"/>
                <a:cs typeface="Malgun Gothic" pitchFamily="34" charset="-120"/>
              </a:rPr>
              <a:t>스스로 계획·탐구·성찰하는 주체로 성장한다</a:t>
            </a:r>
            <a:endParaRPr lang="en-US" sz="1100" dirty="0"/>
          </a:p>
        </p:txBody>
      </p:sp>
      <p:sp>
        <p:nvSpPr>
          <p:cNvPr id="19" name="Shape 17"/>
          <p:cNvSpPr/>
          <p:nvPr/>
        </p:nvSpPr>
        <p:spPr>
          <a:xfrm>
            <a:off x="7429500" y="3145536"/>
            <a:ext cx="0" cy="310896"/>
          </a:xfrm>
          <a:prstGeom prst="line">
            <a:avLst/>
          </a:prstGeom>
          <a:noFill/>
          <a:ln w="25400">
            <a:solidFill>
              <a:srgbClr val="99A0B4"/>
            </a:solidFill>
            <a:prstDash val="solid"/>
            <a:tailEnd type="triangle"/>
          </a:ln>
        </p:spPr>
      </p:sp>
      <p:sp>
        <p:nvSpPr>
          <p:cNvPr id="20" name="Shape 18"/>
          <p:cNvSpPr/>
          <p:nvPr/>
        </p:nvSpPr>
        <p:spPr>
          <a:xfrm>
            <a:off x="8906256" y="1773936"/>
            <a:ext cx="2606040" cy="1371600"/>
          </a:xfrm>
          <a:prstGeom prst="roundRect">
            <a:avLst>
              <a:gd name="adj" fmla="val 6667"/>
            </a:avLst>
          </a:prstGeom>
          <a:solidFill>
            <a:srgbClr val="FFFFFF"/>
          </a:solidFill>
          <a:ln/>
          <a:effectLst>
            <a:outerShdw sx="100000" sy="100000" kx="0" ky="0" algn="bl" rotWithShape="0" blurRad="114300" dist="25400" dir="5400000">
              <a:srgbClr val="9AA2B8">
                <a:alpha val="20000"/>
              </a:srgbClr>
            </a:outerShdw>
          </a:effectLst>
        </p:spPr>
      </p:sp>
      <p:sp>
        <p:nvSpPr>
          <p:cNvPr id="21" name="Shape 19"/>
          <p:cNvSpPr/>
          <p:nvPr/>
        </p:nvSpPr>
        <p:spPr>
          <a:xfrm>
            <a:off x="8906256" y="1773936"/>
            <a:ext cx="2606040" cy="475488"/>
          </a:xfrm>
          <a:prstGeom prst="roundRect">
            <a:avLst>
              <a:gd name="adj" fmla="val 15385"/>
            </a:avLst>
          </a:prstGeom>
          <a:solidFill>
            <a:srgbClr val="E2F0E8"/>
          </a:solidFill>
          <a:ln/>
        </p:spPr>
      </p:sp>
      <p:sp>
        <p:nvSpPr>
          <p:cNvPr id="22" name="Text 20"/>
          <p:cNvSpPr/>
          <p:nvPr/>
        </p:nvSpPr>
        <p:spPr>
          <a:xfrm>
            <a:off x="9015984" y="1773936"/>
            <a:ext cx="2386584" cy="475488"/>
          </a:xfrm>
          <a:prstGeom prst="rect">
            <a:avLst/>
          </a:prstGeom>
          <a:noFill/>
          <a:ln/>
        </p:spPr>
        <p:txBody>
          <a:bodyPr wrap="square" lIns="0" tIns="0" rIns="0" bIns="0" rtlCol="0" anchor="ctr"/>
          <a:lstStyle/>
          <a:p>
            <a:pPr algn="ctr" indent="0" marL="0">
              <a:buNone/>
            </a:pPr>
            <a:r>
              <a:rPr lang="en-US" sz="1200" b="1" dirty="0">
                <a:solidFill>
                  <a:srgbClr val="3B7A5A"/>
                </a:solidFill>
                <a:latin typeface="Malgun Gothic" pitchFamily="34" charset="0"/>
                <a:ea typeface="Malgun Gothic" pitchFamily="34" charset="-122"/>
                <a:cs typeface="Malgun Gothic" pitchFamily="34" charset="-120"/>
              </a:rPr>
              <a:t>평가로 학습의 질 개선</a:t>
            </a:r>
            <a:endParaRPr lang="en-US" sz="1200" dirty="0"/>
          </a:p>
        </p:txBody>
      </p:sp>
      <p:sp>
        <p:nvSpPr>
          <p:cNvPr id="23" name="Text 21"/>
          <p:cNvSpPr/>
          <p:nvPr/>
        </p:nvSpPr>
        <p:spPr>
          <a:xfrm>
            <a:off x="9052560" y="2340864"/>
            <a:ext cx="2313432" cy="749808"/>
          </a:xfrm>
          <a:prstGeom prst="rect">
            <a:avLst/>
          </a:prstGeom>
          <a:noFill/>
          <a:ln/>
        </p:spPr>
        <p:txBody>
          <a:bodyPr wrap="square" lIns="0" tIns="0" rIns="0" bIns="0" rtlCol="0" anchor="t"/>
          <a:lstStyle/>
          <a:p>
            <a:pPr algn="ctr" indent="0" marL="0">
              <a:lnSpc>
                <a:spcPct val="106000"/>
              </a:lnSpc>
              <a:buNone/>
            </a:pPr>
            <a:r>
              <a:rPr lang="en-US" sz="1100" dirty="0">
                <a:solidFill>
                  <a:srgbClr val="343A4D"/>
                </a:solidFill>
                <a:latin typeface="Malgun Gothic" pitchFamily="34" charset="0"/>
                <a:ea typeface="Malgun Gothic" pitchFamily="34" charset="-122"/>
                <a:cs typeface="Malgun Gothic" pitchFamily="34" charset="-120"/>
              </a:rPr>
              <a:t>평가 결과로 수업의 질을 높인다</a:t>
            </a:r>
            <a:endParaRPr lang="en-US" sz="1100" dirty="0"/>
          </a:p>
        </p:txBody>
      </p:sp>
      <p:sp>
        <p:nvSpPr>
          <p:cNvPr id="24" name="Shape 22"/>
          <p:cNvSpPr/>
          <p:nvPr/>
        </p:nvSpPr>
        <p:spPr>
          <a:xfrm>
            <a:off x="10209276" y="3145536"/>
            <a:ext cx="0" cy="310896"/>
          </a:xfrm>
          <a:prstGeom prst="line">
            <a:avLst/>
          </a:prstGeom>
          <a:noFill/>
          <a:ln w="25400">
            <a:solidFill>
              <a:srgbClr val="99A0B4"/>
            </a:solidFill>
            <a:prstDash val="solid"/>
            <a:tailEnd type="triangle"/>
          </a:ln>
        </p:spPr>
      </p:sp>
      <p:sp>
        <p:nvSpPr>
          <p:cNvPr id="25" name="Shape 23"/>
          <p:cNvSpPr/>
          <p:nvPr/>
        </p:nvSpPr>
        <p:spPr>
          <a:xfrm>
            <a:off x="566928" y="3529584"/>
            <a:ext cx="11064240" cy="786384"/>
          </a:xfrm>
          <a:prstGeom prst="roundRect">
            <a:avLst>
              <a:gd name="adj" fmla="val 11628"/>
            </a:avLst>
          </a:prstGeom>
          <a:solidFill>
            <a:srgbClr val="1E3560"/>
          </a:solidFill>
          <a:ln/>
          <a:effectLst>
            <a:outerShdw sx="100000" sy="100000" kx="0" ky="0" algn="bl" rotWithShape="0" blurRad="114300" dist="25400" dir="5400000">
              <a:srgbClr val="9AA2B8">
                <a:alpha val="20000"/>
              </a:srgbClr>
            </a:outerShdw>
          </a:effectLst>
        </p:spPr>
      </p:sp>
      <p:sp>
        <p:nvSpPr>
          <p:cNvPr id="26" name="Text 24"/>
          <p:cNvSpPr/>
          <p:nvPr/>
        </p:nvSpPr>
        <p:spPr>
          <a:xfrm>
            <a:off x="566928" y="3529584"/>
            <a:ext cx="11064240" cy="786384"/>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환류  </a:t>
            </a:r>
            <a:pPr algn="ctr" indent="0" marL="0">
              <a:buNone/>
            </a:pPr>
            <a:r>
              <a:rPr lang="en-US" sz="1300" dirty="0">
                <a:solidFill>
                  <a:srgbClr val="DCE3F2"/>
                </a:solidFill>
                <a:latin typeface="Malgun Gothic" pitchFamily="34" charset="0"/>
                <a:ea typeface="Malgun Gothic" pitchFamily="34" charset="-122"/>
                <a:cs typeface="Malgun Gothic" pitchFamily="34" charset="-120"/>
              </a:rPr>
              <a:t>평가 결과를 다시 수업으로 되돌린다</a:t>
            </a:r>
            <a:endParaRPr lang="en-US" sz="1500" dirty="0"/>
          </a:p>
        </p:txBody>
      </p:sp>
      <p:sp>
        <p:nvSpPr>
          <p:cNvPr id="27" name="Shape 25"/>
          <p:cNvSpPr/>
          <p:nvPr/>
        </p:nvSpPr>
        <p:spPr>
          <a:xfrm>
            <a:off x="6095848" y="4334256"/>
            <a:ext cx="0" cy="292608"/>
          </a:xfrm>
          <a:prstGeom prst="line">
            <a:avLst/>
          </a:prstGeom>
          <a:noFill/>
          <a:ln w="25400">
            <a:solidFill>
              <a:srgbClr val="99A0B4"/>
            </a:solidFill>
            <a:prstDash val="solid"/>
            <a:tailEnd type="triangle"/>
          </a:ln>
        </p:spPr>
      </p:sp>
      <p:sp>
        <p:nvSpPr>
          <p:cNvPr id="28" name="Shape 26"/>
          <p:cNvSpPr/>
          <p:nvPr/>
        </p:nvSpPr>
        <p:spPr>
          <a:xfrm>
            <a:off x="566928" y="4681728"/>
            <a:ext cx="11064240" cy="786384"/>
          </a:xfrm>
          <a:prstGeom prst="roundRect">
            <a:avLst>
              <a:gd name="adj" fmla="val 11628"/>
            </a:avLst>
          </a:prstGeom>
          <a:solidFill>
            <a:srgbClr val="E2F0E8"/>
          </a:solidFill>
          <a:ln/>
          <a:effectLst>
            <a:outerShdw sx="100000" sy="100000" kx="0" ky="0" algn="bl" rotWithShape="0" blurRad="114300" dist="25400" dir="5400000">
              <a:srgbClr val="9AA2B8">
                <a:alpha val="20000"/>
              </a:srgbClr>
            </a:outerShdw>
          </a:effectLst>
        </p:spPr>
      </p:sp>
      <p:sp>
        <p:nvSpPr>
          <p:cNvPr id="29" name="Text 27"/>
          <p:cNvSpPr/>
          <p:nvPr/>
        </p:nvSpPr>
        <p:spPr>
          <a:xfrm>
            <a:off x="566928" y="4681728"/>
            <a:ext cx="11064240" cy="786384"/>
          </a:xfrm>
          <a:prstGeom prst="rect">
            <a:avLst/>
          </a:prstGeom>
          <a:noFill/>
          <a:ln/>
        </p:spPr>
        <p:txBody>
          <a:bodyPr wrap="square" lIns="0" tIns="0" rIns="0" bIns="0" rtlCol="0" anchor="ctr"/>
          <a:lstStyle/>
          <a:p>
            <a:pPr algn="ctr" indent="0" marL="0">
              <a:buNone/>
            </a:pPr>
            <a:r>
              <a:rPr lang="en-US" sz="1300" b="1" dirty="0">
                <a:solidFill>
                  <a:srgbClr val="3B7A5A"/>
                </a:solidFill>
                <a:latin typeface="Malgun Gothic" pitchFamily="34" charset="0"/>
                <a:ea typeface="Malgun Gothic" pitchFamily="34" charset="-122"/>
                <a:cs typeface="Malgun Gothic" pitchFamily="34" charset="-120"/>
              </a:rPr>
              <a:t>다음 수업 재설계  </a:t>
            </a:r>
            <a:pPr algn="ctr" indent="0" marL="0">
              <a:buNone/>
            </a:pPr>
            <a:r>
              <a:rPr lang="en-US" sz="1250" dirty="0">
                <a:solidFill>
                  <a:srgbClr val="343A4D"/>
                </a:solidFill>
                <a:latin typeface="Malgun Gothic" pitchFamily="34" charset="0"/>
                <a:ea typeface="Malgun Gothic" pitchFamily="34" charset="-122"/>
                <a:cs typeface="Malgun Gothic" pitchFamily="34" charset="-120"/>
              </a:rPr>
              <a:t>학습의 질 개선과 학생 주도성 실현으로 이어진다</a:t>
            </a:r>
            <a:endParaRPr lang="en-US" sz="1300" dirty="0"/>
          </a:p>
        </p:txBody>
      </p:sp>
      <p:sp>
        <p:nvSpPr>
          <p:cNvPr id="30" name="Text 28"/>
          <p:cNvSpPr/>
          <p:nvPr/>
        </p:nvSpPr>
        <p:spPr>
          <a:xfrm>
            <a:off x="566928" y="5559552"/>
            <a:ext cx="11064240" cy="310896"/>
          </a:xfrm>
          <a:prstGeom prst="rect">
            <a:avLst/>
          </a:prstGeom>
          <a:noFill/>
          <a:ln/>
        </p:spPr>
        <p:txBody>
          <a:bodyPr wrap="square" lIns="0" tIns="0" rIns="0" bIns="0" rtlCol="0" anchor="ctr"/>
          <a:lstStyle/>
          <a:p>
            <a:pPr indent="0" marL="0">
              <a:buNone/>
            </a:pPr>
            <a:r>
              <a:rPr lang="en-US" sz="1050" b="1" dirty="0">
                <a:solidFill>
                  <a:srgbClr val="3B7A5A"/>
                </a:solidFill>
                <a:latin typeface="Malgun Gothic" pitchFamily="34" charset="0"/>
                <a:ea typeface="Malgun Gothic" pitchFamily="34" charset="-122"/>
                <a:cs typeface="Malgun Gothic" pitchFamily="34" charset="-120"/>
              </a:rPr>
              <a:t>학교 장면 예  </a:t>
            </a:r>
            <a:pPr indent="0" marL="0">
              <a:buNone/>
            </a:pPr>
            <a:r>
              <a:rPr lang="en-US" sz="1050" dirty="0">
                <a:solidFill>
                  <a:srgbClr val="343A4D"/>
                </a:solidFill>
                <a:latin typeface="Malgun Gothic" pitchFamily="34" charset="0"/>
                <a:ea typeface="Malgun Gothic" pitchFamily="34" charset="-122"/>
                <a:cs typeface="Malgun Gothic" pitchFamily="34" charset="-120"/>
              </a:rPr>
              <a:t>수행평가 다음 차시의 첫 10분을 “어제 데이터에서 출발”로 여는 것이 교실의 환류다.   </a:t>
            </a:r>
            <a:pPr indent="0" marL="0">
              <a:buNone/>
            </a:pPr>
            <a:r>
              <a:rPr lang="en-US" sz="1000" i="1" dirty="0">
                <a:solidFill>
                  <a:srgbClr val="59607A"/>
                </a:solidFill>
                <a:latin typeface="Malgun Gothic" pitchFamily="34" charset="0"/>
                <a:ea typeface="Malgun Gothic" pitchFamily="34" charset="-122"/>
                <a:cs typeface="Malgun Gothic" pitchFamily="34" charset="-120"/>
              </a:rPr>
              <a:t>OECD 연결: 주도성=student agency, 성찰=Reflection.</a:t>
            </a:r>
            <a:endParaRPr lang="en-US" sz="1050" dirty="0"/>
          </a:p>
        </p:txBody>
      </p:sp>
      <p:sp>
        <p:nvSpPr>
          <p:cNvPr id="31" name="Text 29"/>
          <p:cNvSpPr/>
          <p:nvPr/>
        </p:nvSpPr>
        <p:spPr>
          <a:xfrm>
            <a:off x="566928" y="6053328"/>
            <a:ext cx="11064240" cy="310896"/>
          </a:xfrm>
          <a:prstGeom prst="rect">
            <a:avLst/>
          </a:prstGeom>
          <a:noFill/>
          <a:ln/>
        </p:spPr>
        <p:txBody>
          <a:bodyPr wrap="square" lIns="0" tIns="0" rIns="0" bIns="0" rtlCol="0" anchor="ctr"/>
          <a:lstStyle/>
          <a:p>
            <a:pPr indent="0" marL="0">
              <a:buNone/>
            </a:pPr>
            <a:r>
              <a:rPr lang="en-US" sz="900" b="1" dirty="0">
                <a:solidFill>
                  <a:srgbClr val="59607A"/>
                </a:solidFill>
                <a:latin typeface="Malgun Gothic" pitchFamily="34" charset="0"/>
                <a:ea typeface="Malgun Gothic" pitchFamily="34" charset="-122"/>
                <a:cs typeface="Malgun Gothic" pitchFamily="34" charset="-120"/>
              </a:rPr>
              <a:t>출처 · </a:t>
            </a:r>
            <a:pPr indent="0" marL="0">
              <a:buNone/>
            </a:pPr>
            <a:r>
              <a:rPr lang="en-US" sz="900" dirty="0">
                <a:solidFill>
                  <a:srgbClr val="59607A"/>
                </a:solidFill>
                <a:latin typeface="Malgun Gothic" pitchFamily="34" charset="0"/>
                <a:ea typeface="Malgun Gothic" pitchFamily="34" charset="-122"/>
                <a:cs typeface="Malgun Gothic" pitchFamily="34" charset="-120"/>
              </a:rPr>
              <a:t>교육부 고시 제2022-33호 「2022 개정 교육과정 총론」 개정의 중점(⑤ 성찰 강화, ⑥ 과정 중시 평가), 학생 주도성</a:t>
            </a:r>
            <a:endParaRPr lang="en-US" sz="900" dirty="0"/>
          </a:p>
        </p:txBody>
      </p:sp>
      <p:sp>
        <p:nvSpPr>
          <p:cNvPr id="32" name="Text 30"/>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33" name="Text 31"/>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3B7A5A"/>
                </a:solidFill>
                <a:latin typeface="Malgun Gothic" pitchFamily="34" charset="0"/>
                <a:ea typeface="Malgun Gothic" pitchFamily="34" charset="-122"/>
                <a:cs typeface="Malgun Gothic" pitchFamily="34" charset="-120"/>
              </a:rPr>
              <a:t>PART 1 · 이론 ④</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창작·실기 교과에서 환류가 특히 중요한 이유</a:t>
            </a:r>
            <a:endParaRPr lang="en-US" sz="2400" dirty="0"/>
          </a:p>
        </p:txBody>
      </p:sp>
      <p:sp>
        <p:nvSpPr>
          <p:cNvPr id="4" name="Text 2"/>
          <p:cNvSpPr/>
          <p:nvPr/>
        </p:nvSpPr>
        <p:spPr>
          <a:xfrm>
            <a:off x="566928" y="1280160"/>
            <a:ext cx="11064240" cy="402336"/>
          </a:xfrm>
          <a:prstGeom prst="rect">
            <a:avLst/>
          </a:prstGeom>
          <a:noFill/>
          <a:ln/>
        </p:spPr>
        <p:txBody>
          <a:bodyPr wrap="square" lIns="0" tIns="0" rIns="0" bIns="0" rtlCol="0" anchor="ctr"/>
          <a:lstStyle/>
          <a:p>
            <a:pPr indent="0" marL="0">
              <a:buNone/>
            </a:pPr>
            <a:r>
              <a:rPr lang="en-US" sz="1200" dirty="0">
                <a:solidFill>
                  <a:srgbClr val="59607A"/>
                </a:solidFill>
                <a:latin typeface="Malgun Gothic" pitchFamily="34" charset="0"/>
                <a:ea typeface="Malgun Gothic" pitchFamily="34" charset="-122"/>
                <a:cs typeface="Malgun Gothic" pitchFamily="34" charset="-120"/>
              </a:rPr>
              <a:t>창작은 본래 반복되는 순환이다. 그래서 과정에 대한 환류가 결과물의 질을 좌우한다.</a:t>
            </a:r>
            <a:endParaRPr lang="en-US" sz="1200" dirty="0"/>
          </a:p>
        </p:txBody>
      </p:sp>
      <p:sp>
        <p:nvSpPr>
          <p:cNvPr id="5" name="Shape 3"/>
          <p:cNvSpPr/>
          <p:nvPr/>
        </p:nvSpPr>
        <p:spPr>
          <a:xfrm>
            <a:off x="566928" y="1755648"/>
            <a:ext cx="2514600" cy="1280160"/>
          </a:xfrm>
          <a:prstGeom prst="roundRect">
            <a:avLst>
              <a:gd name="adj" fmla="val 7143"/>
            </a:avLst>
          </a:prstGeom>
          <a:solidFill>
            <a:srgbClr val="FFFFFF"/>
          </a:solidFill>
          <a:ln/>
          <a:effectLst>
            <a:outerShdw sx="100000" sy="100000" kx="0" ky="0" algn="bl" rotWithShape="0" blurRad="114300" dist="25400" dir="5400000">
              <a:srgbClr val="9AA2B8">
                <a:alpha val="20000"/>
              </a:srgbClr>
            </a:outerShdw>
          </a:effectLst>
        </p:spPr>
      </p:sp>
      <p:sp>
        <p:nvSpPr>
          <p:cNvPr id="6" name="Shape 4"/>
          <p:cNvSpPr/>
          <p:nvPr/>
        </p:nvSpPr>
        <p:spPr>
          <a:xfrm>
            <a:off x="566928" y="1755648"/>
            <a:ext cx="2514600" cy="457200"/>
          </a:xfrm>
          <a:prstGeom prst="roundRect">
            <a:avLst>
              <a:gd name="adj" fmla="val 16000"/>
            </a:avLst>
          </a:prstGeom>
          <a:solidFill>
            <a:srgbClr val="ECE8F8"/>
          </a:solidFill>
          <a:ln/>
        </p:spPr>
      </p:sp>
      <p:sp>
        <p:nvSpPr>
          <p:cNvPr id="7" name="Text 5"/>
          <p:cNvSpPr/>
          <p:nvPr/>
        </p:nvSpPr>
        <p:spPr>
          <a:xfrm>
            <a:off x="676656" y="1755648"/>
            <a:ext cx="2295144" cy="457200"/>
          </a:xfrm>
          <a:prstGeom prst="rect">
            <a:avLst/>
          </a:prstGeom>
          <a:noFill/>
          <a:ln/>
        </p:spPr>
        <p:txBody>
          <a:bodyPr wrap="square" lIns="0" tIns="0" rIns="0" bIns="0" rtlCol="0" anchor="ctr"/>
          <a:lstStyle/>
          <a:p>
            <a:pPr algn="ctr" indent="0" marL="0">
              <a:buNone/>
            </a:pPr>
            <a:r>
              <a:rPr lang="en-US" sz="1250" b="1" dirty="0">
                <a:solidFill>
                  <a:srgbClr val="5B4C9E"/>
                </a:solidFill>
                <a:latin typeface="Malgun Gothic" pitchFamily="34" charset="0"/>
                <a:ea typeface="Malgun Gothic" pitchFamily="34" charset="-122"/>
                <a:cs typeface="Malgun Gothic" pitchFamily="34" charset="-120"/>
              </a:rPr>
              <a:t>구상</a:t>
            </a:r>
            <a:endParaRPr lang="en-US" sz="1250" dirty="0"/>
          </a:p>
        </p:txBody>
      </p:sp>
      <p:sp>
        <p:nvSpPr>
          <p:cNvPr id="8" name="Text 6"/>
          <p:cNvSpPr/>
          <p:nvPr/>
        </p:nvSpPr>
        <p:spPr>
          <a:xfrm>
            <a:off x="713232" y="2286000"/>
            <a:ext cx="2221992" cy="676656"/>
          </a:xfrm>
          <a:prstGeom prst="rect">
            <a:avLst/>
          </a:prstGeom>
          <a:noFill/>
          <a:ln/>
        </p:spPr>
        <p:txBody>
          <a:bodyPr wrap="square" lIns="0" tIns="0" rIns="0" bIns="0" rtlCol="0" anchor="t"/>
          <a:lstStyle/>
          <a:p>
            <a:pPr algn="ctr" indent="0" marL="0">
              <a:lnSpc>
                <a:spcPct val="106000"/>
              </a:lnSpc>
              <a:buNone/>
            </a:pPr>
            <a:r>
              <a:rPr lang="en-US" sz="1100" dirty="0">
                <a:solidFill>
                  <a:srgbClr val="343A4D"/>
                </a:solidFill>
                <a:latin typeface="Malgun Gothic" pitchFamily="34" charset="0"/>
                <a:ea typeface="Malgun Gothic" pitchFamily="34" charset="-122"/>
                <a:cs typeface="Malgun Gothic" pitchFamily="34" charset="-120"/>
              </a:rPr>
              <a:t>아이디어와 표현 의도를 세운다</a:t>
            </a:r>
            <a:endParaRPr lang="en-US" sz="1100" dirty="0"/>
          </a:p>
        </p:txBody>
      </p:sp>
      <p:sp>
        <p:nvSpPr>
          <p:cNvPr id="9" name="Shape 7"/>
          <p:cNvSpPr/>
          <p:nvPr/>
        </p:nvSpPr>
        <p:spPr>
          <a:xfrm>
            <a:off x="3401568" y="1755648"/>
            <a:ext cx="2514600" cy="1280160"/>
          </a:xfrm>
          <a:prstGeom prst="roundRect">
            <a:avLst>
              <a:gd name="adj" fmla="val 7143"/>
            </a:avLst>
          </a:prstGeom>
          <a:solidFill>
            <a:srgbClr val="FFFFFF"/>
          </a:solidFill>
          <a:ln/>
          <a:effectLst>
            <a:outerShdw sx="100000" sy="100000" kx="0" ky="0" algn="bl" rotWithShape="0" blurRad="114300" dist="25400" dir="5400000">
              <a:srgbClr val="9AA2B8">
                <a:alpha val="20000"/>
              </a:srgbClr>
            </a:outerShdw>
          </a:effectLst>
        </p:spPr>
      </p:sp>
      <p:sp>
        <p:nvSpPr>
          <p:cNvPr id="10" name="Shape 8"/>
          <p:cNvSpPr/>
          <p:nvPr/>
        </p:nvSpPr>
        <p:spPr>
          <a:xfrm>
            <a:off x="3401568" y="1755648"/>
            <a:ext cx="2514600" cy="457200"/>
          </a:xfrm>
          <a:prstGeom prst="roundRect">
            <a:avLst>
              <a:gd name="adj" fmla="val 16000"/>
            </a:avLst>
          </a:prstGeom>
          <a:solidFill>
            <a:srgbClr val="FAE8E3"/>
          </a:solidFill>
          <a:ln/>
        </p:spPr>
      </p:sp>
      <p:sp>
        <p:nvSpPr>
          <p:cNvPr id="11" name="Text 9"/>
          <p:cNvSpPr/>
          <p:nvPr/>
        </p:nvSpPr>
        <p:spPr>
          <a:xfrm>
            <a:off x="3511296" y="1755648"/>
            <a:ext cx="2295144" cy="457200"/>
          </a:xfrm>
          <a:prstGeom prst="rect">
            <a:avLst/>
          </a:prstGeom>
          <a:noFill/>
          <a:ln/>
        </p:spPr>
        <p:txBody>
          <a:bodyPr wrap="square" lIns="0" tIns="0" rIns="0" bIns="0" rtlCol="0" anchor="ctr"/>
          <a:lstStyle/>
          <a:p>
            <a:pPr algn="ctr" indent="0" marL="0">
              <a:buNone/>
            </a:pPr>
            <a:r>
              <a:rPr lang="en-US" sz="1250" b="1" dirty="0">
                <a:solidFill>
                  <a:srgbClr val="B15C45"/>
                </a:solidFill>
                <a:latin typeface="Malgun Gothic" pitchFamily="34" charset="0"/>
                <a:ea typeface="Malgun Gothic" pitchFamily="34" charset="-122"/>
                <a:cs typeface="Malgun Gothic" pitchFamily="34" charset="-120"/>
              </a:rPr>
              <a:t>표현 · 생성</a:t>
            </a:r>
            <a:endParaRPr lang="en-US" sz="1250" dirty="0"/>
          </a:p>
        </p:txBody>
      </p:sp>
      <p:sp>
        <p:nvSpPr>
          <p:cNvPr id="12" name="Text 10"/>
          <p:cNvSpPr/>
          <p:nvPr/>
        </p:nvSpPr>
        <p:spPr>
          <a:xfrm>
            <a:off x="3547872" y="2286000"/>
            <a:ext cx="2221992" cy="676656"/>
          </a:xfrm>
          <a:prstGeom prst="rect">
            <a:avLst/>
          </a:prstGeom>
          <a:noFill/>
          <a:ln/>
        </p:spPr>
        <p:txBody>
          <a:bodyPr wrap="square" lIns="0" tIns="0" rIns="0" bIns="0" rtlCol="0" anchor="t"/>
          <a:lstStyle/>
          <a:p>
            <a:pPr algn="ctr" indent="0" marL="0">
              <a:lnSpc>
                <a:spcPct val="106000"/>
              </a:lnSpc>
              <a:buNone/>
            </a:pPr>
            <a:r>
              <a:rPr lang="en-US" sz="1100" dirty="0">
                <a:solidFill>
                  <a:srgbClr val="343A4D"/>
                </a:solidFill>
                <a:latin typeface="Malgun Gothic" pitchFamily="34" charset="0"/>
                <a:ea typeface="Malgun Gothic" pitchFamily="34" charset="-122"/>
                <a:cs typeface="Malgun Gothic" pitchFamily="34" charset="-120"/>
              </a:rPr>
              <a:t>손 또는 AI로 시안을 만든다</a:t>
            </a:r>
            <a:endParaRPr lang="en-US" sz="1100" dirty="0"/>
          </a:p>
        </p:txBody>
      </p:sp>
      <p:sp>
        <p:nvSpPr>
          <p:cNvPr id="13" name="Shape 11"/>
          <p:cNvSpPr/>
          <p:nvPr/>
        </p:nvSpPr>
        <p:spPr>
          <a:xfrm>
            <a:off x="6236208" y="1755648"/>
            <a:ext cx="2514600" cy="1280160"/>
          </a:xfrm>
          <a:prstGeom prst="roundRect">
            <a:avLst>
              <a:gd name="adj" fmla="val 7143"/>
            </a:avLst>
          </a:prstGeom>
          <a:solidFill>
            <a:srgbClr val="FFFFFF"/>
          </a:solidFill>
          <a:ln/>
          <a:effectLst>
            <a:outerShdw sx="100000" sy="100000" kx="0" ky="0" algn="bl" rotWithShape="0" blurRad="114300" dist="25400" dir="5400000">
              <a:srgbClr val="9AA2B8">
                <a:alpha val="20000"/>
              </a:srgbClr>
            </a:outerShdw>
          </a:effectLst>
        </p:spPr>
      </p:sp>
      <p:sp>
        <p:nvSpPr>
          <p:cNvPr id="14" name="Shape 12"/>
          <p:cNvSpPr/>
          <p:nvPr/>
        </p:nvSpPr>
        <p:spPr>
          <a:xfrm>
            <a:off x="6236208" y="1755648"/>
            <a:ext cx="2514600" cy="457200"/>
          </a:xfrm>
          <a:prstGeom prst="roundRect">
            <a:avLst>
              <a:gd name="adj" fmla="val 16000"/>
            </a:avLst>
          </a:prstGeom>
          <a:solidFill>
            <a:srgbClr val="E2F0E8"/>
          </a:solidFill>
          <a:ln/>
        </p:spPr>
      </p:sp>
      <p:sp>
        <p:nvSpPr>
          <p:cNvPr id="15" name="Text 13"/>
          <p:cNvSpPr/>
          <p:nvPr/>
        </p:nvSpPr>
        <p:spPr>
          <a:xfrm>
            <a:off x="6345936" y="1755648"/>
            <a:ext cx="2295144" cy="457200"/>
          </a:xfrm>
          <a:prstGeom prst="rect">
            <a:avLst/>
          </a:prstGeom>
          <a:noFill/>
          <a:ln/>
        </p:spPr>
        <p:txBody>
          <a:bodyPr wrap="square" lIns="0" tIns="0" rIns="0" bIns="0" rtlCol="0" anchor="ctr"/>
          <a:lstStyle/>
          <a:p>
            <a:pPr algn="ctr" indent="0" marL="0">
              <a:buNone/>
            </a:pPr>
            <a:r>
              <a:rPr lang="en-US" sz="1250" b="1" dirty="0">
                <a:solidFill>
                  <a:srgbClr val="3B7A5A"/>
                </a:solidFill>
                <a:latin typeface="Malgun Gothic" pitchFamily="34" charset="0"/>
                <a:ea typeface="Malgun Gothic" pitchFamily="34" charset="-122"/>
                <a:cs typeface="Malgun Gothic" pitchFamily="34" charset="-120"/>
              </a:rPr>
              <a:t>비평 (크리틱)</a:t>
            </a:r>
            <a:endParaRPr lang="en-US" sz="1250" dirty="0"/>
          </a:p>
        </p:txBody>
      </p:sp>
      <p:sp>
        <p:nvSpPr>
          <p:cNvPr id="16" name="Text 14"/>
          <p:cNvSpPr/>
          <p:nvPr/>
        </p:nvSpPr>
        <p:spPr>
          <a:xfrm>
            <a:off x="6382512" y="2286000"/>
            <a:ext cx="2221992" cy="676656"/>
          </a:xfrm>
          <a:prstGeom prst="rect">
            <a:avLst/>
          </a:prstGeom>
          <a:noFill/>
          <a:ln/>
        </p:spPr>
        <p:txBody>
          <a:bodyPr wrap="square" lIns="0" tIns="0" rIns="0" bIns="0" rtlCol="0" anchor="t"/>
          <a:lstStyle/>
          <a:p>
            <a:pPr algn="ctr" indent="0" marL="0">
              <a:lnSpc>
                <a:spcPct val="106000"/>
              </a:lnSpc>
              <a:buNone/>
            </a:pPr>
            <a:r>
              <a:rPr lang="en-US" sz="1100" dirty="0">
                <a:solidFill>
                  <a:srgbClr val="343A4D"/>
                </a:solidFill>
                <a:latin typeface="Malgun Gothic" pitchFamily="34" charset="0"/>
                <a:ea typeface="Malgun Gothic" pitchFamily="34" charset="-122"/>
                <a:cs typeface="Malgun Gothic" pitchFamily="34" charset="-120"/>
              </a:rPr>
              <a:t>기준에 견주어 피드백을 주고받는다</a:t>
            </a:r>
            <a:endParaRPr lang="en-US" sz="1100" dirty="0"/>
          </a:p>
        </p:txBody>
      </p:sp>
      <p:sp>
        <p:nvSpPr>
          <p:cNvPr id="17" name="Shape 15"/>
          <p:cNvSpPr/>
          <p:nvPr/>
        </p:nvSpPr>
        <p:spPr>
          <a:xfrm>
            <a:off x="9070848" y="1755648"/>
            <a:ext cx="2514600" cy="1280160"/>
          </a:xfrm>
          <a:prstGeom prst="roundRect">
            <a:avLst>
              <a:gd name="adj" fmla="val 7143"/>
            </a:avLst>
          </a:prstGeom>
          <a:solidFill>
            <a:srgbClr val="FFFFFF"/>
          </a:solidFill>
          <a:ln/>
          <a:effectLst>
            <a:outerShdw sx="100000" sy="100000" kx="0" ky="0" algn="bl" rotWithShape="0" blurRad="114300" dist="25400" dir="5400000">
              <a:srgbClr val="9AA2B8">
                <a:alpha val="20000"/>
              </a:srgbClr>
            </a:outerShdw>
          </a:effectLst>
        </p:spPr>
      </p:sp>
      <p:sp>
        <p:nvSpPr>
          <p:cNvPr id="18" name="Shape 16"/>
          <p:cNvSpPr/>
          <p:nvPr/>
        </p:nvSpPr>
        <p:spPr>
          <a:xfrm>
            <a:off x="9070848" y="1755648"/>
            <a:ext cx="2514600" cy="457200"/>
          </a:xfrm>
          <a:prstGeom prst="roundRect">
            <a:avLst>
              <a:gd name="adj" fmla="val 16000"/>
            </a:avLst>
          </a:prstGeom>
          <a:solidFill>
            <a:srgbClr val="EAEEF8"/>
          </a:solidFill>
          <a:ln/>
        </p:spPr>
      </p:sp>
      <p:sp>
        <p:nvSpPr>
          <p:cNvPr id="19" name="Text 17"/>
          <p:cNvSpPr/>
          <p:nvPr/>
        </p:nvSpPr>
        <p:spPr>
          <a:xfrm>
            <a:off x="9180576" y="1755648"/>
            <a:ext cx="2295144" cy="457200"/>
          </a:xfrm>
          <a:prstGeom prst="rect">
            <a:avLst/>
          </a:prstGeom>
          <a:noFill/>
          <a:ln/>
        </p:spPr>
        <p:txBody>
          <a:bodyPr wrap="square" lIns="0" tIns="0" rIns="0" bIns="0" rtlCol="0" anchor="ctr"/>
          <a:lstStyle/>
          <a:p>
            <a:pPr algn="ctr" indent="0" marL="0">
              <a:buNone/>
            </a:pPr>
            <a:r>
              <a:rPr lang="en-US" sz="1250" b="1" dirty="0">
                <a:solidFill>
                  <a:srgbClr val="2E4A85"/>
                </a:solidFill>
                <a:latin typeface="Malgun Gothic" pitchFamily="34" charset="0"/>
                <a:ea typeface="Malgun Gothic" pitchFamily="34" charset="-122"/>
                <a:cs typeface="Malgun Gothic" pitchFamily="34" charset="-120"/>
              </a:rPr>
              <a:t>수정</a:t>
            </a:r>
            <a:endParaRPr lang="en-US" sz="1250" dirty="0"/>
          </a:p>
        </p:txBody>
      </p:sp>
      <p:sp>
        <p:nvSpPr>
          <p:cNvPr id="20" name="Text 18"/>
          <p:cNvSpPr/>
          <p:nvPr/>
        </p:nvSpPr>
        <p:spPr>
          <a:xfrm>
            <a:off x="9217152" y="2286000"/>
            <a:ext cx="2221992" cy="676656"/>
          </a:xfrm>
          <a:prstGeom prst="rect">
            <a:avLst/>
          </a:prstGeom>
          <a:noFill/>
          <a:ln/>
        </p:spPr>
        <p:txBody>
          <a:bodyPr wrap="square" lIns="0" tIns="0" rIns="0" bIns="0" rtlCol="0" anchor="t"/>
          <a:lstStyle/>
          <a:p>
            <a:pPr algn="ctr" indent="0" marL="0">
              <a:lnSpc>
                <a:spcPct val="106000"/>
              </a:lnSpc>
              <a:buNone/>
            </a:pPr>
            <a:r>
              <a:rPr lang="en-US" sz="1100" dirty="0">
                <a:solidFill>
                  <a:srgbClr val="343A4D"/>
                </a:solidFill>
                <a:latin typeface="Malgun Gothic" pitchFamily="34" charset="0"/>
                <a:ea typeface="Malgun Gothic" pitchFamily="34" charset="-122"/>
                <a:cs typeface="Malgun Gothic" pitchFamily="34" charset="-120"/>
              </a:rPr>
              <a:t>판단해 고르고 다시 고친다</a:t>
            </a:r>
            <a:endParaRPr lang="en-US" sz="1100" dirty="0"/>
          </a:p>
        </p:txBody>
      </p:sp>
      <p:sp>
        <p:nvSpPr>
          <p:cNvPr id="21" name="Shape 19"/>
          <p:cNvSpPr/>
          <p:nvPr/>
        </p:nvSpPr>
        <p:spPr>
          <a:xfrm>
            <a:off x="3081528" y="2395728"/>
            <a:ext cx="274320" cy="0"/>
          </a:xfrm>
          <a:prstGeom prst="line">
            <a:avLst/>
          </a:prstGeom>
          <a:noFill/>
          <a:ln w="25400">
            <a:solidFill>
              <a:srgbClr val="8E7BD6"/>
            </a:solidFill>
            <a:prstDash val="solid"/>
            <a:tailEnd type="triangle"/>
          </a:ln>
        </p:spPr>
      </p:sp>
      <p:sp>
        <p:nvSpPr>
          <p:cNvPr id="22" name="Shape 20"/>
          <p:cNvSpPr/>
          <p:nvPr/>
        </p:nvSpPr>
        <p:spPr>
          <a:xfrm>
            <a:off x="5916168" y="2395728"/>
            <a:ext cx="274320" cy="0"/>
          </a:xfrm>
          <a:prstGeom prst="line">
            <a:avLst/>
          </a:prstGeom>
          <a:noFill/>
          <a:ln w="25400">
            <a:solidFill>
              <a:srgbClr val="D98C74"/>
            </a:solidFill>
            <a:prstDash val="solid"/>
            <a:tailEnd type="triangle"/>
          </a:ln>
        </p:spPr>
      </p:sp>
      <p:sp>
        <p:nvSpPr>
          <p:cNvPr id="23" name="Shape 21"/>
          <p:cNvSpPr/>
          <p:nvPr/>
        </p:nvSpPr>
        <p:spPr>
          <a:xfrm>
            <a:off x="8750808" y="2395728"/>
            <a:ext cx="274320" cy="0"/>
          </a:xfrm>
          <a:prstGeom prst="line">
            <a:avLst/>
          </a:prstGeom>
          <a:noFill/>
          <a:ln w="25400">
            <a:solidFill>
              <a:srgbClr val="79B296"/>
            </a:solidFill>
            <a:prstDash val="solid"/>
            <a:tailEnd type="triangle"/>
          </a:ln>
        </p:spPr>
      </p:sp>
      <p:sp>
        <p:nvSpPr>
          <p:cNvPr id="24" name="Shape 22"/>
          <p:cNvSpPr/>
          <p:nvPr/>
        </p:nvSpPr>
        <p:spPr>
          <a:xfrm>
            <a:off x="10328148" y="3035808"/>
            <a:ext cx="0" cy="274320"/>
          </a:xfrm>
          <a:prstGeom prst="line">
            <a:avLst/>
          </a:prstGeom>
          <a:noFill/>
          <a:ln w="25400">
            <a:solidFill>
              <a:srgbClr val="6E86C4"/>
            </a:solidFill>
            <a:prstDash val="solid"/>
          </a:ln>
        </p:spPr>
      </p:sp>
      <p:sp>
        <p:nvSpPr>
          <p:cNvPr id="25" name="Shape 23"/>
          <p:cNvSpPr/>
          <p:nvPr/>
        </p:nvSpPr>
        <p:spPr>
          <a:xfrm flipH="1">
            <a:off x="4658868" y="3310128"/>
            <a:ext cx="5669280" cy="0"/>
          </a:xfrm>
          <a:prstGeom prst="line">
            <a:avLst/>
          </a:prstGeom>
          <a:noFill/>
          <a:ln w="25400">
            <a:solidFill>
              <a:srgbClr val="6E86C4"/>
            </a:solidFill>
            <a:prstDash val="solid"/>
            <a:tailEnd type="triangle"/>
          </a:ln>
        </p:spPr>
      </p:sp>
      <p:sp>
        <p:nvSpPr>
          <p:cNvPr id="26" name="Shape 24"/>
          <p:cNvSpPr/>
          <p:nvPr/>
        </p:nvSpPr>
        <p:spPr>
          <a:xfrm>
            <a:off x="4658868" y="3035808"/>
            <a:ext cx="0" cy="274320"/>
          </a:xfrm>
          <a:prstGeom prst="line">
            <a:avLst/>
          </a:prstGeom>
          <a:noFill/>
          <a:ln w="25400">
            <a:solidFill>
              <a:srgbClr val="6E86C4"/>
            </a:solidFill>
            <a:prstDash val="solid"/>
          </a:ln>
        </p:spPr>
      </p:sp>
      <p:sp>
        <p:nvSpPr>
          <p:cNvPr id="27" name="Text 25"/>
          <p:cNvSpPr/>
          <p:nvPr/>
        </p:nvSpPr>
        <p:spPr>
          <a:xfrm>
            <a:off x="4658868" y="3346704"/>
            <a:ext cx="5669280" cy="256032"/>
          </a:xfrm>
          <a:prstGeom prst="rect">
            <a:avLst/>
          </a:prstGeom>
          <a:noFill/>
          <a:ln/>
        </p:spPr>
        <p:txBody>
          <a:bodyPr wrap="square" lIns="0" tIns="0" rIns="0" bIns="0" rtlCol="0" anchor="ctr"/>
          <a:lstStyle/>
          <a:p>
            <a:pPr algn="ctr" indent="0" marL="0">
              <a:buNone/>
            </a:pPr>
            <a:r>
              <a:rPr lang="en-US" sz="1000" i="1" dirty="0">
                <a:solidFill>
                  <a:srgbClr val="59607A"/>
                </a:solidFill>
                <a:latin typeface="Malgun Gothic" pitchFamily="34" charset="0"/>
                <a:ea typeface="Malgun Gothic" pitchFamily="34" charset="-122"/>
                <a:cs typeface="Malgun Gothic" pitchFamily="34" charset="-120"/>
              </a:rPr>
              <a:t>반복 · 표현과 비평, 수정을 순환한다</a:t>
            </a:r>
            <a:endParaRPr lang="en-US" sz="1000" dirty="0"/>
          </a:p>
        </p:txBody>
      </p:sp>
      <p:sp>
        <p:nvSpPr>
          <p:cNvPr id="28" name="Shape 26"/>
          <p:cNvSpPr/>
          <p:nvPr/>
        </p:nvSpPr>
        <p:spPr>
          <a:xfrm>
            <a:off x="566928" y="3895344"/>
            <a:ext cx="3566160" cy="1828800"/>
          </a:xfrm>
          <a:prstGeom prst="roundRect">
            <a:avLst>
              <a:gd name="adj" fmla="val 5000"/>
            </a:avLst>
          </a:prstGeom>
          <a:solidFill>
            <a:srgbClr val="FFFFFF"/>
          </a:solidFill>
          <a:ln/>
          <a:effectLst>
            <a:outerShdw sx="100000" sy="100000" kx="0" ky="0" algn="bl" rotWithShape="0" blurRad="114300" dist="25400" dir="5400000">
              <a:srgbClr val="9AA2B8">
                <a:alpha val="20000"/>
              </a:srgbClr>
            </a:outerShdw>
          </a:effectLst>
        </p:spPr>
      </p:sp>
      <p:sp>
        <p:nvSpPr>
          <p:cNvPr id="29" name="Shape 27"/>
          <p:cNvSpPr/>
          <p:nvPr/>
        </p:nvSpPr>
        <p:spPr>
          <a:xfrm>
            <a:off x="566928" y="3895344"/>
            <a:ext cx="3566160" cy="512064"/>
          </a:xfrm>
          <a:prstGeom prst="roundRect">
            <a:avLst>
              <a:gd name="adj" fmla="val 14286"/>
            </a:avLst>
          </a:prstGeom>
          <a:solidFill>
            <a:srgbClr val="ECE8F8"/>
          </a:solidFill>
          <a:ln/>
        </p:spPr>
      </p:sp>
      <p:sp>
        <p:nvSpPr>
          <p:cNvPr id="30" name="Shape 28"/>
          <p:cNvSpPr/>
          <p:nvPr/>
        </p:nvSpPr>
        <p:spPr>
          <a:xfrm>
            <a:off x="694944" y="3968496"/>
            <a:ext cx="365760" cy="365760"/>
          </a:xfrm>
          <a:prstGeom prst="ellipse">
            <a:avLst/>
          </a:prstGeom>
          <a:solidFill>
            <a:srgbClr val="FFFFFF"/>
          </a:solidFill>
          <a:ln/>
        </p:spPr>
      </p:sp>
      <p:pic>
        <p:nvPicPr>
          <p:cNvPr id="31" name="Image 0" descr="/tmp/build/icons/bulb.png">    </p:cNvPr>
          <p:cNvPicPr>
            <a:picLocks noChangeAspect="1"/>
          </p:cNvPicPr>
          <p:nvPr/>
        </p:nvPicPr>
        <p:blipFill>
          <a:blip r:embed="rId1"/>
          <a:stretch>
            <a:fillRect/>
          </a:stretch>
        </p:blipFill>
        <p:spPr>
          <a:xfrm>
            <a:off x="782726" y="4056278"/>
            <a:ext cx="190195" cy="190195"/>
          </a:xfrm>
          <a:prstGeom prst="rect">
            <a:avLst/>
          </a:prstGeom>
        </p:spPr>
      </p:pic>
      <p:sp>
        <p:nvSpPr>
          <p:cNvPr id="32" name="Text 29"/>
          <p:cNvSpPr/>
          <p:nvPr/>
        </p:nvSpPr>
        <p:spPr>
          <a:xfrm>
            <a:off x="1152144" y="3895344"/>
            <a:ext cx="2834640" cy="512064"/>
          </a:xfrm>
          <a:prstGeom prst="rect">
            <a:avLst/>
          </a:prstGeom>
          <a:noFill/>
          <a:ln/>
        </p:spPr>
        <p:txBody>
          <a:bodyPr wrap="square" lIns="0" tIns="0" rIns="0" bIns="0" rtlCol="0" anchor="ctr"/>
          <a:lstStyle/>
          <a:p>
            <a:pPr indent="0" marL="0">
              <a:buNone/>
            </a:pPr>
            <a:r>
              <a:rPr lang="en-US" sz="1300" b="1" dirty="0">
                <a:solidFill>
                  <a:srgbClr val="5B4C9E"/>
                </a:solidFill>
                <a:latin typeface="Malgun Gothic" pitchFamily="34" charset="0"/>
                <a:ea typeface="Malgun Gothic" pitchFamily="34" charset="-122"/>
                <a:cs typeface="Malgun Gothic" pitchFamily="34" charset="-120"/>
              </a:rPr>
              <a:t>정답이 하나가 아니다</a:t>
            </a:r>
            <a:endParaRPr lang="en-US" sz="1300" dirty="0"/>
          </a:p>
        </p:txBody>
      </p:sp>
      <p:sp>
        <p:nvSpPr>
          <p:cNvPr id="33" name="Text 30"/>
          <p:cNvSpPr/>
          <p:nvPr/>
        </p:nvSpPr>
        <p:spPr>
          <a:xfrm>
            <a:off x="786384" y="4517136"/>
            <a:ext cx="3154680" cy="1152144"/>
          </a:xfrm>
          <a:prstGeom prst="rect">
            <a:avLst/>
          </a:prstGeom>
          <a:noFill/>
          <a:ln/>
        </p:spPr>
        <p:txBody>
          <a:bodyPr wrap="square" lIns="0" tIns="0" rIns="0" bIns="0" rtlCol="0" anchor="t"/>
          <a:lstStyle/>
          <a:p>
            <a:pPr indent="0" marL="0">
              <a:lnSpc>
                <a:spcPct val="108000"/>
              </a:lnSpc>
              <a:buNone/>
            </a:pPr>
            <a:r>
              <a:rPr lang="en-US" sz="1100" dirty="0">
                <a:solidFill>
                  <a:srgbClr val="343A4D"/>
                </a:solidFill>
                <a:latin typeface="Malgun Gothic" pitchFamily="34" charset="0"/>
                <a:ea typeface="Malgun Gothic" pitchFamily="34" charset="-122"/>
                <a:cs typeface="Malgun Gothic" pitchFamily="34" charset="-120"/>
              </a:rPr>
              <a:t>열린 결과물이라, 완성도보다 과정과 판단에 대한 피드백이 성장을 만든다. 예: 같은 주제로도 학급에 30개의 답이 나온다.</a:t>
            </a:r>
            <a:endParaRPr lang="en-US" sz="1100" dirty="0"/>
          </a:p>
        </p:txBody>
      </p:sp>
      <p:sp>
        <p:nvSpPr>
          <p:cNvPr id="34" name="Shape 31"/>
          <p:cNvSpPr/>
          <p:nvPr/>
        </p:nvSpPr>
        <p:spPr>
          <a:xfrm>
            <a:off x="4242816" y="3895344"/>
            <a:ext cx="3566160" cy="1828800"/>
          </a:xfrm>
          <a:prstGeom prst="roundRect">
            <a:avLst>
              <a:gd name="adj" fmla="val 5000"/>
            </a:avLst>
          </a:prstGeom>
          <a:solidFill>
            <a:srgbClr val="FFFFFF"/>
          </a:solidFill>
          <a:ln/>
          <a:effectLst>
            <a:outerShdw sx="100000" sy="100000" kx="0" ky="0" algn="bl" rotWithShape="0" blurRad="114300" dist="25400" dir="5400000">
              <a:srgbClr val="9AA2B8">
                <a:alpha val="20000"/>
              </a:srgbClr>
            </a:outerShdw>
          </a:effectLst>
        </p:spPr>
      </p:sp>
      <p:sp>
        <p:nvSpPr>
          <p:cNvPr id="35" name="Shape 32"/>
          <p:cNvSpPr/>
          <p:nvPr/>
        </p:nvSpPr>
        <p:spPr>
          <a:xfrm>
            <a:off x="4242816" y="3895344"/>
            <a:ext cx="3566160" cy="512064"/>
          </a:xfrm>
          <a:prstGeom prst="roundRect">
            <a:avLst>
              <a:gd name="adj" fmla="val 14286"/>
            </a:avLst>
          </a:prstGeom>
          <a:solidFill>
            <a:srgbClr val="FAE8E3"/>
          </a:solidFill>
          <a:ln/>
        </p:spPr>
      </p:sp>
      <p:sp>
        <p:nvSpPr>
          <p:cNvPr id="36" name="Shape 33"/>
          <p:cNvSpPr/>
          <p:nvPr/>
        </p:nvSpPr>
        <p:spPr>
          <a:xfrm>
            <a:off x="4370832" y="3968496"/>
            <a:ext cx="365760" cy="365760"/>
          </a:xfrm>
          <a:prstGeom prst="ellipse">
            <a:avLst/>
          </a:prstGeom>
          <a:solidFill>
            <a:srgbClr val="FFFFFF"/>
          </a:solidFill>
          <a:ln/>
        </p:spPr>
      </p:sp>
      <p:pic>
        <p:nvPicPr>
          <p:cNvPr id="37" name="Image 1" descr="/tmp/build/icons/sync.png">    </p:cNvPr>
          <p:cNvPicPr>
            <a:picLocks noChangeAspect="1"/>
          </p:cNvPicPr>
          <p:nvPr/>
        </p:nvPicPr>
        <p:blipFill>
          <a:blip r:embed="rId2"/>
          <a:stretch>
            <a:fillRect/>
          </a:stretch>
        </p:blipFill>
        <p:spPr>
          <a:xfrm>
            <a:off x="4458614" y="4056278"/>
            <a:ext cx="190195" cy="190195"/>
          </a:xfrm>
          <a:prstGeom prst="rect">
            <a:avLst/>
          </a:prstGeom>
        </p:spPr>
      </p:pic>
      <p:sp>
        <p:nvSpPr>
          <p:cNvPr id="38" name="Text 34"/>
          <p:cNvSpPr/>
          <p:nvPr/>
        </p:nvSpPr>
        <p:spPr>
          <a:xfrm>
            <a:off x="4828032" y="3895344"/>
            <a:ext cx="2834640" cy="512064"/>
          </a:xfrm>
          <a:prstGeom prst="rect">
            <a:avLst/>
          </a:prstGeom>
          <a:noFill/>
          <a:ln/>
        </p:spPr>
        <p:txBody>
          <a:bodyPr wrap="square" lIns="0" tIns="0" rIns="0" bIns="0" rtlCol="0" anchor="ctr"/>
          <a:lstStyle/>
          <a:p>
            <a:pPr indent="0" marL="0">
              <a:buNone/>
            </a:pPr>
            <a:r>
              <a:rPr lang="en-US" sz="1300" b="1" dirty="0">
                <a:solidFill>
                  <a:srgbClr val="B15C45"/>
                </a:solidFill>
                <a:latin typeface="Malgun Gothic" pitchFamily="34" charset="0"/>
                <a:ea typeface="Malgun Gothic" pitchFamily="34" charset="-122"/>
                <a:cs typeface="Malgun Gothic" pitchFamily="34" charset="-120"/>
              </a:rPr>
              <a:t>창작은 본래 순환이다</a:t>
            </a:r>
            <a:endParaRPr lang="en-US" sz="1300" dirty="0"/>
          </a:p>
        </p:txBody>
      </p:sp>
      <p:sp>
        <p:nvSpPr>
          <p:cNvPr id="39" name="Text 35"/>
          <p:cNvSpPr/>
          <p:nvPr/>
        </p:nvSpPr>
        <p:spPr>
          <a:xfrm>
            <a:off x="4462272" y="4517136"/>
            <a:ext cx="3154680" cy="1152144"/>
          </a:xfrm>
          <a:prstGeom prst="rect">
            <a:avLst/>
          </a:prstGeom>
          <a:noFill/>
          <a:ln/>
        </p:spPr>
        <p:txBody>
          <a:bodyPr wrap="square" lIns="0" tIns="0" rIns="0" bIns="0" rtlCol="0" anchor="t"/>
          <a:lstStyle/>
          <a:p>
            <a:pPr indent="0" marL="0">
              <a:lnSpc>
                <a:spcPct val="108000"/>
              </a:lnSpc>
              <a:buNone/>
            </a:pPr>
            <a:r>
              <a:rPr lang="en-US" sz="1100" dirty="0">
                <a:solidFill>
                  <a:srgbClr val="343A4D"/>
                </a:solidFill>
                <a:latin typeface="Malgun Gothic" pitchFamily="34" charset="0"/>
                <a:ea typeface="Malgun Gothic" pitchFamily="34" charset="-122"/>
                <a:cs typeface="Malgun Gothic" pitchFamily="34" charset="-120"/>
              </a:rPr>
              <a:t>구상·표현·비평·수정을 반복한다. 스튜디오 비평 전통에 뿌리를 둔다(Schön, 1983). 합주 리허설, 크로키 합평, 동작 시연이 모두 이 순환이다.</a:t>
            </a:r>
            <a:endParaRPr lang="en-US" sz="1100" dirty="0"/>
          </a:p>
        </p:txBody>
      </p:sp>
      <p:sp>
        <p:nvSpPr>
          <p:cNvPr id="40" name="Shape 36"/>
          <p:cNvSpPr/>
          <p:nvPr/>
        </p:nvSpPr>
        <p:spPr>
          <a:xfrm>
            <a:off x="7918704" y="3895344"/>
            <a:ext cx="3566160" cy="1828800"/>
          </a:xfrm>
          <a:prstGeom prst="roundRect">
            <a:avLst>
              <a:gd name="adj" fmla="val 5000"/>
            </a:avLst>
          </a:prstGeom>
          <a:solidFill>
            <a:srgbClr val="FFFFFF"/>
          </a:solidFill>
          <a:ln/>
          <a:effectLst>
            <a:outerShdw sx="100000" sy="100000" kx="0" ky="0" algn="bl" rotWithShape="0" blurRad="114300" dist="25400" dir="5400000">
              <a:srgbClr val="9AA2B8">
                <a:alpha val="20000"/>
              </a:srgbClr>
            </a:outerShdw>
          </a:effectLst>
        </p:spPr>
      </p:sp>
      <p:sp>
        <p:nvSpPr>
          <p:cNvPr id="41" name="Shape 37"/>
          <p:cNvSpPr/>
          <p:nvPr/>
        </p:nvSpPr>
        <p:spPr>
          <a:xfrm>
            <a:off x="7918704" y="3895344"/>
            <a:ext cx="3566160" cy="512064"/>
          </a:xfrm>
          <a:prstGeom prst="roundRect">
            <a:avLst>
              <a:gd name="adj" fmla="val 14286"/>
            </a:avLst>
          </a:prstGeom>
          <a:solidFill>
            <a:srgbClr val="E2F0E8"/>
          </a:solidFill>
          <a:ln/>
        </p:spPr>
      </p:sp>
      <p:sp>
        <p:nvSpPr>
          <p:cNvPr id="42" name="Shape 38"/>
          <p:cNvSpPr/>
          <p:nvPr/>
        </p:nvSpPr>
        <p:spPr>
          <a:xfrm>
            <a:off x="8046720" y="3968496"/>
            <a:ext cx="365760" cy="365760"/>
          </a:xfrm>
          <a:prstGeom prst="ellipse">
            <a:avLst/>
          </a:prstGeom>
          <a:solidFill>
            <a:srgbClr val="FFFFFF"/>
          </a:solidFill>
          <a:ln/>
        </p:spPr>
      </p:sp>
      <p:pic>
        <p:nvPicPr>
          <p:cNvPr id="43" name="Image 2" descr="/tmp/build/icons/chart.png">    </p:cNvPr>
          <p:cNvPicPr>
            <a:picLocks noChangeAspect="1"/>
          </p:cNvPicPr>
          <p:nvPr/>
        </p:nvPicPr>
        <p:blipFill>
          <a:blip r:embed="rId3"/>
          <a:stretch>
            <a:fillRect/>
          </a:stretch>
        </p:blipFill>
        <p:spPr>
          <a:xfrm>
            <a:off x="8134502" y="4056278"/>
            <a:ext cx="190195" cy="190195"/>
          </a:xfrm>
          <a:prstGeom prst="rect">
            <a:avLst/>
          </a:prstGeom>
        </p:spPr>
      </p:pic>
      <p:sp>
        <p:nvSpPr>
          <p:cNvPr id="44" name="Text 39"/>
          <p:cNvSpPr/>
          <p:nvPr/>
        </p:nvSpPr>
        <p:spPr>
          <a:xfrm>
            <a:off x="8503920" y="3895344"/>
            <a:ext cx="2834640" cy="512064"/>
          </a:xfrm>
          <a:prstGeom prst="rect">
            <a:avLst/>
          </a:prstGeom>
          <a:noFill/>
          <a:ln/>
        </p:spPr>
        <p:txBody>
          <a:bodyPr wrap="square" lIns="0" tIns="0" rIns="0" bIns="0" rtlCol="0" anchor="ctr"/>
          <a:lstStyle/>
          <a:p>
            <a:pPr indent="0" marL="0">
              <a:buNone/>
            </a:pPr>
            <a:r>
              <a:rPr lang="en-US" sz="1300" b="1" dirty="0">
                <a:solidFill>
                  <a:srgbClr val="3B7A5A"/>
                </a:solidFill>
                <a:latin typeface="Malgun Gothic" pitchFamily="34" charset="0"/>
                <a:ea typeface="Malgun Gothic" pitchFamily="34" charset="-122"/>
                <a:cs typeface="Malgun Gothic" pitchFamily="34" charset="-120"/>
              </a:rPr>
              <a:t>AI가 실행을 값싸게 한다</a:t>
            </a:r>
            <a:endParaRPr lang="en-US" sz="1300" dirty="0"/>
          </a:p>
        </p:txBody>
      </p:sp>
      <p:sp>
        <p:nvSpPr>
          <p:cNvPr id="45" name="Text 40"/>
          <p:cNvSpPr/>
          <p:nvPr/>
        </p:nvSpPr>
        <p:spPr>
          <a:xfrm>
            <a:off x="8138160" y="4517136"/>
            <a:ext cx="3154680" cy="1152144"/>
          </a:xfrm>
          <a:prstGeom prst="rect">
            <a:avLst/>
          </a:prstGeom>
          <a:noFill/>
          <a:ln/>
        </p:spPr>
        <p:txBody>
          <a:bodyPr wrap="square" lIns="0" tIns="0" rIns="0" bIns="0" rtlCol="0" anchor="t"/>
          <a:lstStyle/>
          <a:p>
            <a:pPr indent="0" marL="0">
              <a:lnSpc>
                <a:spcPct val="108000"/>
              </a:lnSpc>
              <a:buNone/>
            </a:pPr>
            <a:r>
              <a:rPr lang="en-US" sz="1100" dirty="0">
                <a:solidFill>
                  <a:srgbClr val="343A4D"/>
                </a:solidFill>
                <a:latin typeface="Malgun Gothic" pitchFamily="34" charset="0"/>
                <a:ea typeface="Malgun Gothic" pitchFamily="34" charset="-122"/>
                <a:cs typeface="Malgun Gothic" pitchFamily="34" charset="-120"/>
              </a:rPr>
              <a:t>실행 비용이 낮아질수록 발상·선별·판단의 환류가 핵심이 된다(Zhou &amp; Lee, 2024). 시안 6장은 1분, 고르는 눈은 수업이 길러야 한다.</a:t>
            </a:r>
            <a:endParaRPr lang="en-US" sz="1100" dirty="0"/>
          </a:p>
        </p:txBody>
      </p:sp>
      <p:sp>
        <p:nvSpPr>
          <p:cNvPr id="46" name="Text 41"/>
          <p:cNvSpPr/>
          <p:nvPr/>
        </p:nvSpPr>
        <p:spPr>
          <a:xfrm>
            <a:off x="566928" y="6053328"/>
            <a:ext cx="11064240" cy="310896"/>
          </a:xfrm>
          <a:prstGeom prst="rect">
            <a:avLst/>
          </a:prstGeom>
          <a:noFill/>
          <a:ln/>
        </p:spPr>
        <p:txBody>
          <a:bodyPr wrap="square" lIns="0" tIns="0" rIns="0" bIns="0" rtlCol="0" anchor="ctr"/>
          <a:lstStyle/>
          <a:p>
            <a:pPr indent="0" marL="0">
              <a:buNone/>
            </a:pPr>
            <a:r>
              <a:rPr lang="en-US" sz="900" b="1" dirty="0">
                <a:solidFill>
                  <a:srgbClr val="59607A"/>
                </a:solidFill>
                <a:latin typeface="Malgun Gothic" pitchFamily="34" charset="0"/>
                <a:ea typeface="Malgun Gothic" pitchFamily="34" charset="-122"/>
                <a:cs typeface="Malgun Gothic" pitchFamily="34" charset="-120"/>
              </a:rPr>
              <a:t>출처 · </a:t>
            </a:r>
            <a:pPr indent="0" marL="0">
              <a:buNone/>
            </a:pPr>
            <a:r>
              <a:rPr lang="en-US" sz="900" dirty="0">
                <a:solidFill>
                  <a:srgbClr val="59607A"/>
                </a:solidFill>
                <a:latin typeface="Malgun Gothic" pitchFamily="34" charset="0"/>
                <a:ea typeface="Malgun Gothic" pitchFamily="34" charset="-122"/>
                <a:cs typeface="Malgun Gothic" pitchFamily="34" charset="-120"/>
              </a:rPr>
              <a:t>Schön (1983) The Reflective Practitioner</a:t>
            </a:r>
            <a:pPr indent="0" marL="0">
              <a:buNone/>
            </a:pPr>
            <a:r>
              <a:rPr lang="en-US" sz="900" dirty="0">
                <a:solidFill>
                  <a:srgbClr val="59607A"/>
                </a:solidFill>
                <a:latin typeface="Malgun Gothic" pitchFamily="34" charset="0"/>
                <a:ea typeface="Malgun Gothic" pitchFamily="34" charset="-122"/>
                <a:cs typeface="Malgun Gothic" pitchFamily="34" charset="-120"/>
              </a:rPr>
              <a:t>  ·  </a:t>
            </a:r>
            <a:pPr indent="0" marL="0">
              <a:buNone/>
            </a:pPr>
            <a:r>
              <a:rPr lang="en-US" sz="900" u="sng" dirty="0">
                <a:solidFill>
                  <a:srgbClr val="2E4A85"/>
                </a:solidFill>
                <a:latin typeface="Malgun Gothic" pitchFamily="34" charset="0"/>
                <a:ea typeface="Malgun Gothic" pitchFamily="34" charset="-122"/>
                <a:cs typeface="Malgun Gothic" pitchFamily="34" charset="-120"/>
                <a:hlinkClick r:id="rId4" invalidUrl="" action="" tgtFrame="" tooltip="" history="1" highlightClick="0" endSnd="0">
                  <a:extLst>
                    <a:ext uri="{A12FA001-AC4F-418D-AE19-62706E023703}">
                      <ahyp:hlinkClr xmlns:ahyp="http://schemas.microsoft.com/office/drawing/2018/hyperlinkcolor" val="tx"/>
                    </a:ext>
                  </a:extLst>
                </a:hlinkClick>
              </a:rPr>
              <a:t>Zhou &amp; Lee (2024) PNAS Nexus 3(3) pgae052</a:t>
            </a:r>
            <a:endParaRPr lang="en-US" sz="900" dirty="0"/>
          </a:p>
        </p:txBody>
      </p:sp>
      <p:sp>
        <p:nvSpPr>
          <p:cNvPr id="47" name="Text 42"/>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48" name="Text 43"/>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2E4A85"/>
                </a:solidFill>
                <a:latin typeface="Malgun Gothic" pitchFamily="34" charset="0"/>
                <a:ea typeface="Malgun Gothic" pitchFamily="34" charset="-122"/>
                <a:cs typeface="Malgun Gothic" pitchFamily="34" charset="-120"/>
              </a:rPr>
              <a:t>PART 1 · 공통 프레임</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수행 데이터를 다루는 세 교과와 역할 구분</a:t>
            </a:r>
            <a:endParaRPr lang="en-US" sz="2400" dirty="0"/>
          </a:p>
        </p:txBody>
      </p:sp>
      <p:sp>
        <p:nvSpPr>
          <p:cNvPr id="4" name="Text 2"/>
          <p:cNvSpPr/>
          <p:nvPr/>
        </p:nvSpPr>
        <p:spPr>
          <a:xfrm>
            <a:off x="566928" y="1371600"/>
            <a:ext cx="11064240" cy="548640"/>
          </a:xfrm>
          <a:prstGeom prst="rect">
            <a:avLst/>
          </a:prstGeom>
          <a:noFill/>
          <a:ln/>
        </p:spPr>
        <p:txBody>
          <a:bodyPr wrap="square" lIns="0" tIns="0" rIns="0" bIns="0" rtlCol="0" anchor="t"/>
          <a:lstStyle/>
          <a:p>
            <a:pPr algn="l" indent="0" marL="0">
              <a:lnSpc>
                <a:spcPct val="104000"/>
              </a:lnSpc>
              <a:spcAft>
                <a:spcPts val="600"/>
              </a:spcAft>
              <a:buNone/>
            </a:pPr>
            <a:r>
              <a:rPr lang="en-US" sz="1250" dirty="0">
                <a:solidFill>
                  <a:srgbClr val="59607A"/>
                </a:solidFill>
                <a:latin typeface="Malgun Gothic" pitchFamily="34" charset="0"/>
                <a:ea typeface="Malgun Gothic" pitchFamily="34" charset="-122"/>
                <a:cs typeface="Malgun Gothic" pitchFamily="34" charset="-120"/>
              </a:rPr>
              <a:t>세 교과의 평가 대상은 학생의 수행이다. 움직임, 소리, 이미지가 그 대상이다. AI는 이 수행을 수치와 텍스트로 바꿔 눈에 보이게 만든다. 그 데이터를 어떻게 읽고 수업으로 되돌리는지가 이 세션의 주제다.</a:t>
            </a:r>
            <a:endParaRPr lang="en-US" sz="1250" dirty="0"/>
          </a:p>
        </p:txBody>
      </p:sp>
      <p:sp>
        <p:nvSpPr>
          <p:cNvPr id="5" name="Shape 3"/>
          <p:cNvSpPr/>
          <p:nvPr/>
        </p:nvSpPr>
        <p:spPr>
          <a:xfrm>
            <a:off x="566928" y="2029968"/>
            <a:ext cx="5440680" cy="2788920"/>
          </a:xfrm>
          <a:prstGeom prst="roundRect">
            <a:avLst>
              <a:gd name="adj" fmla="val 3279"/>
            </a:avLst>
          </a:prstGeom>
          <a:solidFill>
            <a:srgbClr val="EAEEF8"/>
          </a:solidFill>
          <a:ln/>
          <a:effectLst>
            <a:outerShdw sx="100000" sy="100000" kx="0" ky="0" algn="bl" rotWithShape="0" blurRad="114300" dist="25400" dir="5400000">
              <a:srgbClr val="9AA2B8">
                <a:alpha val="20000"/>
              </a:srgbClr>
            </a:outerShdw>
          </a:effectLst>
        </p:spPr>
      </p:sp>
      <p:sp>
        <p:nvSpPr>
          <p:cNvPr id="6" name="Text 4"/>
          <p:cNvSpPr/>
          <p:nvPr/>
        </p:nvSpPr>
        <p:spPr>
          <a:xfrm>
            <a:off x="804672" y="2194560"/>
            <a:ext cx="4937760" cy="365760"/>
          </a:xfrm>
          <a:prstGeom prst="rect">
            <a:avLst/>
          </a:prstGeom>
          <a:noFill/>
          <a:ln/>
        </p:spPr>
        <p:txBody>
          <a:bodyPr wrap="square" lIns="0" tIns="0" rIns="0" bIns="0" rtlCol="0" anchor="ctr"/>
          <a:lstStyle/>
          <a:p>
            <a:pPr indent="0" marL="0">
              <a:buNone/>
            </a:pPr>
            <a:r>
              <a:rPr lang="en-US" sz="1500" b="1" dirty="0">
                <a:solidFill>
                  <a:srgbClr val="2E4A85"/>
                </a:solidFill>
                <a:latin typeface="Malgun Gothic" pitchFamily="34" charset="0"/>
                <a:ea typeface="Malgun Gothic" pitchFamily="34" charset="-122"/>
                <a:cs typeface="Malgun Gothic" pitchFamily="34" charset="-120"/>
              </a:rPr>
              <a:t>AI·데이터가 잘하는 일</a:t>
            </a:r>
            <a:endParaRPr lang="en-US" sz="1500" dirty="0"/>
          </a:p>
        </p:txBody>
      </p:sp>
      <p:sp>
        <p:nvSpPr>
          <p:cNvPr id="7" name="Text 5"/>
          <p:cNvSpPr/>
          <p:nvPr/>
        </p:nvSpPr>
        <p:spPr>
          <a:xfrm>
            <a:off x="804672" y="2615184"/>
            <a:ext cx="5029200" cy="2103120"/>
          </a:xfrm>
          <a:prstGeom prst="rect">
            <a:avLst/>
          </a:prstGeom>
          <a:noFill/>
          <a:ln/>
        </p:spPr>
        <p:txBody>
          <a:bodyPr wrap="square" lIns="0" tIns="0" rIns="0" bIns="0" rtlCol="0" anchor="t"/>
          <a:lstStyle/>
          <a:p>
            <a:pPr algn="l" marL="203200" indent="-203200">
              <a:lnSpc>
                <a:spcPct val="104000"/>
              </a:lnSpc>
              <a:spcAft>
                <a:spcPts val="6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객관적 수행 데이터의 수집: 관절 각도, 음정·박자, 프롬프트·시안 이력</a:t>
            </a:r>
            <a:endParaRPr lang="en-US" sz="1200" dirty="0"/>
          </a:p>
          <a:p>
            <a:pPr algn="l" marL="203200" indent="-203200">
              <a:lnSpc>
                <a:spcPct val="104000"/>
              </a:lnSpc>
              <a:spcAft>
                <a:spcPts val="6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시공간 제약 없는 반복 피드백과 즉시 시각화</a:t>
            </a:r>
            <a:endParaRPr lang="en-US" sz="1200" dirty="0"/>
          </a:p>
          <a:p>
            <a:pPr algn="l" marL="203200" indent="-203200">
              <a:lnSpc>
                <a:spcPct val="104000"/>
              </a:lnSpc>
              <a:spcAft>
                <a:spcPts val="6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빈도·비율·추이의 집계: 사람이 놓치는 패턴 포착</a:t>
            </a:r>
            <a:endParaRPr lang="en-US" sz="1200" dirty="0"/>
          </a:p>
        </p:txBody>
      </p:sp>
      <p:sp>
        <p:nvSpPr>
          <p:cNvPr id="8" name="Shape 6"/>
          <p:cNvSpPr/>
          <p:nvPr/>
        </p:nvSpPr>
        <p:spPr>
          <a:xfrm>
            <a:off x="6199632" y="2029968"/>
            <a:ext cx="5440680" cy="2788920"/>
          </a:xfrm>
          <a:prstGeom prst="roundRect">
            <a:avLst>
              <a:gd name="adj" fmla="val 3279"/>
            </a:avLst>
          </a:prstGeom>
          <a:solidFill>
            <a:srgbClr val="E2F0E8"/>
          </a:solidFill>
          <a:ln/>
          <a:effectLst>
            <a:outerShdw sx="100000" sy="100000" kx="0" ky="0" algn="bl" rotWithShape="0" blurRad="114300" dist="25400" dir="5400000">
              <a:srgbClr val="9AA2B8">
                <a:alpha val="20000"/>
              </a:srgbClr>
            </a:outerShdw>
          </a:effectLst>
        </p:spPr>
      </p:sp>
      <p:sp>
        <p:nvSpPr>
          <p:cNvPr id="9" name="Text 7"/>
          <p:cNvSpPr/>
          <p:nvPr/>
        </p:nvSpPr>
        <p:spPr>
          <a:xfrm>
            <a:off x="6437376" y="2194560"/>
            <a:ext cx="4937760" cy="365760"/>
          </a:xfrm>
          <a:prstGeom prst="rect">
            <a:avLst/>
          </a:prstGeom>
          <a:noFill/>
          <a:ln/>
        </p:spPr>
        <p:txBody>
          <a:bodyPr wrap="square" lIns="0" tIns="0" rIns="0" bIns="0" rtlCol="0" anchor="ctr"/>
          <a:lstStyle/>
          <a:p>
            <a:pPr indent="0" marL="0">
              <a:buNone/>
            </a:pPr>
            <a:r>
              <a:rPr lang="en-US" sz="1500" b="1" dirty="0">
                <a:solidFill>
                  <a:srgbClr val="3B7A5A"/>
                </a:solidFill>
                <a:latin typeface="Malgun Gothic" pitchFamily="34" charset="0"/>
                <a:ea typeface="Malgun Gothic" pitchFamily="34" charset="-122"/>
                <a:cs typeface="Malgun Gothic" pitchFamily="34" charset="-120"/>
              </a:rPr>
              <a:t>교사만 할 수 있는 일</a:t>
            </a:r>
            <a:endParaRPr lang="en-US" sz="1500" dirty="0"/>
          </a:p>
        </p:txBody>
      </p:sp>
      <p:sp>
        <p:nvSpPr>
          <p:cNvPr id="10" name="Text 8"/>
          <p:cNvSpPr/>
          <p:nvPr/>
        </p:nvSpPr>
        <p:spPr>
          <a:xfrm>
            <a:off x="6437376" y="2615184"/>
            <a:ext cx="5029200" cy="2103120"/>
          </a:xfrm>
          <a:prstGeom prst="rect">
            <a:avLst/>
          </a:prstGeom>
          <a:noFill/>
          <a:ln/>
        </p:spPr>
        <p:txBody>
          <a:bodyPr wrap="square" lIns="0" tIns="0" rIns="0" bIns="0" rtlCol="0" anchor="t"/>
          <a:lstStyle/>
          <a:p>
            <a:pPr algn="l" marL="203200" indent="-203200">
              <a:lnSpc>
                <a:spcPct val="104000"/>
              </a:lnSpc>
              <a:spcAft>
                <a:spcPts val="6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데이터 이면의 맥락 읽기: 왜 그 수치가 나왔고 학생이 무엇을 견뎠는지</a:t>
            </a:r>
            <a:endParaRPr lang="en-US" sz="1200" dirty="0"/>
          </a:p>
          <a:p>
            <a:pPr algn="l" marL="203200" indent="-203200">
              <a:lnSpc>
                <a:spcPct val="104000"/>
              </a:lnSpc>
              <a:spcAft>
                <a:spcPts val="6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실패를 격려로, 좌절을 다음 시도로 바꾸는 정서적 지지</a:t>
            </a:r>
            <a:endParaRPr lang="en-US" sz="1200" dirty="0"/>
          </a:p>
          <a:p>
            <a:pPr algn="l" marL="203200" indent="-203200">
              <a:lnSpc>
                <a:spcPct val="104000"/>
              </a:lnSpc>
              <a:spcAft>
                <a:spcPts val="6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수치화되지 않는 성장(태도·협력·표현 의도)의 판단과 환류</a:t>
            </a:r>
            <a:endParaRPr lang="en-US" sz="1200" dirty="0"/>
          </a:p>
        </p:txBody>
      </p:sp>
      <p:sp>
        <p:nvSpPr>
          <p:cNvPr id="11" name="Shape 9"/>
          <p:cNvSpPr/>
          <p:nvPr/>
        </p:nvSpPr>
        <p:spPr>
          <a:xfrm>
            <a:off x="566928" y="4983480"/>
            <a:ext cx="11064240" cy="960120"/>
          </a:xfrm>
          <a:prstGeom prst="roundRect">
            <a:avLst>
              <a:gd name="adj" fmla="val 9524"/>
            </a:avLst>
          </a:prstGeom>
          <a:solidFill>
            <a:srgbClr val="FBF1DC"/>
          </a:solidFill>
          <a:ln/>
          <a:effectLst>
            <a:outerShdw sx="100000" sy="100000" kx="0" ky="0" algn="bl" rotWithShape="0" blurRad="114300" dist="25400" dir="5400000">
              <a:srgbClr val="9AA2B8">
                <a:alpha val="20000"/>
              </a:srgbClr>
            </a:outerShdw>
          </a:effectLst>
        </p:spPr>
      </p:sp>
      <p:sp>
        <p:nvSpPr>
          <p:cNvPr id="12" name="Text 10"/>
          <p:cNvSpPr/>
          <p:nvPr/>
        </p:nvSpPr>
        <p:spPr>
          <a:xfrm>
            <a:off x="841248" y="4983480"/>
            <a:ext cx="10515600" cy="960120"/>
          </a:xfrm>
          <a:prstGeom prst="rect">
            <a:avLst/>
          </a:prstGeom>
          <a:noFill/>
          <a:ln/>
        </p:spPr>
        <p:txBody>
          <a:bodyPr wrap="square" lIns="0" tIns="0" rIns="0" bIns="0" rtlCol="0" anchor="ctr"/>
          <a:lstStyle/>
          <a:p>
            <a:pPr indent="0" marL="0">
              <a:lnSpc>
                <a:spcPct val="105000"/>
              </a:lnSpc>
              <a:buNone/>
            </a:pPr>
            <a:r>
              <a:rPr lang="en-US" sz="1300" b="1" dirty="0">
                <a:solidFill>
                  <a:srgbClr val="B8801F"/>
                </a:solidFill>
                <a:latin typeface="Malgun Gothic" pitchFamily="34" charset="0"/>
                <a:ea typeface="Malgun Gothic" pitchFamily="34" charset="-122"/>
                <a:cs typeface="Malgun Gothic" pitchFamily="34" charset="-120"/>
              </a:rPr>
              <a:t>비유  </a:t>
            </a:r>
            <a:pPr indent="0" marL="0">
              <a:lnSpc>
                <a:spcPct val="105000"/>
              </a:lnSpc>
              <a:buNone/>
            </a:pPr>
            <a:r>
              <a:rPr lang="en-US" sz="1250" b="1" dirty="0">
                <a:solidFill>
                  <a:srgbClr val="343A4D"/>
                </a:solidFill>
                <a:latin typeface="Malgun Gothic" pitchFamily="34" charset="0"/>
                <a:ea typeface="Malgun Gothic" pitchFamily="34" charset="-122"/>
                <a:cs typeface="Malgun Gothic" pitchFamily="34" charset="-120"/>
              </a:rPr>
              <a:t>데이터 해석 = 건강검진. </a:t>
            </a:r>
            <a:pPr indent="0" marL="0">
              <a:lnSpc>
                <a:spcPct val="105000"/>
              </a:lnSpc>
              <a:buNone/>
            </a:pPr>
            <a:r>
              <a:rPr lang="en-US" sz="1200" dirty="0">
                <a:solidFill>
                  <a:srgbClr val="59607A"/>
                </a:solidFill>
                <a:latin typeface="Malgun Gothic" pitchFamily="34" charset="0"/>
                <a:ea typeface="Malgun Gothic" pitchFamily="34" charset="-122"/>
                <a:cs typeface="Malgun Gothic" pitchFamily="34" charset="-120"/>
              </a:rPr>
              <a:t>혈압 수치(발화 비율, 자세 정확도, 음정 정확도)는 진단의 출발점이다. 목적은 다음 수업을 어떻게 바꿀지 정하는 처방, 곧 환류에 있다. 수치로 학생을 줄 세우는 순간 검진은 성적표로 바뀐다.</a:t>
            </a:r>
            <a:endParaRPr lang="en-US" sz="1300" dirty="0"/>
          </a:p>
        </p:txBody>
      </p:sp>
      <p:sp>
        <p:nvSpPr>
          <p:cNvPr id="13" name="Text 11"/>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14" name="Text 12"/>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B"/>
        </a:solidFill>
      </p:bgPr>
    </p:bg>
    <p:spTree>
      <p:nvGrpSpPr>
        <p:cNvPr id="1" name=""/>
        <p:cNvGrpSpPr/>
        <p:nvPr/>
      </p:nvGrpSpPr>
      <p:grpSpPr>
        <a:xfrm>
          <a:off x="0" y="0"/>
          <a:ext cx="0" cy="0"/>
          <a:chOff x="0" y="0"/>
          <a:chExt cx="0" cy="0"/>
        </a:xfrm>
      </p:grpSpPr>
      <p:sp>
        <p:nvSpPr>
          <p:cNvPr id="2" name="Shape 0"/>
          <p:cNvSpPr/>
          <p:nvPr/>
        </p:nvSpPr>
        <p:spPr>
          <a:xfrm>
            <a:off x="8869680" y="-1188720"/>
            <a:ext cx="5120640" cy="5120640"/>
          </a:xfrm>
          <a:prstGeom prst="ellipse">
            <a:avLst/>
          </a:prstGeom>
          <a:solidFill>
            <a:srgbClr val="ECE8F8"/>
          </a:solidFill>
          <a:ln/>
        </p:spPr>
      </p:sp>
      <p:sp>
        <p:nvSpPr>
          <p:cNvPr id="3" name="Shape 1"/>
          <p:cNvSpPr/>
          <p:nvPr/>
        </p:nvSpPr>
        <p:spPr>
          <a:xfrm>
            <a:off x="10241280" y="3291840"/>
            <a:ext cx="2926080" cy="2926080"/>
          </a:xfrm>
          <a:prstGeom prst="ellipse">
            <a:avLst/>
          </a:prstGeom>
          <a:solidFill>
            <a:srgbClr val="ECE8F8"/>
          </a:solidFill>
          <a:ln/>
        </p:spPr>
      </p:sp>
      <p:sp>
        <p:nvSpPr>
          <p:cNvPr id="4" name="Text 2"/>
          <p:cNvSpPr/>
          <p:nvPr/>
        </p:nvSpPr>
        <p:spPr>
          <a:xfrm>
            <a:off x="566928" y="2148840"/>
            <a:ext cx="7315200" cy="457200"/>
          </a:xfrm>
          <a:prstGeom prst="rect">
            <a:avLst/>
          </a:prstGeom>
          <a:noFill/>
          <a:ln/>
        </p:spPr>
        <p:txBody>
          <a:bodyPr wrap="square" lIns="0" tIns="0" rIns="0" bIns="0" rtlCol="0" anchor="ctr"/>
          <a:lstStyle/>
          <a:p>
            <a:pPr indent="0" marL="0">
              <a:buNone/>
            </a:pPr>
            <a:r>
              <a:rPr lang="en-US" sz="1500" b="1" spc="200" kern="0" dirty="0">
                <a:solidFill>
                  <a:srgbClr val="5B4C9E"/>
                </a:solidFill>
                <a:latin typeface="Malgun Gothic" pitchFamily="34" charset="0"/>
                <a:ea typeface="Malgun Gothic" pitchFamily="34" charset="-122"/>
                <a:cs typeface="Malgun Gothic" pitchFamily="34" charset="-120"/>
              </a:rPr>
              <a:t>PART 2</a:t>
            </a:r>
            <a:endParaRPr lang="en-US" sz="1500" dirty="0"/>
          </a:p>
        </p:txBody>
      </p:sp>
      <p:sp>
        <p:nvSpPr>
          <p:cNvPr id="5" name="Text 3"/>
          <p:cNvSpPr/>
          <p:nvPr/>
        </p:nvSpPr>
        <p:spPr>
          <a:xfrm>
            <a:off x="566928" y="2606040"/>
            <a:ext cx="7863840" cy="1097280"/>
          </a:xfrm>
          <a:prstGeom prst="rect">
            <a:avLst/>
          </a:prstGeom>
          <a:noFill/>
          <a:ln/>
        </p:spPr>
        <p:txBody>
          <a:bodyPr wrap="square" lIns="0" tIns="0" rIns="0" bIns="0" rtlCol="0" anchor="ctr"/>
          <a:lstStyle/>
          <a:p>
            <a:pPr indent="0" marL="0">
              <a:buNone/>
            </a:pPr>
            <a:r>
              <a:rPr lang="en-US" sz="3400" b="1" dirty="0">
                <a:solidFill>
                  <a:srgbClr val="1E3560"/>
                </a:solidFill>
                <a:latin typeface="Malgun Gothic" pitchFamily="34" charset="0"/>
                <a:ea typeface="Malgun Gothic" pitchFamily="34" charset="-122"/>
                <a:cs typeface="Malgun Gothic" pitchFamily="34" charset="-120"/>
              </a:rPr>
              <a:t>교과별 최신 연구·사례</a:t>
            </a:r>
            <a:endParaRPr lang="en-US" sz="3400" dirty="0"/>
          </a:p>
        </p:txBody>
      </p:sp>
      <p:sp>
        <p:nvSpPr>
          <p:cNvPr id="6" name="Text 4"/>
          <p:cNvSpPr/>
          <p:nvPr/>
        </p:nvSpPr>
        <p:spPr>
          <a:xfrm>
            <a:off x="566928" y="3794760"/>
            <a:ext cx="7680960" cy="822960"/>
          </a:xfrm>
          <a:prstGeom prst="rect">
            <a:avLst/>
          </a:prstGeom>
          <a:noFill/>
          <a:ln/>
        </p:spPr>
        <p:txBody>
          <a:bodyPr wrap="square" lIns="0" tIns="0" rIns="0" bIns="0" rtlCol="0" anchor="t"/>
          <a:lstStyle/>
          <a:p>
            <a:pPr indent="0" marL="0">
              <a:lnSpc>
                <a:spcPct val="110000"/>
              </a:lnSpc>
              <a:buNone/>
            </a:pPr>
            <a:r>
              <a:rPr lang="en-US" sz="1400" dirty="0">
                <a:solidFill>
                  <a:srgbClr val="59607A"/>
                </a:solidFill>
                <a:latin typeface="Malgun Gothic" pitchFamily="34" charset="0"/>
                <a:ea typeface="Malgun Gothic" pitchFamily="34" charset="-122"/>
                <a:cs typeface="Malgun Gothic" pitchFamily="34" charset="-120"/>
              </a:rPr>
              <a:t>음악·미술·체육의 2024–2025 연구와 국내 현장 사례. 흥미로운 발견에서 방법으로, 다시 우리 수업의 환류로 잇는다.</a:t>
            </a:r>
            <a:endParaRPr lang="en-US" sz="1400" dirty="0"/>
          </a:p>
        </p:txBody>
      </p:sp>
      <p:sp>
        <p:nvSpPr>
          <p:cNvPr id="7" name="Text 5"/>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8" name="Text 6"/>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5B4C9E"/>
                </a:solidFill>
                <a:latin typeface="Malgun Gothic" pitchFamily="34" charset="0"/>
                <a:ea typeface="Malgun Gothic" pitchFamily="34" charset="-122"/>
                <a:cs typeface="Malgun Gothic" pitchFamily="34" charset="-120"/>
              </a:rPr>
              <a:t>PART 2 · 음악 ①</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ChatGPT-4를 활용한 음악 학습 경험 연구</a:t>
            </a:r>
            <a:endParaRPr lang="en-US" sz="2400" dirty="0"/>
          </a:p>
        </p:txBody>
      </p:sp>
      <p:sp>
        <p:nvSpPr>
          <p:cNvPr id="4" name="Shape 2"/>
          <p:cNvSpPr/>
          <p:nvPr/>
        </p:nvSpPr>
        <p:spPr>
          <a:xfrm>
            <a:off x="10753344" y="402336"/>
            <a:ext cx="868680" cy="310896"/>
          </a:xfrm>
          <a:prstGeom prst="roundRect">
            <a:avLst>
              <a:gd name="adj" fmla="val 50000"/>
            </a:avLst>
          </a:prstGeom>
          <a:solidFill>
            <a:srgbClr val="ECE8F8"/>
          </a:solidFill>
          <a:ln/>
        </p:spPr>
      </p:sp>
      <p:sp>
        <p:nvSpPr>
          <p:cNvPr id="5" name="Text 3"/>
          <p:cNvSpPr/>
          <p:nvPr/>
        </p:nvSpPr>
        <p:spPr>
          <a:xfrm>
            <a:off x="10753344" y="402336"/>
            <a:ext cx="868680" cy="310896"/>
          </a:xfrm>
          <a:prstGeom prst="rect">
            <a:avLst/>
          </a:prstGeom>
          <a:noFill/>
          <a:ln/>
        </p:spPr>
        <p:txBody>
          <a:bodyPr wrap="square" lIns="0" tIns="0" rIns="0" bIns="0" rtlCol="0" anchor="ctr"/>
          <a:lstStyle/>
          <a:p>
            <a:pPr algn="ctr" indent="0" marL="0">
              <a:buNone/>
            </a:pPr>
            <a:r>
              <a:rPr lang="en-US" sz="1200" b="1" dirty="0">
                <a:solidFill>
                  <a:srgbClr val="5B4C9E"/>
                </a:solidFill>
                <a:latin typeface="Malgun Gothic" pitchFamily="34" charset="0"/>
                <a:ea typeface="Malgun Gothic" pitchFamily="34" charset="-122"/>
                <a:cs typeface="Malgun Gothic" pitchFamily="34" charset="-120"/>
              </a:rPr>
              <a:t>음악</a:t>
            </a:r>
            <a:endParaRPr lang="en-US" sz="1200" dirty="0"/>
          </a:p>
        </p:txBody>
      </p:sp>
      <p:sp>
        <p:nvSpPr>
          <p:cNvPr id="6" name="Shape 4"/>
          <p:cNvSpPr/>
          <p:nvPr/>
        </p:nvSpPr>
        <p:spPr>
          <a:xfrm>
            <a:off x="566928" y="1463040"/>
            <a:ext cx="6720840" cy="2926080"/>
          </a:xfrm>
          <a:prstGeom prst="roundRect">
            <a:avLst>
              <a:gd name="adj" fmla="val 3125"/>
            </a:avLst>
          </a:prstGeom>
          <a:solidFill>
            <a:srgbClr val="FFFFFF"/>
          </a:solidFill>
          <a:ln/>
          <a:effectLst>
            <a:outerShdw sx="100000" sy="100000" kx="0" ky="0" algn="bl" rotWithShape="0" blurRad="114300" dist="25400" dir="5400000">
              <a:srgbClr val="9AA2B8">
                <a:alpha val="20000"/>
              </a:srgbClr>
            </a:outerShdw>
          </a:effectLst>
        </p:spPr>
      </p:sp>
      <p:sp>
        <p:nvSpPr>
          <p:cNvPr id="7" name="Text 5"/>
          <p:cNvSpPr/>
          <p:nvPr/>
        </p:nvSpPr>
        <p:spPr>
          <a:xfrm>
            <a:off x="822960" y="1627632"/>
            <a:ext cx="6217920" cy="365760"/>
          </a:xfrm>
          <a:prstGeom prst="rect">
            <a:avLst/>
          </a:prstGeom>
          <a:noFill/>
          <a:ln/>
        </p:spPr>
        <p:txBody>
          <a:bodyPr wrap="square" lIns="0" tIns="0" rIns="0" bIns="0" rtlCol="0" anchor="ctr"/>
          <a:lstStyle/>
          <a:p>
            <a:pPr indent="0" marL="0">
              <a:buNone/>
            </a:pPr>
            <a:r>
              <a:rPr lang="en-US" sz="1400" b="1" dirty="0">
                <a:solidFill>
                  <a:srgbClr val="5B4C9E"/>
                </a:solidFill>
                <a:latin typeface="Malgun Gothic" pitchFamily="34" charset="0"/>
                <a:ea typeface="Malgun Gothic" pitchFamily="34" charset="-122"/>
                <a:cs typeface="Malgun Gothic" pitchFamily="34" charset="-120"/>
              </a:rPr>
              <a:t>연구 · Zhou &amp; Kim (2024)</a:t>
            </a:r>
            <a:endParaRPr lang="en-US" sz="1400" dirty="0"/>
          </a:p>
        </p:txBody>
      </p:sp>
      <p:sp>
        <p:nvSpPr>
          <p:cNvPr id="8" name="Text 6"/>
          <p:cNvSpPr/>
          <p:nvPr/>
        </p:nvSpPr>
        <p:spPr>
          <a:xfrm>
            <a:off x="822960" y="2048256"/>
            <a:ext cx="6263640" cy="2286000"/>
          </a:xfrm>
          <a:prstGeom prst="rect">
            <a:avLst/>
          </a:prstGeom>
          <a:noFill/>
          <a:ln/>
        </p:spPr>
        <p:txBody>
          <a:bodyPr wrap="square" lIns="0" tIns="0" rIns="0" bIns="0" rtlCol="0" anchor="t"/>
          <a:lstStyle/>
          <a:p>
            <a:pPr algn="l" indent="0" marL="0">
              <a:lnSpc>
                <a:spcPct val="104000"/>
              </a:lnSpc>
              <a:spcAft>
                <a:spcPts val="800"/>
              </a:spcAft>
              <a:buNone/>
            </a:pPr>
            <a:r>
              <a:rPr lang="en-US" sz="1200" dirty="0">
                <a:solidFill>
                  <a:srgbClr val="343A4D"/>
                </a:solidFill>
                <a:latin typeface="Malgun Gothic" pitchFamily="34" charset="0"/>
                <a:ea typeface="Malgun Gothic" pitchFamily="34" charset="-122"/>
                <a:cs typeface="Malgun Gothic" pitchFamily="34" charset="-120"/>
              </a:rPr>
              <a:t>중등·대학 음악 수업에서 ChatGPT-4를 도입해 학습 경험 변화를 실증 분석. 작곡 아이디어 생성, 화성 설명, 맞춤형 자료 제작에 활용했다.</a:t>
            </a:r>
            <a:endParaRPr lang="en-US" sz="1200" dirty="0"/>
          </a:p>
          <a:p>
            <a:pPr algn="l" indent="0" marL="0">
              <a:lnSpc>
                <a:spcPct val="104000"/>
              </a:lnSpc>
              <a:spcAft>
                <a:spcPts val="300"/>
              </a:spcAft>
              <a:buNone/>
            </a:pPr>
            <a:r>
              <a:rPr lang="en-US" sz="1200" b="1" dirty="0">
                <a:solidFill>
                  <a:srgbClr val="5B4C9E"/>
                </a:solidFill>
                <a:latin typeface="Malgun Gothic" pitchFamily="34" charset="0"/>
                <a:ea typeface="Malgun Gothic" pitchFamily="34" charset="-122"/>
                <a:cs typeface="Malgun Gothic" pitchFamily="34" charset="-120"/>
              </a:rPr>
              <a:t>흥미로운 발견</a:t>
            </a:r>
            <a:endParaRPr lang="en-US" sz="1200" dirty="0"/>
          </a:p>
          <a:p>
            <a:pPr algn="l" marL="203200" indent="-203200">
              <a:lnSpc>
                <a:spcPct val="104000"/>
              </a:lnSpc>
              <a:spcAft>
                <a:spcPts val="6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창작 실험 폭과 학습 흥미가 높아졌다. 동시에 AI가 준 화성·이론 설명을 검증 없이 그대로 믿는 경향도 함께 나타났다.</a:t>
            </a:r>
            <a:endParaRPr lang="en-US" sz="1200" dirty="0"/>
          </a:p>
        </p:txBody>
      </p:sp>
      <p:sp>
        <p:nvSpPr>
          <p:cNvPr id="9" name="Shape 7"/>
          <p:cNvSpPr/>
          <p:nvPr/>
        </p:nvSpPr>
        <p:spPr>
          <a:xfrm>
            <a:off x="566928" y="4553712"/>
            <a:ext cx="6720840" cy="1389888"/>
          </a:xfrm>
          <a:prstGeom prst="roundRect">
            <a:avLst>
              <a:gd name="adj" fmla="val 6579"/>
            </a:avLst>
          </a:prstGeom>
          <a:solidFill>
            <a:srgbClr val="ECE8F8"/>
          </a:solidFill>
          <a:ln/>
          <a:effectLst>
            <a:outerShdw sx="100000" sy="100000" kx="0" ky="0" algn="bl" rotWithShape="0" blurRad="114300" dist="25400" dir="5400000">
              <a:srgbClr val="9AA2B8">
                <a:alpha val="20000"/>
              </a:srgbClr>
            </a:outerShdw>
          </a:effectLst>
        </p:spPr>
      </p:sp>
      <p:sp>
        <p:nvSpPr>
          <p:cNvPr id="10" name="Text 8"/>
          <p:cNvSpPr/>
          <p:nvPr/>
        </p:nvSpPr>
        <p:spPr>
          <a:xfrm>
            <a:off x="822960" y="4645152"/>
            <a:ext cx="2743200" cy="274320"/>
          </a:xfrm>
          <a:prstGeom prst="rect">
            <a:avLst/>
          </a:prstGeom>
          <a:noFill/>
          <a:ln/>
        </p:spPr>
        <p:txBody>
          <a:bodyPr wrap="square" lIns="0" tIns="0" rIns="0" bIns="0" rtlCol="0" anchor="ctr"/>
          <a:lstStyle/>
          <a:p>
            <a:pPr indent="0" marL="0">
              <a:buNone/>
            </a:pPr>
            <a:r>
              <a:rPr lang="en-US" sz="1150" b="1" dirty="0">
                <a:solidFill>
                  <a:srgbClr val="5B4C9E"/>
                </a:solidFill>
                <a:latin typeface="Malgun Gothic" pitchFamily="34" charset="0"/>
                <a:ea typeface="Malgun Gothic" pitchFamily="34" charset="-122"/>
                <a:cs typeface="Malgun Gothic" pitchFamily="34" charset="-120"/>
              </a:rPr>
              <a:t>수업 절차</a:t>
            </a:r>
            <a:endParaRPr lang="en-US" sz="1150" dirty="0"/>
          </a:p>
        </p:txBody>
      </p:sp>
      <p:sp>
        <p:nvSpPr>
          <p:cNvPr id="11" name="Shape 9"/>
          <p:cNvSpPr/>
          <p:nvPr/>
        </p:nvSpPr>
        <p:spPr>
          <a:xfrm>
            <a:off x="822960" y="4974336"/>
            <a:ext cx="457200" cy="457200"/>
          </a:xfrm>
          <a:prstGeom prst="ellipse">
            <a:avLst/>
          </a:prstGeom>
          <a:solidFill>
            <a:srgbClr val="FFFFFF"/>
          </a:solidFill>
          <a:ln/>
        </p:spPr>
      </p:sp>
      <p:pic>
        <p:nvPicPr>
          <p:cNvPr id="12" name="Image 0" descr="/tmp/build/icons/music.png">    </p:cNvPr>
          <p:cNvPicPr>
            <a:picLocks noChangeAspect="1"/>
          </p:cNvPicPr>
          <p:nvPr/>
        </p:nvPicPr>
        <p:blipFill>
          <a:blip r:embed="rId1"/>
          <a:stretch>
            <a:fillRect/>
          </a:stretch>
        </p:blipFill>
        <p:spPr>
          <a:xfrm>
            <a:off x="932688" y="5084064"/>
            <a:ext cx="237744" cy="237744"/>
          </a:xfrm>
          <a:prstGeom prst="rect">
            <a:avLst/>
          </a:prstGeom>
        </p:spPr>
      </p:pic>
      <p:sp>
        <p:nvSpPr>
          <p:cNvPr id="13" name="Text 10"/>
          <p:cNvSpPr/>
          <p:nvPr/>
        </p:nvSpPr>
        <p:spPr>
          <a:xfrm>
            <a:off x="1335024" y="4974336"/>
            <a:ext cx="1572768" cy="658368"/>
          </a:xfrm>
          <a:prstGeom prst="rect">
            <a:avLst/>
          </a:prstGeom>
          <a:noFill/>
          <a:ln/>
        </p:spPr>
        <p:txBody>
          <a:bodyPr wrap="square" lIns="0" tIns="0" rIns="0" bIns="0" rtlCol="0" anchor="ctr"/>
          <a:lstStyle/>
          <a:p>
            <a:pPr indent="0" marL="0">
              <a:lnSpc>
                <a:spcPct val="100000"/>
              </a:lnSpc>
              <a:buNone/>
            </a:pPr>
            <a:r>
              <a:rPr lang="en-US" sz="1200" b="1" dirty="0">
                <a:solidFill>
                  <a:srgbClr val="5B4C9E"/>
                </a:solidFill>
                <a:latin typeface="Malgun Gothic" pitchFamily="34" charset="0"/>
                <a:ea typeface="Malgun Gothic" pitchFamily="34" charset="-122"/>
                <a:cs typeface="Malgun Gothic" pitchFamily="34" charset="-120"/>
              </a:rPr>
              <a:t>생성  </a:t>
            </a:r>
            <a:pPr indent="0" marL="0">
              <a:lnSpc>
                <a:spcPct val="100000"/>
              </a:lnSpc>
              <a:buNone/>
            </a:pPr>
            <a:r>
              <a:rPr lang="en-US" sz="950" dirty="0">
                <a:solidFill>
                  <a:srgbClr val="59607A"/>
                </a:solidFill>
                <a:latin typeface="Malgun Gothic" pitchFamily="34" charset="0"/>
                <a:ea typeface="Malgun Gothic" pitchFamily="34" charset="-122"/>
                <a:cs typeface="Malgun Gothic" pitchFamily="34" charset="-120"/>
              </a:rPr>
              <a:t>AI에게 반주·화성 초안을 받는다</a:t>
            </a:r>
            <a:endParaRPr lang="en-US" sz="1200" dirty="0"/>
          </a:p>
        </p:txBody>
      </p:sp>
      <p:sp>
        <p:nvSpPr>
          <p:cNvPr id="14" name="Shape 11"/>
          <p:cNvSpPr/>
          <p:nvPr/>
        </p:nvSpPr>
        <p:spPr>
          <a:xfrm>
            <a:off x="2779776" y="5202936"/>
            <a:ext cx="164592" cy="0"/>
          </a:xfrm>
          <a:prstGeom prst="line">
            <a:avLst/>
          </a:prstGeom>
          <a:noFill/>
          <a:ln w="22225">
            <a:solidFill>
              <a:srgbClr val="8E7BD6"/>
            </a:solidFill>
            <a:prstDash val="solid"/>
            <a:tailEnd type="triangle"/>
          </a:ln>
        </p:spPr>
      </p:sp>
      <p:sp>
        <p:nvSpPr>
          <p:cNvPr id="15" name="Shape 12"/>
          <p:cNvSpPr/>
          <p:nvPr/>
        </p:nvSpPr>
        <p:spPr>
          <a:xfrm>
            <a:off x="2980944" y="4974336"/>
            <a:ext cx="457200" cy="457200"/>
          </a:xfrm>
          <a:prstGeom prst="ellipse">
            <a:avLst/>
          </a:prstGeom>
          <a:solidFill>
            <a:srgbClr val="FFFFFF"/>
          </a:solidFill>
          <a:ln/>
        </p:spPr>
      </p:sp>
      <p:pic>
        <p:nvPicPr>
          <p:cNvPr id="16" name="Image 1" descr="/tmp/build/icons/ear.png">    </p:cNvPr>
          <p:cNvPicPr>
            <a:picLocks noChangeAspect="1"/>
          </p:cNvPicPr>
          <p:nvPr/>
        </p:nvPicPr>
        <p:blipFill>
          <a:blip r:embed="rId2"/>
          <a:stretch>
            <a:fillRect/>
          </a:stretch>
        </p:blipFill>
        <p:spPr>
          <a:xfrm>
            <a:off x="3090672" y="5084064"/>
            <a:ext cx="237744" cy="237744"/>
          </a:xfrm>
          <a:prstGeom prst="rect">
            <a:avLst/>
          </a:prstGeom>
        </p:spPr>
      </p:pic>
      <p:sp>
        <p:nvSpPr>
          <p:cNvPr id="17" name="Text 13"/>
          <p:cNvSpPr/>
          <p:nvPr/>
        </p:nvSpPr>
        <p:spPr>
          <a:xfrm>
            <a:off x="3493008" y="4974336"/>
            <a:ext cx="1572768" cy="658368"/>
          </a:xfrm>
          <a:prstGeom prst="rect">
            <a:avLst/>
          </a:prstGeom>
          <a:noFill/>
          <a:ln/>
        </p:spPr>
        <p:txBody>
          <a:bodyPr wrap="square" lIns="0" tIns="0" rIns="0" bIns="0" rtlCol="0" anchor="ctr"/>
          <a:lstStyle/>
          <a:p>
            <a:pPr indent="0" marL="0">
              <a:lnSpc>
                <a:spcPct val="100000"/>
              </a:lnSpc>
              <a:buNone/>
            </a:pPr>
            <a:r>
              <a:rPr lang="en-US" sz="1200" b="1" dirty="0">
                <a:solidFill>
                  <a:srgbClr val="5B4C9E"/>
                </a:solidFill>
                <a:latin typeface="Malgun Gothic" pitchFamily="34" charset="0"/>
                <a:ea typeface="Malgun Gothic" pitchFamily="34" charset="-122"/>
                <a:cs typeface="Malgun Gothic" pitchFamily="34" charset="-120"/>
              </a:rPr>
              <a:t>검증  </a:t>
            </a:r>
            <a:pPr indent="0" marL="0">
              <a:lnSpc>
                <a:spcPct val="100000"/>
              </a:lnSpc>
              <a:buNone/>
            </a:pPr>
            <a:r>
              <a:rPr lang="en-US" sz="950" dirty="0">
                <a:solidFill>
                  <a:srgbClr val="59607A"/>
                </a:solidFill>
                <a:latin typeface="Malgun Gothic" pitchFamily="34" charset="0"/>
                <a:ea typeface="Malgun Gothic" pitchFamily="34" charset="-122"/>
                <a:cs typeface="Malgun Gothic" pitchFamily="34" charset="-120"/>
              </a:rPr>
              <a:t>직접 연주하고 귀로 확인한다</a:t>
            </a:r>
            <a:endParaRPr lang="en-US" sz="1200" dirty="0"/>
          </a:p>
        </p:txBody>
      </p:sp>
      <p:sp>
        <p:nvSpPr>
          <p:cNvPr id="18" name="Shape 14"/>
          <p:cNvSpPr/>
          <p:nvPr/>
        </p:nvSpPr>
        <p:spPr>
          <a:xfrm>
            <a:off x="4937760" y="5202936"/>
            <a:ext cx="164592" cy="0"/>
          </a:xfrm>
          <a:prstGeom prst="line">
            <a:avLst/>
          </a:prstGeom>
          <a:noFill/>
          <a:ln w="22225">
            <a:solidFill>
              <a:srgbClr val="8E7BD6"/>
            </a:solidFill>
            <a:prstDash val="solid"/>
            <a:tailEnd type="triangle"/>
          </a:ln>
        </p:spPr>
      </p:sp>
      <p:sp>
        <p:nvSpPr>
          <p:cNvPr id="19" name="Shape 15"/>
          <p:cNvSpPr/>
          <p:nvPr/>
        </p:nvSpPr>
        <p:spPr>
          <a:xfrm>
            <a:off x="5138928" y="4974336"/>
            <a:ext cx="457200" cy="457200"/>
          </a:xfrm>
          <a:prstGeom prst="ellipse">
            <a:avLst/>
          </a:prstGeom>
          <a:solidFill>
            <a:srgbClr val="FFFFFF"/>
          </a:solidFill>
          <a:ln/>
        </p:spPr>
      </p:sp>
      <p:pic>
        <p:nvPicPr>
          <p:cNvPr id="20" name="Image 2" descr="/tmp/build/icons/sync.png">    </p:cNvPr>
          <p:cNvPicPr>
            <a:picLocks noChangeAspect="1"/>
          </p:cNvPicPr>
          <p:nvPr/>
        </p:nvPicPr>
        <p:blipFill>
          <a:blip r:embed="rId3"/>
          <a:stretch>
            <a:fillRect/>
          </a:stretch>
        </p:blipFill>
        <p:spPr>
          <a:xfrm>
            <a:off x="5248656" y="5084064"/>
            <a:ext cx="237744" cy="237744"/>
          </a:xfrm>
          <a:prstGeom prst="rect">
            <a:avLst/>
          </a:prstGeom>
        </p:spPr>
      </p:pic>
      <p:sp>
        <p:nvSpPr>
          <p:cNvPr id="21" name="Text 16"/>
          <p:cNvSpPr/>
          <p:nvPr/>
        </p:nvSpPr>
        <p:spPr>
          <a:xfrm>
            <a:off x="5650992" y="4974336"/>
            <a:ext cx="1572768" cy="658368"/>
          </a:xfrm>
          <a:prstGeom prst="rect">
            <a:avLst/>
          </a:prstGeom>
          <a:noFill/>
          <a:ln/>
        </p:spPr>
        <p:txBody>
          <a:bodyPr wrap="square" lIns="0" tIns="0" rIns="0" bIns="0" rtlCol="0" anchor="ctr"/>
          <a:lstStyle/>
          <a:p>
            <a:pPr indent="0" marL="0">
              <a:lnSpc>
                <a:spcPct val="100000"/>
              </a:lnSpc>
              <a:buNone/>
            </a:pPr>
            <a:r>
              <a:rPr lang="en-US" sz="1200" b="1" dirty="0">
                <a:solidFill>
                  <a:srgbClr val="5B4C9E"/>
                </a:solidFill>
                <a:latin typeface="Malgun Gothic" pitchFamily="34" charset="0"/>
                <a:ea typeface="Malgun Gothic" pitchFamily="34" charset="-122"/>
                <a:cs typeface="Malgun Gothic" pitchFamily="34" charset="-120"/>
              </a:rPr>
              <a:t>재작곡  </a:t>
            </a:r>
            <a:pPr indent="0" marL="0">
              <a:lnSpc>
                <a:spcPct val="100000"/>
              </a:lnSpc>
              <a:buNone/>
            </a:pPr>
            <a:r>
              <a:rPr lang="en-US" sz="950" dirty="0">
                <a:solidFill>
                  <a:srgbClr val="59607A"/>
                </a:solidFill>
                <a:latin typeface="Malgun Gothic" pitchFamily="34" charset="0"/>
                <a:ea typeface="Malgun Gothic" pitchFamily="34" charset="-122"/>
                <a:cs typeface="Malgun Gothic" pitchFamily="34" charset="-120"/>
              </a:rPr>
              <a:t>부딪히는 음을 고쳐 다시 녹음한다</a:t>
            </a:r>
            <a:endParaRPr lang="en-US" sz="1200" dirty="0"/>
          </a:p>
        </p:txBody>
      </p:sp>
      <p:sp>
        <p:nvSpPr>
          <p:cNvPr id="22" name="Shape 17"/>
          <p:cNvSpPr/>
          <p:nvPr/>
        </p:nvSpPr>
        <p:spPr>
          <a:xfrm>
            <a:off x="7498080" y="1463040"/>
            <a:ext cx="4142232" cy="2926080"/>
          </a:xfrm>
          <a:prstGeom prst="roundRect">
            <a:avLst>
              <a:gd name="adj" fmla="val 3125"/>
            </a:avLst>
          </a:prstGeom>
          <a:solidFill>
            <a:srgbClr val="FFFFFF"/>
          </a:solidFill>
          <a:ln w="12700">
            <a:solidFill>
              <a:srgbClr val="5B4C9E"/>
            </a:solidFill>
            <a:prstDash val="solid"/>
          </a:ln>
        </p:spPr>
      </p:sp>
      <p:sp>
        <p:nvSpPr>
          <p:cNvPr id="23" name="Shape 18"/>
          <p:cNvSpPr/>
          <p:nvPr/>
        </p:nvSpPr>
        <p:spPr>
          <a:xfrm>
            <a:off x="7498080" y="1463040"/>
            <a:ext cx="82296" cy="2926080"/>
          </a:xfrm>
          <a:prstGeom prst="roundRect">
            <a:avLst>
              <a:gd name="adj" fmla="val 44444"/>
            </a:avLst>
          </a:prstGeom>
          <a:solidFill>
            <a:srgbClr val="5B4C9E"/>
          </a:solidFill>
          <a:ln/>
        </p:spPr>
      </p:sp>
      <p:sp>
        <p:nvSpPr>
          <p:cNvPr id="24" name="Text 19"/>
          <p:cNvSpPr/>
          <p:nvPr/>
        </p:nvSpPr>
        <p:spPr>
          <a:xfrm>
            <a:off x="7754112" y="1554480"/>
            <a:ext cx="3685032" cy="274320"/>
          </a:xfrm>
          <a:prstGeom prst="rect">
            <a:avLst/>
          </a:prstGeom>
          <a:noFill/>
          <a:ln/>
        </p:spPr>
        <p:txBody>
          <a:bodyPr wrap="square" lIns="0" tIns="0" rIns="0" bIns="0" rtlCol="0" anchor="ctr"/>
          <a:lstStyle/>
          <a:p>
            <a:pPr indent="0" marL="0">
              <a:buNone/>
            </a:pPr>
            <a:r>
              <a:rPr lang="en-US" sz="1150" b="1" dirty="0">
                <a:solidFill>
                  <a:srgbClr val="5B4C9E"/>
                </a:solidFill>
                <a:latin typeface="Malgun Gothic" pitchFamily="34" charset="0"/>
                <a:ea typeface="Malgun Gothic" pitchFamily="34" charset="-122"/>
                <a:cs typeface="Malgun Gothic" pitchFamily="34" charset="-120"/>
              </a:rPr>
              <a:t>수업 장면 · 리코더 합주</a:t>
            </a:r>
            <a:endParaRPr lang="en-US" sz="1150" dirty="0"/>
          </a:p>
        </p:txBody>
      </p:sp>
      <p:sp>
        <p:nvSpPr>
          <p:cNvPr id="25" name="Text 20"/>
          <p:cNvSpPr/>
          <p:nvPr/>
        </p:nvSpPr>
        <p:spPr>
          <a:xfrm>
            <a:off x="7754112" y="1847088"/>
            <a:ext cx="3648456" cy="2450592"/>
          </a:xfrm>
          <a:prstGeom prst="rect">
            <a:avLst/>
          </a:prstGeom>
          <a:noFill/>
          <a:ln/>
        </p:spPr>
        <p:txBody>
          <a:bodyPr wrap="square" lIns="0" tIns="0" rIns="0" bIns="0" rtlCol="0" anchor="t"/>
          <a:lstStyle/>
          <a:p>
            <a:pPr algn="l" indent="0" marL="0">
              <a:lnSpc>
                <a:spcPct val="104000"/>
              </a:lnSpc>
              <a:spcAft>
                <a:spcPts val="500"/>
              </a:spcAft>
              <a:buNone/>
            </a:pPr>
            <a:r>
              <a:rPr lang="en-US" sz="1150" dirty="0">
                <a:solidFill>
                  <a:srgbClr val="343A4D"/>
                </a:solidFill>
                <a:latin typeface="Malgun Gothic" pitchFamily="34" charset="0"/>
                <a:ea typeface="Malgun Gothic" pitchFamily="34" charset="-122"/>
                <a:cs typeface="Malgun Gothic" pitchFamily="34" charset="-120"/>
              </a:rPr>
              <a:t>학생이 AI에게 8마디 반주를 받았다.</a:t>
            </a:r>
            <a:endParaRPr lang="en-US" sz="1150" dirty="0"/>
          </a:p>
          <a:p>
            <a:pPr algn="l" indent="0" marL="0">
              <a:lnSpc>
                <a:spcPct val="104000"/>
              </a:lnSpc>
              <a:spcAft>
                <a:spcPts val="500"/>
              </a:spcAft>
              <a:buNone/>
            </a:pPr>
            <a:r>
              <a:rPr lang="en-US" sz="1150" i="1" dirty="0">
                <a:solidFill>
                  <a:srgbClr val="5B4C9E"/>
                </a:solidFill>
                <a:latin typeface="Malgun Gothic" pitchFamily="34" charset="0"/>
                <a:ea typeface="Malgun Gothic" pitchFamily="34" charset="-122"/>
                <a:cs typeface="Malgun Gothic" pitchFamily="34" charset="-120"/>
              </a:rPr>
              <a:t>교사: “2마디째 화성이 네 멜로디와 부딪히는데, 귀로 확인해 볼까?”</a:t>
            </a:r>
            <a:endParaRPr lang="en-US" sz="1150" dirty="0"/>
          </a:p>
          <a:p>
            <a:pPr algn="l" indent="0" marL="0">
              <a:lnSpc>
                <a:spcPct val="104000"/>
              </a:lnSpc>
              <a:spcAft>
                <a:spcPts val="500"/>
              </a:spcAft>
              <a:buNone/>
            </a:pPr>
            <a:r>
              <a:rPr lang="en-US" sz="1150" dirty="0">
                <a:solidFill>
                  <a:srgbClr val="343A4D"/>
                </a:solidFill>
                <a:latin typeface="Malgun Gothic" pitchFamily="34" charset="0"/>
                <a:ea typeface="Malgun Gothic" pitchFamily="34" charset="-122"/>
                <a:cs typeface="Malgun Gothic" pitchFamily="34" charset="-120"/>
              </a:rPr>
              <a:t>학생이 파♯을 파로 고쳐 다시 녹음한다.</a:t>
            </a:r>
            <a:endParaRPr lang="en-US" sz="1150" dirty="0"/>
          </a:p>
          <a:p>
            <a:pPr algn="l" indent="0" marL="0">
              <a:lnSpc>
                <a:spcPct val="104000"/>
              </a:lnSpc>
              <a:spcAft>
                <a:spcPts val="600"/>
              </a:spcAft>
              <a:buNone/>
            </a:pPr>
            <a:r>
              <a:rPr lang="en-US" sz="1150" b="1" dirty="0">
                <a:solidFill>
                  <a:srgbClr val="343A4D"/>
                </a:solidFill>
                <a:latin typeface="Malgun Gothic" pitchFamily="34" charset="0"/>
                <a:ea typeface="Malgun Gothic" pitchFamily="34" charset="-122"/>
                <a:cs typeface="Malgun Gothic" pitchFamily="34" charset="-120"/>
              </a:rPr>
              <a:t>평가 기록: 수정 전후 녹음 2개 + 고친 이유 한 줄.</a:t>
            </a:r>
            <a:endParaRPr lang="en-US" sz="1150" dirty="0"/>
          </a:p>
        </p:txBody>
      </p:sp>
      <p:sp>
        <p:nvSpPr>
          <p:cNvPr id="26" name="Shape 21"/>
          <p:cNvSpPr/>
          <p:nvPr/>
        </p:nvSpPr>
        <p:spPr>
          <a:xfrm>
            <a:off x="7498080" y="4553712"/>
            <a:ext cx="4142232" cy="1389888"/>
          </a:xfrm>
          <a:prstGeom prst="roundRect">
            <a:avLst>
              <a:gd name="adj" fmla="val 6579"/>
            </a:avLst>
          </a:prstGeom>
          <a:solidFill>
            <a:srgbClr val="FBF1DC"/>
          </a:solidFill>
          <a:ln/>
          <a:effectLst>
            <a:outerShdw sx="100000" sy="100000" kx="0" ky="0" algn="bl" rotWithShape="0" blurRad="114300" dist="25400" dir="5400000">
              <a:srgbClr val="9AA2B8">
                <a:alpha val="20000"/>
              </a:srgbClr>
            </a:outerShdw>
          </a:effectLst>
        </p:spPr>
      </p:sp>
      <p:sp>
        <p:nvSpPr>
          <p:cNvPr id="27" name="Text 22"/>
          <p:cNvSpPr/>
          <p:nvPr/>
        </p:nvSpPr>
        <p:spPr>
          <a:xfrm>
            <a:off x="7735824" y="4553712"/>
            <a:ext cx="3703320" cy="1389888"/>
          </a:xfrm>
          <a:prstGeom prst="rect">
            <a:avLst/>
          </a:prstGeom>
          <a:noFill/>
          <a:ln/>
        </p:spPr>
        <p:txBody>
          <a:bodyPr wrap="square" lIns="0" tIns="0" rIns="0" bIns="0" rtlCol="0" anchor="ctr"/>
          <a:lstStyle/>
          <a:p>
            <a:pPr indent="0" marL="0">
              <a:lnSpc>
                <a:spcPct val="108000"/>
              </a:lnSpc>
              <a:buNone/>
            </a:pPr>
            <a:r>
              <a:rPr lang="en-US" sz="1250" b="1" dirty="0">
                <a:solidFill>
                  <a:srgbClr val="B8801F"/>
                </a:solidFill>
                <a:latin typeface="Malgun Gothic" pitchFamily="34" charset="0"/>
                <a:ea typeface="Malgun Gothic" pitchFamily="34" charset="-122"/>
                <a:cs typeface="Malgun Gothic" pitchFamily="34" charset="-120"/>
              </a:rPr>
              <a:t>환류 발문  </a:t>
            </a:r>
            <a:pPr indent="0" marL="0">
              <a:lnSpc>
                <a:spcPct val="108000"/>
              </a:lnSpc>
              <a:buNone/>
            </a:pPr>
            <a:r>
              <a:rPr lang="en-US" sz="1150" dirty="0">
                <a:solidFill>
                  <a:srgbClr val="343A4D"/>
                </a:solidFill>
                <a:latin typeface="Malgun Gothic" pitchFamily="34" charset="0"/>
                <a:ea typeface="Malgun Gothic" pitchFamily="34" charset="-122"/>
                <a:cs typeface="Malgun Gothic" pitchFamily="34" charset="-120"/>
              </a:rPr>
              <a:t>“AI가 준 화성 중 네 귀로 확인해 바꾼 부분은 어디야?” 검증하고 수정한 과정을 평가 증거로 본다.</a:t>
            </a:r>
            <a:endParaRPr lang="en-US" sz="1250" dirty="0"/>
          </a:p>
        </p:txBody>
      </p:sp>
      <p:sp>
        <p:nvSpPr>
          <p:cNvPr id="28" name="Text 23"/>
          <p:cNvSpPr/>
          <p:nvPr/>
        </p:nvSpPr>
        <p:spPr>
          <a:xfrm>
            <a:off x="566928" y="6053328"/>
            <a:ext cx="11064240" cy="310896"/>
          </a:xfrm>
          <a:prstGeom prst="rect">
            <a:avLst/>
          </a:prstGeom>
          <a:noFill/>
          <a:ln/>
        </p:spPr>
        <p:txBody>
          <a:bodyPr wrap="square" lIns="0" tIns="0" rIns="0" bIns="0" rtlCol="0" anchor="ctr"/>
          <a:lstStyle/>
          <a:p>
            <a:pPr indent="0" marL="0">
              <a:buNone/>
            </a:pPr>
            <a:r>
              <a:rPr lang="en-US" sz="900" b="1" dirty="0">
                <a:solidFill>
                  <a:srgbClr val="59607A"/>
                </a:solidFill>
                <a:latin typeface="Malgun Gothic" pitchFamily="34" charset="0"/>
                <a:ea typeface="Malgun Gothic" pitchFamily="34" charset="-122"/>
                <a:cs typeface="Malgun Gothic" pitchFamily="34" charset="-120"/>
              </a:rPr>
              <a:t>출처 · </a:t>
            </a:r>
            <a:pPr indent="0" marL="0">
              <a:buNone/>
            </a:pPr>
            <a:r>
              <a:rPr lang="en-US" sz="900" u="sng" dirty="0">
                <a:solidFill>
                  <a:srgbClr val="2E4A85"/>
                </a:solidFill>
                <a:latin typeface="Malgun Gothic" pitchFamily="34" charset="0"/>
                <a:ea typeface="Malgun Gothic" pitchFamily="34" charset="-122"/>
                <a:cs typeface="Malgun Gothic" pitchFamily="34" charset="-120"/>
                <a:hlinkClick r:id="rId4" invalidUrl="" action="" tgtFrame="" tooltip="" history="1" highlightClick="0" endSnd="0">
                  <a:extLst>
                    <a:ext uri="{A12FA001-AC4F-418D-AE19-62706E023703}">
                      <ahyp:hlinkClr xmlns:ahyp="http://schemas.microsoft.com/office/drawing/2018/hyperlinkcolor" val="tx"/>
                    </a:ext>
                  </a:extLst>
                </a:hlinkClick>
              </a:rPr>
              <a:t>Education and Information Technologies 29(16) · DOI 10.1007/s10639-024-12705-z</a:t>
            </a:r>
            <a:endParaRPr lang="en-US" sz="900" dirty="0"/>
          </a:p>
        </p:txBody>
      </p:sp>
      <p:sp>
        <p:nvSpPr>
          <p:cNvPr id="29" name="Text 24"/>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30" name="Text 25"/>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5B4C9E"/>
                </a:solidFill>
                <a:latin typeface="Malgun Gothic" pitchFamily="34" charset="0"/>
                <a:ea typeface="Malgun Gothic" pitchFamily="34" charset="-122"/>
                <a:cs typeface="Malgun Gothic" pitchFamily="34" charset="-120"/>
              </a:rPr>
              <a:t>PART 2 · 음악 ②</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AI 연습 도구와 자기조절학습</a:t>
            </a:r>
            <a:endParaRPr lang="en-US" sz="2400" dirty="0"/>
          </a:p>
        </p:txBody>
      </p:sp>
      <p:sp>
        <p:nvSpPr>
          <p:cNvPr id="4" name="Shape 2"/>
          <p:cNvSpPr/>
          <p:nvPr/>
        </p:nvSpPr>
        <p:spPr>
          <a:xfrm>
            <a:off x="10753344" y="402336"/>
            <a:ext cx="868680" cy="310896"/>
          </a:xfrm>
          <a:prstGeom prst="roundRect">
            <a:avLst>
              <a:gd name="adj" fmla="val 50000"/>
            </a:avLst>
          </a:prstGeom>
          <a:solidFill>
            <a:srgbClr val="ECE8F8"/>
          </a:solidFill>
          <a:ln/>
        </p:spPr>
      </p:sp>
      <p:sp>
        <p:nvSpPr>
          <p:cNvPr id="5" name="Text 3"/>
          <p:cNvSpPr/>
          <p:nvPr/>
        </p:nvSpPr>
        <p:spPr>
          <a:xfrm>
            <a:off x="10753344" y="402336"/>
            <a:ext cx="868680" cy="310896"/>
          </a:xfrm>
          <a:prstGeom prst="rect">
            <a:avLst/>
          </a:prstGeom>
          <a:noFill/>
          <a:ln/>
        </p:spPr>
        <p:txBody>
          <a:bodyPr wrap="square" lIns="0" tIns="0" rIns="0" bIns="0" rtlCol="0" anchor="ctr"/>
          <a:lstStyle/>
          <a:p>
            <a:pPr algn="ctr" indent="0" marL="0">
              <a:buNone/>
            </a:pPr>
            <a:r>
              <a:rPr lang="en-US" sz="1200" b="1" dirty="0">
                <a:solidFill>
                  <a:srgbClr val="5B4C9E"/>
                </a:solidFill>
                <a:latin typeface="Malgun Gothic" pitchFamily="34" charset="0"/>
                <a:ea typeface="Malgun Gothic" pitchFamily="34" charset="-122"/>
                <a:cs typeface="Malgun Gothic" pitchFamily="34" charset="-120"/>
              </a:rPr>
              <a:t>음악</a:t>
            </a:r>
            <a:endParaRPr lang="en-US" sz="1200" dirty="0"/>
          </a:p>
        </p:txBody>
      </p:sp>
      <p:sp>
        <p:nvSpPr>
          <p:cNvPr id="6" name="Shape 4"/>
          <p:cNvSpPr/>
          <p:nvPr/>
        </p:nvSpPr>
        <p:spPr>
          <a:xfrm>
            <a:off x="566928" y="1463040"/>
            <a:ext cx="3566160" cy="1298448"/>
          </a:xfrm>
          <a:prstGeom prst="roundRect">
            <a:avLst>
              <a:gd name="adj" fmla="val 7042"/>
            </a:avLst>
          </a:prstGeom>
          <a:solidFill>
            <a:srgbClr val="ECE8F8"/>
          </a:solidFill>
          <a:ln/>
          <a:effectLst>
            <a:outerShdw sx="100000" sy="100000" kx="0" ky="0" algn="bl" rotWithShape="0" blurRad="114300" dist="25400" dir="5400000">
              <a:srgbClr val="9AA2B8">
                <a:alpha val="20000"/>
              </a:srgbClr>
            </a:outerShdw>
          </a:effectLst>
        </p:spPr>
      </p:sp>
      <p:sp>
        <p:nvSpPr>
          <p:cNvPr id="7" name="Text 5"/>
          <p:cNvSpPr/>
          <p:nvPr/>
        </p:nvSpPr>
        <p:spPr>
          <a:xfrm>
            <a:off x="786384" y="1572768"/>
            <a:ext cx="3108960" cy="347472"/>
          </a:xfrm>
          <a:prstGeom prst="rect">
            <a:avLst/>
          </a:prstGeom>
          <a:noFill/>
          <a:ln/>
        </p:spPr>
        <p:txBody>
          <a:bodyPr wrap="square" lIns="0" tIns="0" rIns="0" bIns="0" rtlCol="0" anchor="ctr"/>
          <a:lstStyle/>
          <a:p>
            <a:pPr indent="0" marL="0">
              <a:buNone/>
            </a:pPr>
            <a:r>
              <a:rPr lang="en-US" sz="1400" b="1" dirty="0">
                <a:solidFill>
                  <a:srgbClr val="5B4C9E"/>
                </a:solidFill>
                <a:latin typeface="Malgun Gothic" pitchFamily="34" charset="0"/>
                <a:ea typeface="Malgun Gothic" pitchFamily="34" charset="-122"/>
                <a:cs typeface="Malgun Gothic" pitchFamily="34" charset="-120"/>
              </a:rPr>
              <a:t>자기효능감</a:t>
            </a:r>
            <a:endParaRPr lang="en-US" sz="1400" dirty="0"/>
          </a:p>
        </p:txBody>
      </p:sp>
      <p:sp>
        <p:nvSpPr>
          <p:cNvPr id="8" name="Text 6"/>
          <p:cNvSpPr/>
          <p:nvPr/>
        </p:nvSpPr>
        <p:spPr>
          <a:xfrm>
            <a:off x="786384" y="1920240"/>
            <a:ext cx="3154680" cy="768096"/>
          </a:xfrm>
          <a:prstGeom prst="rect">
            <a:avLst/>
          </a:prstGeom>
          <a:noFill/>
          <a:ln/>
        </p:spPr>
        <p:txBody>
          <a:bodyPr wrap="square" lIns="0" tIns="0" rIns="0" bIns="0" rtlCol="0" anchor="t"/>
          <a:lstStyle/>
          <a:p>
            <a:pPr indent="0" marL="0">
              <a:lnSpc>
                <a:spcPct val="104000"/>
              </a:lnSpc>
              <a:buNone/>
            </a:pPr>
            <a:r>
              <a:rPr lang="en-US" sz="1100" dirty="0">
                <a:solidFill>
                  <a:srgbClr val="59607A"/>
                </a:solidFill>
                <a:latin typeface="Malgun Gothic" pitchFamily="34" charset="0"/>
                <a:ea typeface="Malgun Gothic" pitchFamily="34" charset="-122"/>
                <a:cs typeface="Malgun Gothic" pitchFamily="34" charset="-120"/>
              </a:rPr>
              <a:t>‘나도 할 수 있다’는 감각이 반복 피드백으로 상승</a:t>
            </a:r>
            <a:endParaRPr lang="en-US" sz="1100" dirty="0"/>
          </a:p>
        </p:txBody>
      </p:sp>
      <p:sp>
        <p:nvSpPr>
          <p:cNvPr id="9" name="Shape 7"/>
          <p:cNvSpPr/>
          <p:nvPr/>
        </p:nvSpPr>
        <p:spPr>
          <a:xfrm>
            <a:off x="4242816" y="1463040"/>
            <a:ext cx="3566160" cy="1298448"/>
          </a:xfrm>
          <a:prstGeom prst="roundRect">
            <a:avLst>
              <a:gd name="adj" fmla="val 7042"/>
            </a:avLst>
          </a:prstGeom>
          <a:solidFill>
            <a:srgbClr val="ECE8F8"/>
          </a:solidFill>
          <a:ln/>
          <a:effectLst>
            <a:outerShdw sx="100000" sy="100000" kx="0" ky="0" algn="bl" rotWithShape="0" blurRad="114300" dist="25400" dir="5400000">
              <a:srgbClr val="9AA2B8">
                <a:alpha val="20000"/>
              </a:srgbClr>
            </a:outerShdw>
          </a:effectLst>
        </p:spPr>
      </p:sp>
      <p:sp>
        <p:nvSpPr>
          <p:cNvPr id="10" name="Text 8"/>
          <p:cNvSpPr/>
          <p:nvPr/>
        </p:nvSpPr>
        <p:spPr>
          <a:xfrm>
            <a:off x="4462272" y="1572768"/>
            <a:ext cx="3108960" cy="347472"/>
          </a:xfrm>
          <a:prstGeom prst="rect">
            <a:avLst/>
          </a:prstGeom>
          <a:noFill/>
          <a:ln/>
        </p:spPr>
        <p:txBody>
          <a:bodyPr wrap="square" lIns="0" tIns="0" rIns="0" bIns="0" rtlCol="0" anchor="ctr"/>
          <a:lstStyle/>
          <a:p>
            <a:pPr indent="0" marL="0">
              <a:buNone/>
            </a:pPr>
            <a:r>
              <a:rPr lang="en-US" sz="1400" b="1" dirty="0">
                <a:solidFill>
                  <a:srgbClr val="5B4C9E"/>
                </a:solidFill>
                <a:latin typeface="Malgun Gothic" pitchFamily="34" charset="0"/>
                <a:ea typeface="Malgun Gothic" pitchFamily="34" charset="-122"/>
                <a:cs typeface="Malgun Gothic" pitchFamily="34" charset="-120"/>
              </a:rPr>
              <a:t>자기조절학습</a:t>
            </a:r>
            <a:endParaRPr lang="en-US" sz="1400" dirty="0"/>
          </a:p>
        </p:txBody>
      </p:sp>
      <p:sp>
        <p:nvSpPr>
          <p:cNvPr id="11" name="Text 9"/>
          <p:cNvSpPr/>
          <p:nvPr/>
        </p:nvSpPr>
        <p:spPr>
          <a:xfrm>
            <a:off x="4462272" y="1920240"/>
            <a:ext cx="3154680" cy="768096"/>
          </a:xfrm>
          <a:prstGeom prst="rect">
            <a:avLst/>
          </a:prstGeom>
          <a:noFill/>
          <a:ln/>
        </p:spPr>
        <p:txBody>
          <a:bodyPr wrap="square" lIns="0" tIns="0" rIns="0" bIns="0" rtlCol="0" anchor="t"/>
          <a:lstStyle/>
          <a:p>
            <a:pPr indent="0" marL="0">
              <a:lnSpc>
                <a:spcPct val="104000"/>
              </a:lnSpc>
              <a:buNone/>
            </a:pPr>
            <a:r>
              <a:rPr lang="en-US" sz="1100" dirty="0">
                <a:solidFill>
                  <a:srgbClr val="59607A"/>
                </a:solidFill>
                <a:latin typeface="Malgun Gothic" pitchFamily="34" charset="0"/>
                <a:ea typeface="Malgun Gothic" pitchFamily="34" charset="-122"/>
                <a:cs typeface="Malgun Gothic" pitchFamily="34" charset="-120"/>
              </a:rPr>
              <a:t>스스로 목표를 세우고 점검하는 연습 습관 형성</a:t>
            </a:r>
            <a:endParaRPr lang="en-US" sz="1100" dirty="0"/>
          </a:p>
        </p:txBody>
      </p:sp>
      <p:sp>
        <p:nvSpPr>
          <p:cNvPr id="12" name="Shape 10"/>
          <p:cNvSpPr/>
          <p:nvPr/>
        </p:nvSpPr>
        <p:spPr>
          <a:xfrm>
            <a:off x="7918704" y="1463040"/>
            <a:ext cx="3566160" cy="1298448"/>
          </a:xfrm>
          <a:prstGeom prst="roundRect">
            <a:avLst>
              <a:gd name="adj" fmla="val 7042"/>
            </a:avLst>
          </a:prstGeom>
          <a:solidFill>
            <a:srgbClr val="ECE8F8"/>
          </a:solidFill>
          <a:ln/>
          <a:effectLst>
            <a:outerShdw sx="100000" sy="100000" kx="0" ky="0" algn="bl" rotWithShape="0" blurRad="114300" dist="25400" dir="5400000">
              <a:srgbClr val="9AA2B8">
                <a:alpha val="20000"/>
              </a:srgbClr>
            </a:outerShdw>
          </a:effectLst>
        </p:spPr>
      </p:sp>
      <p:sp>
        <p:nvSpPr>
          <p:cNvPr id="13" name="Text 11"/>
          <p:cNvSpPr/>
          <p:nvPr/>
        </p:nvSpPr>
        <p:spPr>
          <a:xfrm>
            <a:off x="8138160" y="1572768"/>
            <a:ext cx="3108960" cy="347472"/>
          </a:xfrm>
          <a:prstGeom prst="rect">
            <a:avLst/>
          </a:prstGeom>
          <a:noFill/>
          <a:ln/>
        </p:spPr>
        <p:txBody>
          <a:bodyPr wrap="square" lIns="0" tIns="0" rIns="0" bIns="0" rtlCol="0" anchor="ctr"/>
          <a:lstStyle/>
          <a:p>
            <a:pPr indent="0" marL="0">
              <a:buNone/>
            </a:pPr>
            <a:r>
              <a:rPr lang="en-US" sz="1400" b="1" dirty="0">
                <a:solidFill>
                  <a:srgbClr val="5B4C9E"/>
                </a:solidFill>
                <a:latin typeface="Malgun Gothic" pitchFamily="34" charset="0"/>
                <a:ea typeface="Malgun Gothic" pitchFamily="34" charset="-122"/>
                <a:cs typeface="Malgun Gothic" pitchFamily="34" charset="-120"/>
              </a:rPr>
              <a:t>수행</a:t>
            </a:r>
            <a:endParaRPr lang="en-US" sz="1400" dirty="0"/>
          </a:p>
        </p:txBody>
      </p:sp>
      <p:sp>
        <p:nvSpPr>
          <p:cNvPr id="14" name="Text 12"/>
          <p:cNvSpPr/>
          <p:nvPr/>
        </p:nvSpPr>
        <p:spPr>
          <a:xfrm>
            <a:off x="8138160" y="1920240"/>
            <a:ext cx="3154680" cy="768096"/>
          </a:xfrm>
          <a:prstGeom prst="rect">
            <a:avLst/>
          </a:prstGeom>
          <a:noFill/>
          <a:ln/>
        </p:spPr>
        <p:txBody>
          <a:bodyPr wrap="square" lIns="0" tIns="0" rIns="0" bIns="0" rtlCol="0" anchor="t"/>
          <a:lstStyle/>
          <a:p>
            <a:pPr indent="0" marL="0">
              <a:lnSpc>
                <a:spcPct val="104000"/>
              </a:lnSpc>
              <a:buNone/>
            </a:pPr>
            <a:r>
              <a:rPr lang="en-US" sz="1100" dirty="0">
                <a:solidFill>
                  <a:srgbClr val="59607A"/>
                </a:solidFill>
                <a:latin typeface="Malgun Gothic" pitchFamily="34" charset="0"/>
                <a:ea typeface="Malgun Gothic" pitchFamily="34" charset="-122"/>
                <a:cs typeface="Malgun Gothic" pitchFamily="34" charset="-120"/>
              </a:rPr>
              <a:t>정확도·완성도의 실제 향상</a:t>
            </a:r>
            <a:endParaRPr lang="en-US" sz="1100" dirty="0"/>
          </a:p>
        </p:txBody>
      </p:sp>
      <p:sp>
        <p:nvSpPr>
          <p:cNvPr id="15" name="Shape 13"/>
          <p:cNvSpPr/>
          <p:nvPr/>
        </p:nvSpPr>
        <p:spPr>
          <a:xfrm>
            <a:off x="566928" y="2944368"/>
            <a:ext cx="6720840" cy="2999232"/>
          </a:xfrm>
          <a:prstGeom prst="roundRect">
            <a:avLst>
              <a:gd name="adj" fmla="val 3049"/>
            </a:avLst>
          </a:prstGeom>
          <a:solidFill>
            <a:srgbClr val="FFFFFF"/>
          </a:solidFill>
          <a:ln/>
          <a:effectLst>
            <a:outerShdw sx="100000" sy="100000" kx="0" ky="0" algn="bl" rotWithShape="0" blurRad="114300" dist="25400" dir="5400000">
              <a:srgbClr val="9AA2B8">
                <a:alpha val="20000"/>
              </a:srgbClr>
            </a:outerShdw>
          </a:effectLst>
        </p:spPr>
      </p:sp>
      <p:sp>
        <p:nvSpPr>
          <p:cNvPr id="16" name="Text 14"/>
          <p:cNvSpPr/>
          <p:nvPr/>
        </p:nvSpPr>
        <p:spPr>
          <a:xfrm>
            <a:off x="822960" y="3054096"/>
            <a:ext cx="6217920" cy="310896"/>
          </a:xfrm>
          <a:prstGeom prst="rect">
            <a:avLst/>
          </a:prstGeom>
          <a:noFill/>
          <a:ln/>
        </p:spPr>
        <p:txBody>
          <a:bodyPr wrap="square" lIns="0" tIns="0" rIns="0" bIns="0" rtlCol="0" anchor="ctr"/>
          <a:lstStyle/>
          <a:p>
            <a:pPr indent="0" marL="0">
              <a:buNone/>
            </a:pPr>
            <a:r>
              <a:rPr lang="en-US" sz="1300" b="1" dirty="0">
                <a:solidFill>
                  <a:srgbClr val="5B4C9E"/>
                </a:solidFill>
                <a:latin typeface="Malgun Gothic" pitchFamily="34" charset="0"/>
                <a:ea typeface="Malgun Gothic" pitchFamily="34" charset="-122"/>
                <a:cs typeface="Malgun Gothic" pitchFamily="34" charset="-120"/>
              </a:rPr>
              <a:t>연습 로그를 성장 궤적으로 읽는다는 것</a:t>
            </a:r>
            <a:endParaRPr lang="en-US" sz="1300" dirty="0"/>
          </a:p>
        </p:txBody>
      </p:sp>
      <p:graphicFrame>
        <p:nvGraphicFramePr>
          <p:cNvPr id="17" name="Chart 0" descr=""/>
          <p:cNvGraphicFramePr/>
          <p:nvPr/>
        </p:nvGraphicFramePr>
        <p:xfrm>
          <a:off x="749808" y="3383280"/>
          <a:ext cx="6309360" cy="219456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p:nvPr/>
        </p:nvSpPr>
        <p:spPr>
          <a:xfrm>
            <a:off x="822960" y="5614416"/>
            <a:ext cx="6217920" cy="256032"/>
          </a:xfrm>
          <a:prstGeom prst="rect">
            <a:avLst/>
          </a:prstGeom>
          <a:noFill/>
          <a:ln/>
        </p:spPr>
        <p:txBody>
          <a:bodyPr wrap="square" lIns="0" tIns="0" rIns="0" bIns="0" rtlCol="0" anchor="ctr"/>
          <a:lstStyle/>
          <a:p>
            <a:pPr indent="0" marL="0">
              <a:buNone/>
            </a:pPr>
            <a:r>
              <a:rPr lang="en-US" sz="900" i="1" dirty="0">
                <a:solidFill>
                  <a:srgbClr val="99A0B4"/>
                </a:solidFill>
                <a:latin typeface="Malgun Gothic" pitchFamily="34" charset="0"/>
                <a:ea typeface="Malgun Gothic" pitchFamily="34" charset="-122"/>
                <a:cs typeface="Malgun Gothic" pitchFamily="34" charset="-120"/>
              </a:rPr>
              <a:t>※ 가상 예시 데이터. 실제로는 ⑩·⑪에서 수집한 우리 반 로그를 이 형태로 읽는다.</a:t>
            </a:r>
            <a:endParaRPr lang="en-US" sz="900" dirty="0"/>
          </a:p>
        </p:txBody>
      </p:sp>
      <p:sp>
        <p:nvSpPr>
          <p:cNvPr id="19" name="Shape 16"/>
          <p:cNvSpPr/>
          <p:nvPr/>
        </p:nvSpPr>
        <p:spPr>
          <a:xfrm>
            <a:off x="7498080" y="2944368"/>
            <a:ext cx="4142232" cy="2999232"/>
          </a:xfrm>
          <a:prstGeom prst="roundRect">
            <a:avLst>
              <a:gd name="adj" fmla="val 3049"/>
            </a:avLst>
          </a:prstGeom>
          <a:solidFill>
            <a:srgbClr val="FBF1DC"/>
          </a:solidFill>
          <a:ln/>
          <a:effectLst>
            <a:outerShdw sx="100000" sy="100000" kx="0" ky="0" algn="bl" rotWithShape="0" blurRad="114300" dist="25400" dir="5400000">
              <a:srgbClr val="9AA2B8">
                <a:alpha val="20000"/>
              </a:srgbClr>
            </a:outerShdw>
          </a:effectLst>
        </p:spPr>
      </p:sp>
      <p:sp>
        <p:nvSpPr>
          <p:cNvPr id="20" name="Text 17"/>
          <p:cNvSpPr/>
          <p:nvPr/>
        </p:nvSpPr>
        <p:spPr>
          <a:xfrm>
            <a:off x="7735824" y="3072384"/>
            <a:ext cx="3657600" cy="310896"/>
          </a:xfrm>
          <a:prstGeom prst="rect">
            <a:avLst/>
          </a:prstGeom>
          <a:noFill/>
          <a:ln/>
        </p:spPr>
        <p:txBody>
          <a:bodyPr wrap="square" lIns="0" tIns="0" rIns="0" bIns="0" rtlCol="0" anchor="ctr"/>
          <a:lstStyle/>
          <a:p>
            <a:pPr indent="0" marL="0">
              <a:buNone/>
            </a:pPr>
            <a:r>
              <a:rPr lang="en-US" sz="1300" b="1" dirty="0">
                <a:solidFill>
                  <a:srgbClr val="B8801F"/>
                </a:solidFill>
                <a:latin typeface="Malgun Gothic" pitchFamily="34" charset="0"/>
                <a:ea typeface="Malgun Gothic" pitchFamily="34" charset="-122"/>
                <a:cs typeface="Malgun Gothic" pitchFamily="34" charset="-120"/>
              </a:rPr>
              <a:t>환류 포인트</a:t>
            </a:r>
            <a:endParaRPr lang="en-US" sz="1300" dirty="0"/>
          </a:p>
        </p:txBody>
      </p:sp>
      <p:sp>
        <p:nvSpPr>
          <p:cNvPr id="21" name="Text 18"/>
          <p:cNvSpPr/>
          <p:nvPr/>
        </p:nvSpPr>
        <p:spPr>
          <a:xfrm>
            <a:off x="7735824" y="3419856"/>
            <a:ext cx="3703320" cy="2377440"/>
          </a:xfrm>
          <a:prstGeom prst="rect">
            <a:avLst/>
          </a:prstGeom>
          <a:noFill/>
          <a:ln/>
        </p:spPr>
        <p:txBody>
          <a:bodyPr wrap="square" lIns="0" tIns="0" rIns="0" bIns="0" rtlCol="0" anchor="t"/>
          <a:lstStyle/>
          <a:p>
            <a:pPr algn="l" indent="0" marL="0">
              <a:lnSpc>
                <a:spcPct val="104000"/>
              </a:lnSpc>
              <a:spcAft>
                <a:spcPts val="700"/>
              </a:spcAft>
              <a:buNone/>
            </a:pPr>
            <a:r>
              <a:rPr lang="en-US" sz="1150" dirty="0">
                <a:solidFill>
                  <a:srgbClr val="343A4D"/>
                </a:solidFill>
                <a:latin typeface="Malgun Gothic" pitchFamily="34" charset="0"/>
                <a:ea typeface="Malgun Gothic" pitchFamily="34" charset="-122"/>
                <a:cs typeface="Malgun Gothic" pitchFamily="34" charset="-120"/>
              </a:rPr>
              <a:t>연구들은 효과의 배경으로 학생이 더 오래, 더 스스로 연습하게 된 점을 지목한다.</a:t>
            </a:r>
            <a:endParaRPr lang="en-US" sz="1150" dirty="0"/>
          </a:p>
          <a:p>
            <a:pPr algn="l" indent="0" marL="0">
              <a:lnSpc>
                <a:spcPct val="104000"/>
              </a:lnSpc>
              <a:spcAft>
                <a:spcPts val="700"/>
              </a:spcAft>
              <a:buNone/>
            </a:pPr>
            <a:r>
              <a:rPr lang="en-US" sz="1150" dirty="0">
                <a:solidFill>
                  <a:srgbClr val="343A4D"/>
                </a:solidFill>
                <a:latin typeface="Malgun Gothic" pitchFamily="34" charset="0"/>
                <a:ea typeface="Malgun Gothic" pitchFamily="34" charset="-122"/>
                <a:cs typeface="Malgun Gothic" pitchFamily="34" charset="-120"/>
              </a:rPr>
              <a:t>그래서 로그는 성장 궤적으로 읽는다. 왼쪽 그래프라면 4주차의 도약이 개별 피드백의 출발점이 된다.</a:t>
            </a:r>
            <a:endParaRPr lang="en-US" sz="1150" dirty="0"/>
          </a:p>
          <a:p>
            <a:pPr algn="l" indent="0" marL="0">
              <a:lnSpc>
                <a:spcPct val="104000"/>
              </a:lnSpc>
              <a:spcAft>
                <a:spcPts val="600"/>
              </a:spcAft>
              <a:buNone/>
            </a:pPr>
            <a:r>
              <a:rPr lang="en-US" sz="1150" b="1" i="1" dirty="0">
                <a:solidFill>
                  <a:srgbClr val="343A4D"/>
                </a:solidFill>
                <a:latin typeface="Malgun Gothic" pitchFamily="34" charset="0"/>
                <a:ea typeface="Malgun Gothic" pitchFamily="34" charset="-122"/>
                <a:cs typeface="Malgun Gothic" pitchFamily="34" charset="-120"/>
              </a:rPr>
              <a:t>발문: “이 학생은 어디서 막혔고, 어떤 구간을 스스로 반복했는가?”</a:t>
            </a:r>
            <a:endParaRPr lang="en-US" sz="1150" dirty="0"/>
          </a:p>
        </p:txBody>
      </p:sp>
      <p:sp>
        <p:nvSpPr>
          <p:cNvPr id="22" name="Text 19"/>
          <p:cNvSpPr/>
          <p:nvPr/>
        </p:nvSpPr>
        <p:spPr>
          <a:xfrm>
            <a:off x="566928" y="6053328"/>
            <a:ext cx="11064240" cy="310896"/>
          </a:xfrm>
          <a:prstGeom prst="rect">
            <a:avLst/>
          </a:prstGeom>
          <a:noFill/>
          <a:ln/>
        </p:spPr>
        <p:txBody>
          <a:bodyPr wrap="square" lIns="0" tIns="0" rIns="0" bIns="0" rtlCol="0" anchor="ctr"/>
          <a:lstStyle/>
          <a:p>
            <a:pPr indent="0" marL="0">
              <a:buNone/>
            </a:pPr>
            <a:r>
              <a:rPr lang="en-US" sz="900" b="1" dirty="0">
                <a:solidFill>
                  <a:srgbClr val="59607A"/>
                </a:solidFill>
                <a:latin typeface="Malgun Gothic" pitchFamily="34" charset="0"/>
                <a:ea typeface="Malgun Gothic" pitchFamily="34" charset="-122"/>
                <a:cs typeface="Malgun Gothic" pitchFamily="34" charset="-120"/>
              </a:rPr>
              <a:t>출처 · </a:t>
            </a:r>
            <a:pPr indent="0" marL="0">
              <a:buNone/>
            </a:pPr>
            <a:r>
              <a:rPr lang="en-US" sz="900" u="sng" dirty="0">
                <a:solidFill>
                  <a:srgbClr val="2E4A85"/>
                </a:solidFill>
                <a:latin typeface="Malgun Gothic" pitchFamily="34" charset="0"/>
                <a:ea typeface="Malgun Gothic" pitchFamily="34" charset="-122"/>
                <a:cs typeface="Malgun Goth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AI-assisted practice &amp; self-regulated learning: PMC12557579</a:t>
            </a:r>
            <a:pPr indent="0" marL="0">
              <a:buNone/>
            </a:pPr>
            <a:r>
              <a:rPr lang="en-US" sz="900" dirty="0">
                <a:solidFill>
                  <a:srgbClr val="59607A"/>
                </a:solidFill>
                <a:latin typeface="Malgun Gothic" pitchFamily="34" charset="0"/>
                <a:ea typeface="Malgun Gothic" pitchFamily="34" charset="-122"/>
                <a:cs typeface="Malgun Gothic" pitchFamily="34" charset="-120"/>
              </a:rPr>
              <a:t>  ·  </a:t>
            </a:r>
            <a:pPr indent="0" marL="0">
              <a:buNone/>
            </a:pPr>
            <a:r>
              <a:rPr lang="en-US" sz="900" u="sng" dirty="0">
                <a:solidFill>
                  <a:srgbClr val="2E4A85"/>
                </a:solidFill>
                <a:latin typeface="Malgun Gothic" pitchFamily="34" charset="0"/>
                <a:ea typeface="Malgun Gothic" pitchFamily="34" charset="-122"/>
                <a:cs typeface="Malgun Gothic" pitchFamily="34" charset="-120"/>
                <a:hlinkClick r:id="rId3" invalidUrl="" action="" tgtFrame="" tooltip="" history="1" highlightClick="0" endSnd="0">
                  <a:extLst>
                    <a:ext uri="{A12FA001-AC4F-418D-AE19-62706E023703}">
                      <ahyp:hlinkClr xmlns:ahyp="http://schemas.microsoft.com/office/drawing/2018/hyperlinkcolor" val="tx"/>
                    </a:ext>
                  </a:extLst>
                </a:hlinkClick>
              </a:rPr>
              <a:t>개관: Arts Education Policy Review (2025) DOI 10.1080/10632913.2025.2451373</a:t>
            </a:r>
            <a:endParaRPr lang="en-US" sz="900" dirty="0"/>
          </a:p>
        </p:txBody>
      </p:sp>
      <p:sp>
        <p:nvSpPr>
          <p:cNvPr id="23" name="Text 20"/>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24" name="Text 21"/>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B15C45"/>
                </a:solidFill>
                <a:latin typeface="Malgun Gothic" pitchFamily="34" charset="0"/>
                <a:ea typeface="Malgun Gothic" pitchFamily="34" charset="-122"/>
                <a:cs typeface="Malgun Gothic" pitchFamily="34" charset="-120"/>
              </a:rPr>
              <a:t>PART 2 · 미술 ①</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생성형 AI와 창작 생산성·참신성</a:t>
            </a:r>
            <a:endParaRPr lang="en-US" sz="2400" dirty="0"/>
          </a:p>
        </p:txBody>
      </p:sp>
      <p:sp>
        <p:nvSpPr>
          <p:cNvPr id="4" name="Shape 2"/>
          <p:cNvSpPr/>
          <p:nvPr/>
        </p:nvSpPr>
        <p:spPr>
          <a:xfrm>
            <a:off x="10753344" y="402336"/>
            <a:ext cx="868680" cy="310896"/>
          </a:xfrm>
          <a:prstGeom prst="roundRect">
            <a:avLst>
              <a:gd name="adj" fmla="val 50000"/>
            </a:avLst>
          </a:prstGeom>
          <a:solidFill>
            <a:srgbClr val="FAE8E3"/>
          </a:solidFill>
          <a:ln/>
        </p:spPr>
      </p:sp>
      <p:sp>
        <p:nvSpPr>
          <p:cNvPr id="5" name="Text 3"/>
          <p:cNvSpPr/>
          <p:nvPr/>
        </p:nvSpPr>
        <p:spPr>
          <a:xfrm>
            <a:off x="10753344" y="402336"/>
            <a:ext cx="868680" cy="310896"/>
          </a:xfrm>
          <a:prstGeom prst="rect">
            <a:avLst/>
          </a:prstGeom>
          <a:noFill/>
          <a:ln/>
        </p:spPr>
        <p:txBody>
          <a:bodyPr wrap="square" lIns="0" tIns="0" rIns="0" bIns="0" rtlCol="0" anchor="ctr"/>
          <a:lstStyle/>
          <a:p>
            <a:pPr algn="ctr" indent="0" marL="0">
              <a:buNone/>
            </a:pPr>
            <a:r>
              <a:rPr lang="en-US" sz="1200" b="1" dirty="0">
                <a:solidFill>
                  <a:srgbClr val="B15C45"/>
                </a:solidFill>
                <a:latin typeface="Malgun Gothic" pitchFamily="34" charset="0"/>
                <a:ea typeface="Malgun Gothic" pitchFamily="34" charset="-122"/>
                <a:cs typeface="Malgun Gothic" pitchFamily="34" charset="-120"/>
              </a:rPr>
              <a:t>미술</a:t>
            </a:r>
            <a:endParaRPr lang="en-US" sz="1200" dirty="0"/>
          </a:p>
        </p:txBody>
      </p:sp>
      <p:sp>
        <p:nvSpPr>
          <p:cNvPr id="6" name="Shape 4"/>
          <p:cNvSpPr/>
          <p:nvPr/>
        </p:nvSpPr>
        <p:spPr>
          <a:xfrm>
            <a:off x="566928" y="1463040"/>
            <a:ext cx="3977640" cy="4480560"/>
          </a:xfrm>
          <a:prstGeom prst="roundRect">
            <a:avLst>
              <a:gd name="adj" fmla="val 2299"/>
            </a:avLst>
          </a:prstGeom>
          <a:solidFill>
            <a:srgbClr val="FAE8E3"/>
          </a:solidFill>
          <a:ln/>
          <a:effectLst>
            <a:outerShdw sx="100000" sy="100000" kx="0" ky="0" algn="bl" rotWithShape="0" blurRad="114300" dist="25400" dir="5400000">
              <a:srgbClr val="9AA2B8">
                <a:alpha val="20000"/>
              </a:srgbClr>
            </a:outerShdw>
          </a:effectLst>
        </p:spPr>
      </p:sp>
      <p:sp>
        <p:nvSpPr>
          <p:cNvPr id="7" name="Text 5"/>
          <p:cNvSpPr/>
          <p:nvPr/>
        </p:nvSpPr>
        <p:spPr>
          <a:xfrm>
            <a:off x="786384" y="1609344"/>
            <a:ext cx="3566160" cy="548640"/>
          </a:xfrm>
          <a:prstGeom prst="rect">
            <a:avLst/>
          </a:prstGeom>
          <a:noFill/>
          <a:ln/>
        </p:spPr>
        <p:txBody>
          <a:bodyPr wrap="square" lIns="0" tIns="0" rIns="0" bIns="0" rtlCol="0" anchor="t"/>
          <a:lstStyle/>
          <a:p>
            <a:pPr indent="0" marL="0">
              <a:lnSpc>
                <a:spcPct val="100000"/>
              </a:lnSpc>
              <a:buNone/>
            </a:pPr>
            <a:r>
              <a:rPr lang="en-US" sz="1300" b="1" dirty="0">
                <a:solidFill>
                  <a:srgbClr val="B15C45"/>
                </a:solidFill>
                <a:latin typeface="Malgun Gothic" pitchFamily="34" charset="0"/>
                <a:ea typeface="Malgun Gothic" pitchFamily="34" charset="-122"/>
                <a:cs typeface="Malgun Gothic" pitchFamily="34" charset="-120"/>
              </a:rPr>
              <a:t>대규모 분석 · Zhou &amp; Lee (2024)</a:t>
            </a:r>
            <a:endParaRPr lang="en-US" sz="1300" dirty="0"/>
          </a:p>
        </p:txBody>
      </p:sp>
      <p:sp>
        <p:nvSpPr>
          <p:cNvPr id="8" name="Text 6"/>
          <p:cNvSpPr/>
          <p:nvPr/>
        </p:nvSpPr>
        <p:spPr>
          <a:xfrm>
            <a:off x="786384" y="2084832"/>
            <a:ext cx="3566160" cy="292608"/>
          </a:xfrm>
          <a:prstGeom prst="rect">
            <a:avLst/>
          </a:prstGeom>
          <a:noFill/>
          <a:ln/>
        </p:spPr>
        <p:txBody>
          <a:bodyPr wrap="square" lIns="0" tIns="0" rIns="0" bIns="0" rtlCol="0" anchor="ctr"/>
          <a:lstStyle/>
          <a:p>
            <a:pPr indent="0" marL="0">
              <a:buNone/>
            </a:pPr>
            <a:r>
              <a:rPr lang="en-US" sz="1100" dirty="0">
                <a:solidFill>
                  <a:srgbClr val="59607A"/>
                </a:solidFill>
                <a:latin typeface="Malgun Gothic" pitchFamily="34" charset="0"/>
                <a:ea typeface="Malgun Gothic" pitchFamily="34" charset="-122"/>
                <a:cs typeface="Malgun Gothic" pitchFamily="34" charset="-120"/>
              </a:rPr>
              <a:t>400만+ 작품 · 5만+ 사용자</a:t>
            </a:r>
            <a:endParaRPr lang="en-US" sz="1100" dirty="0"/>
          </a:p>
        </p:txBody>
      </p:sp>
      <p:sp>
        <p:nvSpPr>
          <p:cNvPr id="9" name="Text 7"/>
          <p:cNvSpPr/>
          <p:nvPr/>
        </p:nvSpPr>
        <p:spPr>
          <a:xfrm>
            <a:off x="786384" y="2432304"/>
            <a:ext cx="3566160" cy="640080"/>
          </a:xfrm>
          <a:prstGeom prst="rect">
            <a:avLst/>
          </a:prstGeom>
          <a:noFill/>
          <a:ln/>
        </p:spPr>
        <p:txBody>
          <a:bodyPr wrap="square" lIns="0" tIns="0" rIns="0" bIns="0" rtlCol="0" anchor="ctr"/>
          <a:lstStyle/>
          <a:p>
            <a:pPr indent="0" marL="0">
              <a:buNone/>
            </a:pPr>
            <a:r>
              <a:rPr lang="en-US" sz="4000" b="1" dirty="0">
                <a:solidFill>
                  <a:srgbClr val="B15C45"/>
                </a:solidFill>
                <a:latin typeface="Malgun Gothic" pitchFamily="34" charset="0"/>
                <a:ea typeface="Malgun Gothic" pitchFamily="34" charset="-122"/>
                <a:cs typeface="Malgun Gothic" pitchFamily="34" charset="-120"/>
              </a:rPr>
              <a:t>+25%</a:t>
            </a:r>
            <a:endParaRPr lang="en-US" sz="4000" dirty="0"/>
          </a:p>
        </p:txBody>
      </p:sp>
      <p:sp>
        <p:nvSpPr>
          <p:cNvPr id="10" name="Text 8"/>
          <p:cNvSpPr/>
          <p:nvPr/>
        </p:nvSpPr>
        <p:spPr>
          <a:xfrm>
            <a:off x="786384" y="3090672"/>
            <a:ext cx="3566160" cy="274320"/>
          </a:xfrm>
          <a:prstGeom prst="rect">
            <a:avLst/>
          </a:prstGeom>
          <a:noFill/>
          <a:ln/>
        </p:spPr>
        <p:txBody>
          <a:bodyPr wrap="square" lIns="0" tIns="0" rIns="0" bIns="0" rtlCol="0" anchor="ctr"/>
          <a:lstStyle/>
          <a:p>
            <a:pPr indent="0" marL="0">
              <a:buNone/>
            </a:pPr>
            <a:r>
              <a:rPr lang="en-US" sz="1150" dirty="0">
                <a:solidFill>
                  <a:srgbClr val="343A4D"/>
                </a:solidFill>
                <a:latin typeface="Malgun Gothic" pitchFamily="34" charset="0"/>
                <a:ea typeface="Malgun Gothic" pitchFamily="34" charset="-122"/>
                <a:cs typeface="Malgun Gothic" pitchFamily="34" charset="-120"/>
              </a:rPr>
              <a:t>창작 생산성 증가</a:t>
            </a:r>
            <a:endParaRPr lang="en-US" sz="1150" dirty="0"/>
          </a:p>
        </p:txBody>
      </p:sp>
      <p:sp>
        <p:nvSpPr>
          <p:cNvPr id="11" name="Text 9"/>
          <p:cNvSpPr/>
          <p:nvPr/>
        </p:nvSpPr>
        <p:spPr>
          <a:xfrm>
            <a:off x="786384" y="3419856"/>
            <a:ext cx="3566160" cy="640080"/>
          </a:xfrm>
          <a:prstGeom prst="rect">
            <a:avLst/>
          </a:prstGeom>
          <a:noFill/>
          <a:ln/>
        </p:spPr>
        <p:txBody>
          <a:bodyPr wrap="square" lIns="0" tIns="0" rIns="0" bIns="0" rtlCol="0" anchor="ctr"/>
          <a:lstStyle/>
          <a:p>
            <a:pPr indent="0" marL="0">
              <a:buNone/>
            </a:pPr>
            <a:r>
              <a:rPr lang="en-US" sz="4000" b="1" dirty="0">
                <a:solidFill>
                  <a:srgbClr val="B15C45"/>
                </a:solidFill>
                <a:latin typeface="Malgun Gothic" pitchFamily="34" charset="0"/>
                <a:ea typeface="Malgun Gothic" pitchFamily="34" charset="-122"/>
                <a:cs typeface="Malgun Gothic" pitchFamily="34" charset="-120"/>
              </a:rPr>
              <a:t>+50%</a:t>
            </a:r>
            <a:endParaRPr lang="en-US" sz="4000" dirty="0"/>
          </a:p>
        </p:txBody>
      </p:sp>
      <p:sp>
        <p:nvSpPr>
          <p:cNvPr id="12" name="Text 10"/>
          <p:cNvSpPr/>
          <p:nvPr/>
        </p:nvSpPr>
        <p:spPr>
          <a:xfrm>
            <a:off x="786384" y="4078224"/>
            <a:ext cx="3566160" cy="274320"/>
          </a:xfrm>
          <a:prstGeom prst="rect">
            <a:avLst/>
          </a:prstGeom>
          <a:noFill/>
          <a:ln/>
        </p:spPr>
        <p:txBody>
          <a:bodyPr wrap="square" lIns="0" tIns="0" rIns="0" bIns="0" rtlCol="0" anchor="ctr"/>
          <a:lstStyle/>
          <a:p>
            <a:pPr indent="0" marL="0">
              <a:buNone/>
            </a:pPr>
            <a:r>
              <a:rPr lang="en-US" sz="1150" dirty="0">
                <a:solidFill>
                  <a:srgbClr val="343A4D"/>
                </a:solidFill>
                <a:latin typeface="Malgun Gothic" pitchFamily="34" charset="0"/>
                <a:ea typeface="Malgun Gothic" pitchFamily="34" charset="-122"/>
                <a:cs typeface="Malgun Gothic" pitchFamily="34" charset="-120"/>
              </a:rPr>
              <a:t>조회당 ‘좋아요’ 가능성 증가</a:t>
            </a:r>
            <a:endParaRPr lang="en-US" sz="1150" dirty="0"/>
          </a:p>
        </p:txBody>
      </p:sp>
      <p:sp>
        <p:nvSpPr>
          <p:cNvPr id="13" name="Text 11"/>
          <p:cNvSpPr/>
          <p:nvPr/>
        </p:nvSpPr>
        <p:spPr>
          <a:xfrm>
            <a:off x="786384" y="4480560"/>
            <a:ext cx="3566160" cy="457200"/>
          </a:xfrm>
          <a:prstGeom prst="rect">
            <a:avLst/>
          </a:prstGeom>
          <a:noFill/>
          <a:ln/>
        </p:spPr>
        <p:txBody>
          <a:bodyPr wrap="square" lIns="0" tIns="0" rIns="0" bIns="0" rtlCol="0" anchor="t"/>
          <a:lstStyle/>
          <a:p>
            <a:pPr indent="0" marL="0">
              <a:lnSpc>
                <a:spcPct val="100000"/>
              </a:lnSpc>
              <a:buNone/>
            </a:pPr>
            <a:r>
              <a:rPr lang="en-US" sz="1100" i="1" dirty="0">
                <a:solidFill>
                  <a:srgbClr val="59607A"/>
                </a:solidFill>
                <a:latin typeface="Malgun Gothic" pitchFamily="34" charset="0"/>
                <a:ea typeface="Malgun Gothic" pitchFamily="34" charset="-122"/>
                <a:cs typeface="Malgun Gothic" pitchFamily="34" charset="-120"/>
              </a:rPr>
              <a:t>단, 평균 내용 참신성은 하락</a:t>
            </a:r>
            <a:endParaRPr lang="en-US" sz="1100" dirty="0"/>
          </a:p>
        </p:txBody>
      </p:sp>
      <p:sp>
        <p:nvSpPr>
          <p:cNvPr id="14" name="Shape 12"/>
          <p:cNvSpPr/>
          <p:nvPr/>
        </p:nvSpPr>
        <p:spPr>
          <a:xfrm>
            <a:off x="4754880" y="1463040"/>
            <a:ext cx="6885432" cy="1810512"/>
          </a:xfrm>
          <a:prstGeom prst="roundRect">
            <a:avLst>
              <a:gd name="adj" fmla="val 5051"/>
            </a:avLst>
          </a:prstGeom>
          <a:solidFill>
            <a:srgbClr val="FFFFFF"/>
          </a:solidFill>
          <a:ln/>
          <a:effectLst>
            <a:outerShdw sx="100000" sy="100000" kx="0" ky="0" algn="bl" rotWithShape="0" blurRad="114300" dist="25400" dir="5400000">
              <a:srgbClr val="9AA2B8">
                <a:alpha val="20000"/>
              </a:srgbClr>
            </a:outerShdw>
          </a:effectLst>
        </p:spPr>
      </p:sp>
      <p:sp>
        <p:nvSpPr>
          <p:cNvPr id="15" name="Text 13"/>
          <p:cNvSpPr/>
          <p:nvPr/>
        </p:nvSpPr>
        <p:spPr>
          <a:xfrm>
            <a:off x="5010912" y="1591056"/>
            <a:ext cx="6309360" cy="310896"/>
          </a:xfrm>
          <a:prstGeom prst="rect">
            <a:avLst/>
          </a:prstGeom>
          <a:noFill/>
          <a:ln/>
        </p:spPr>
        <p:txBody>
          <a:bodyPr wrap="square" lIns="0" tIns="0" rIns="0" bIns="0" rtlCol="0" anchor="ctr"/>
          <a:lstStyle/>
          <a:p>
            <a:pPr indent="0" marL="0">
              <a:buNone/>
            </a:pPr>
            <a:r>
              <a:rPr lang="en-US" sz="1400" b="1" dirty="0">
                <a:solidFill>
                  <a:srgbClr val="B15C45"/>
                </a:solidFill>
                <a:latin typeface="Malgun Gothic" pitchFamily="34" charset="0"/>
                <a:ea typeface="Malgun Gothic" pitchFamily="34" charset="-122"/>
                <a:cs typeface="Malgun Gothic" pitchFamily="34" charset="-120"/>
              </a:rPr>
              <a:t>흥미로운 발견</a:t>
            </a:r>
            <a:endParaRPr lang="en-US" sz="1400" dirty="0"/>
          </a:p>
        </p:txBody>
      </p:sp>
      <p:sp>
        <p:nvSpPr>
          <p:cNvPr id="16" name="Text 14"/>
          <p:cNvSpPr/>
          <p:nvPr/>
        </p:nvSpPr>
        <p:spPr>
          <a:xfrm>
            <a:off x="5010912" y="1938528"/>
            <a:ext cx="6355080" cy="1243584"/>
          </a:xfrm>
          <a:prstGeom prst="rect">
            <a:avLst/>
          </a:prstGeom>
          <a:noFill/>
          <a:ln/>
        </p:spPr>
        <p:txBody>
          <a:bodyPr wrap="square" lIns="0" tIns="0" rIns="0" bIns="0" rtlCol="0" anchor="t"/>
          <a:lstStyle/>
          <a:p>
            <a:pPr algn="l" indent="0" marL="0">
              <a:lnSpc>
                <a:spcPct val="104000"/>
              </a:lnSpc>
              <a:spcAft>
                <a:spcPts val="600"/>
              </a:spcAft>
              <a:buNone/>
            </a:pPr>
            <a:r>
              <a:rPr lang="en-US" sz="1150" dirty="0">
                <a:solidFill>
                  <a:srgbClr val="343A4D"/>
                </a:solidFill>
                <a:latin typeface="Malgun Gothic" pitchFamily="34" charset="0"/>
                <a:ea typeface="Malgun Gothic" pitchFamily="34" charset="-122"/>
                <a:cs typeface="Malgun Gothic" pitchFamily="34" charset="-120"/>
              </a:rPr>
              <a:t>실행(execution)이 값싸지자 병목이 ‘무엇을 만들까(발상)’로 옮겨 갔다. 참신한 아이디어를 탐색하고 쏟아지는 결과물을 골라내는(filtering) 사람일수록 동료 평가가 더 좋았다. 무엇에 가치를 둘지는 사람의 판단이 결정한다.</a:t>
            </a:r>
            <a:endParaRPr lang="en-US" sz="1150" dirty="0"/>
          </a:p>
        </p:txBody>
      </p:sp>
      <p:sp>
        <p:nvSpPr>
          <p:cNvPr id="17" name="Shape 15"/>
          <p:cNvSpPr/>
          <p:nvPr/>
        </p:nvSpPr>
        <p:spPr>
          <a:xfrm>
            <a:off x="4754880" y="3401568"/>
            <a:ext cx="6885432" cy="1170432"/>
          </a:xfrm>
          <a:prstGeom prst="roundRect">
            <a:avLst>
              <a:gd name="adj" fmla="val 7813"/>
            </a:avLst>
          </a:prstGeom>
          <a:solidFill>
            <a:srgbClr val="FFFFFF"/>
          </a:solidFill>
          <a:ln/>
          <a:effectLst>
            <a:outerShdw sx="100000" sy="100000" kx="0" ky="0" algn="bl" rotWithShape="0" blurRad="114300" dist="25400" dir="5400000">
              <a:srgbClr val="9AA2B8">
                <a:alpha val="20000"/>
              </a:srgbClr>
            </a:outerShdw>
          </a:effectLst>
        </p:spPr>
      </p:sp>
      <p:sp>
        <p:nvSpPr>
          <p:cNvPr id="18" name="Text 16"/>
          <p:cNvSpPr/>
          <p:nvPr/>
        </p:nvSpPr>
        <p:spPr>
          <a:xfrm>
            <a:off x="5010912" y="3474720"/>
            <a:ext cx="6400800" cy="274320"/>
          </a:xfrm>
          <a:prstGeom prst="rect">
            <a:avLst/>
          </a:prstGeom>
          <a:noFill/>
          <a:ln/>
        </p:spPr>
        <p:txBody>
          <a:bodyPr wrap="square" lIns="0" tIns="0" rIns="0" bIns="0" rtlCol="0" anchor="ctr"/>
          <a:lstStyle/>
          <a:p>
            <a:pPr indent="0" marL="0">
              <a:buNone/>
            </a:pPr>
            <a:r>
              <a:rPr lang="en-US" sz="1100" b="1" dirty="0">
                <a:solidFill>
                  <a:srgbClr val="B15C45"/>
                </a:solidFill>
                <a:latin typeface="Malgun Gothic" pitchFamily="34" charset="0"/>
                <a:ea typeface="Malgun Gothic" pitchFamily="34" charset="-122"/>
                <a:cs typeface="Malgun Gothic" pitchFamily="34" charset="-120"/>
              </a:rPr>
              <a:t>수업에서는 이렇게 보인다: 시안 6장 중 1장을 고르고, 이유를 남긴다</a:t>
            </a:r>
            <a:endParaRPr lang="en-US" sz="1100" dirty="0"/>
          </a:p>
        </p:txBody>
      </p:sp>
      <p:sp>
        <p:nvSpPr>
          <p:cNvPr id="19" name="Shape 17"/>
          <p:cNvSpPr/>
          <p:nvPr/>
        </p:nvSpPr>
        <p:spPr>
          <a:xfrm>
            <a:off x="5010912" y="3803904"/>
            <a:ext cx="896112" cy="603504"/>
          </a:xfrm>
          <a:prstGeom prst="roundRect">
            <a:avLst>
              <a:gd name="adj" fmla="val 7576"/>
            </a:avLst>
          </a:prstGeom>
          <a:solidFill>
            <a:srgbClr val="F3EFEC"/>
          </a:solidFill>
          <a:ln w="12700">
            <a:solidFill>
              <a:srgbClr val="D8D2CC"/>
            </a:solidFill>
            <a:prstDash val="solid"/>
          </a:ln>
        </p:spPr>
      </p:sp>
      <p:sp>
        <p:nvSpPr>
          <p:cNvPr id="20" name="Shape 18"/>
          <p:cNvSpPr/>
          <p:nvPr/>
        </p:nvSpPr>
        <p:spPr>
          <a:xfrm>
            <a:off x="5266944" y="3931920"/>
            <a:ext cx="384048" cy="347472"/>
          </a:xfrm>
          <a:prstGeom prst="ellipse">
            <a:avLst/>
          </a:prstGeom>
          <a:solidFill>
            <a:srgbClr val="E8D8D2"/>
          </a:solidFill>
          <a:ln/>
        </p:spPr>
      </p:sp>
      <p:sp>
        <p:nvSpPr>
          <p:cNvPr id="21" name="Shape 19"/>
          <p:cNvSpPr/>
          <p:nvPr/>
        </p:nvSpPr>
        <p:spPr>
          <a:xfrm>
            <a:off x="6071616" y="3803904"/>
            <a:ext cx="896112" cy="603504"/>
          </a:xfrm>
          <a:prstGeom prst="roundRect">
            <a:avLst>
              <a:gd name="adj" fmla="val 7576"/>
            </a:avLst>
          </a:prstGeom>
          <a:solidFill>
            <a:srgbClr val="F3EFEC"/>
          </a:solidFill>
          <a:ln w="12700">
            <a:solidFill>
              <a:srgbClr val="D8D2CC"/>
            </a:solidFill>
            <a:prstDash val="solid"/>
          </a:ln>
        </p:spPr>
      </p:sp>
      <p:sp>
        <p:nvSpPr>
          <p:cNvPr id="22" name="Shape 20"/>
          <p:cNvSpPr/>
          <p:nvPr/>
        </p:nvSpPr>
        <p:spPr>
          <a:xfrm>
            <a:off x="6327648" y="3931920"/>
            <a:ext cx="384048" cy="347472"/>
          </a:xfrm>
          <a:prstGeom prst="triangle">
            <a:avLst/>
          </a:prstGeom>
          <a:solidFill>
            <a:srgbClr val="D9C4BC"/>
          </a:solidFill>
          <a:ln/>
        </p:spPr>
      </p:sp>
      <p:sp>
        <p:nvSpPr>
          <p:cNvPr id="23" name="Shape 21"/>
          <p:cNvSpPr/>
          <p:nvPr/>
        </p:nvSpPr>
        <p:spPr>
          <a:xfrm>
            <a:off x="7132320" y="3803904"/>
            <a:ext cx="896112" cy="603504"/>
          </a:xfrm>
          <a:prstGeom prst="roundRect">
            <a:avLst>
              <a:gd name="adj" fmla="val 7576"/>
            </a:avLst>
          </a:prstGeom>
          <a:solidFill>
            <a:srgbClr val="FFFFFF"/>
          </a:solidFill>
          <a:ln w="25400">
            <a:solidFill>
              <a:srgbClr val="B8801F"/>
            </a:solidFill>
            <a:prstDash val="solid"/>
          </a:ln>
        </p:spPr>
      </p:sp>
      <p:sp>
        <p:nvSpPr>
          <p:cNvPr id="24" name="Shape 22"/>
          <p:cNvSpPr/>
          <p:nvPr/>
        </p:nvSpPr>
        <p:spPr>
          <a:xfrm>
            <a:off x="7388352" y="3931920"/>
            <a:ext cx="384048" cy="347472"/>
          </a:xfrm>
          <a:prstGeom prst="rect">
            <a:avLst/>
          </a:prstGeom>
          <a:solidFill>
            <a:srgbClr val="B15C45"/>
          </a:solidFill>
          <a:ln/>
        </p:spPr>
      </p:sp>
      <p:sp>
        <p:nvSpPr>
          <p:cNvPr id="25" name="Shape 23"/>
          <p:cNvSpPr/>
          <p:nvPr/>
        </p:nvSpPr>
        <p:spPr>
          <a:xfrm>
            <a:off x="7223760" y="3675888"/>
            <a:ext cx="713232" cy="237744"/>
          </a:xfrm>
          <a:prstGeom prst="roundRect">
            <a:avLst>
              <a:gd name="adj" fmla="val 50000"/>
            </a:avLst>
          </a:prstGeom>
          <a:solidFill>
            <a:srgbClr val="B8801F"/>
          </a:solidFill>
          <a:ln/>
        </p:spPr>
      </p:sp>
      <p:sp>
        <p:nvSpPr>
          <p:cNvPr id="26" name="Text 24"/>
          <p:cNvSpPr/>
          <p:nvPr/>
        </p:nvSpPr>
        <p:spPr>
          <a:xfrm>
            <a:off x="7223760" y="3675888"/>
            <a:ext cx="7132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채택</a:t>
            </a:r>
            <a:endParaRPr lang="en-US" sz="900" dirty="0"/>
          </a:p>
        </p:txBody>
      </p:sp>
      <p:sp>
        <p:nvSpPr>
          <p:cNvPr id="27" name="Shape 25"/>
          <p:cNvSpPr/>
          <p:nvPr/>
        </p:nvSpPr>
        <p:spPr>
          <a:xfrm>
            <a:off x="8193024" y="3803904"/>
            <a:ext cx="896112" cy="603504"/>
          </a:xfrm>
          <a:prstGeom prst="roundRect">
            <a:avLst>
              <a:gd name="adj" fmla="val 7576"/>
            </a:avLst>
          </a:prstGeom>
          <a:solidFill>
            <a:srgbClr val="F3EFEC"/>
          </a:solidFill>
          <a:ln w="12700">
            <a:solidFill>
              <a:srgbClr val="D8D2CC"/>
            </a:solidFill>
            <a:prstDash val="solid"/>
          </a:ln>
        </p:spPr>
      </p:sp>
      <p:sp>
        <p:nvSpPr>
          <p:cNvPr id="28" name="Shape 26"/>
          <p:cNvSpPr/>
          <p:nvPr/>
        </p:nvSpPr>
        <p:spPr>
          <a:xfrm>
            <a:off x="8449056" y="3931920"/>
            <a:ext cx="384048" cy="347472"/>
          </a:xfrm>
          <a:prstGeom prst="ellipse">
            <a:avLst/>
          </a:prstGeom>
          <a:solidFill>
            <a:srgbClr val="E3D0C9"/>
          </a:solidFill>
          <a:ln/>
        </p:spPr>
      </p:sp>
      <p:sp>
        <p:nvSpPr>
          <p:cNvPr id="29" name="Shape 27"/>
          <p:cNvSpPr/>
          <p:nvPr/>
        </p:nvSpPr>
        <p:spPr>
          <a:xfrm>
            <a:off x="9253728" y="3803904"/>
            <a:ext cx="896112" cy="603504"/>
          </a:xfrm>
          <a:prstGeom prst="roundRect">
            <a:avLst>
              <a:gd name="adj" fmla="val 7576"/>
            </a:avLst>
          </a:prstGeom>
          <a:solidFill>
            <a:srgbClr val="F3EFEC"/>
          </a:solidFill>
          <a:ln w="12700">
            <a:solidFill>
              <a:srgbClr val="D8D2CC"/>
            </a:solidFill>
            <a:prstDash val="solid"/>
          </a:ln>
        </p:spPr>
      </p:sp>
      <p:sp>
        <p:nvSpPr>
          <p:cNvPr id="30" name="Shape 28"/>
          <p:cNvSpPr/>
          <p:nvPr/>
        </p:nvSpPr>
        <p:spPr>
          <a:xfrm>
            <a:off x="9509760" y="3931920"/>
            <a:ext cx="384048" cy="347472"/>
          </a:xfrm>
          <a:prstGeom prst="triangle">
            <a:avLst/>
          </a:prstGeom>
          <a:solidFill>
            <a:srgbClr val="EFDBD4"/>
          </a:solidFill>
          <a:ln/>
        </p:spPr>
      </p:sp>
      <p:sp>
        <p:nvSpPr>
          <p:cNvPr id="31" name="Shape 29"/>
          <p:cNvSpPr/>
          <p:nvPr/>
        </p:nvSpPr>
        <p:spPr>
          <a:xfrm>
            <a:off x="10314432" y="3803904"/>
            <a:ext cx="896112" cy="603504"/>
          </a:xfrm>
          <a:prstGeom prst="roundRect">
            <a:avLst>
              <a:gd name="adj" fmla="val 7576"/>
            </a:avLst>
          </a:prstGeom>
          <a:solidFill>
            <a:srgbClr val="F3EFEC"/>
          </a:solidFill>
          <a:ln w="12700">
            <a:solidFill>
              <a:srgbClr val="D8D2CC"/>
            </a:solidFill>
            <a:prstDash val="solid"/>
          </a:ln>
        </p:spPr>
      </p:sp>
      <p:sp>
        <p:nvSpPr>
          <p:cNvPr id="32" name="Shape 30"/>
          <p:cNvSpPr/>
          <p:nvPr/>
        </p:nvSpPr>
        <p:spPr>
          <a:xfrm>
            <a:off x="10570464" y="3931920"/>
            <a:ext cx="384048" cy="347472"/>
          </a:xfrm>
          <a:prstGeom prst="rect">
            <a:avLst/>
          </a:prstGeom>
          <a:solidFill>
            <a:srgbClr val="DCC8C1"/>
          </a:solidFill>
          <a:ln/>
        </p:spPr>
      </p:sp>
      <p:sp>
        <p:nvSpPr>
          <p:cNvPr id="33" name="Text 31"/>
          <p:cNvSpPr/>
          <p:nvPr/>
        </p:nvSpPr>
        <p:spPr>
          <a:xfrm>
            <a:off x="5010912" y="4462272"/>
            <a:ext cx="6400800" cy="237744"/>
          </a:xfrm>
          <a:prstGeom prst="rect">
            <a:avLst/>
          </a:prstGeom>
          <a:noFill/>
          <a:ln/>
        </p:spPr>
        <p:txBody>
          <a:bodyPr wrap="square" lIns="0" tIns="0" rIns="0" bIns="0" rtlCol="0" anchor="ctr"/>
          <a:lstStyle/>
          <a:p>
            <a:pPr indent="0" marL="0">
              <a:buNone/>
            </a:pPr>
            <a:r>
              <a:rPr lang="en-US" sz="950" i="1" dirty="0">
                <a:solidFill>
                  <a:srgbClr val="59607A"/>
                </a:solidFill>
                <a:latin typeface="Malgun Gothic" pitchFamily="34" charset="0"/>
                <a:ea typeface="Malgun Gothic" pitchFamily="34" charset="-122"/>
                <a:cs typeface="Malgun Gothic" pitchFamily="34" charset="-120"/>
              </a:rPr>
              <a:t>작가노트: “3번을 골랐다. 문구가 잘 보인다. 1·5번은 색이 겹쳐 버렸다.”</a:t>
            </a:r>
            <a:endParaRPr lang="en-US" sz="950" dirty="0"/>
          </a:p>
        </p:txBody>
      </p:sp>
      <p:sp>
        <p:nvSpPr>
          <p:cNvPr id="34" name="Shape 32"/>
          <p:cNvSpPr/>
          <p:nvPr/>
        </p:nvSpPr>
        <p:spPr>
          <a:xfrm>
            <a:off x="4754880" y="4700016"/>
            <a:ext cx="6885432" cy="1243584"/>
          </a:xfrm>
          <a:prstGeom prst="roundRect">
            <a:avLst>
              <a:gd name="adj" fmla="val 7353"/>
            </a:avLst>
          </a:prstGeom>
          <a:solidFill>
            <a:srgbClr val="FBF1DC"/>
          </a:solidFill>
          <a:ln/>
          <a:effectLst>
            <a:outerShdw sx="100000" sy="100000" kx="0" ky="0" algn="bl" rotWithShape="0" blurRad="114300" dist="25400" dir="5400000">
              <a:srgbClr val="9AA2B8">
                <a:alpha val="20000"/>
              </a:srgbClr>
            </a:outerShdw>
          </a:effectLst>
        </p:spPr>
      </p:sp>
      <p:sp>
        <p:nvSpPr>
          <p:cNvPr id="35" name="Text 33"/>
          <p:cNvSpPr/>
          <p:nvPr/>
        </p:nvSpPr>
        <p:spPr>
          <a:xfrm>
            <a:off x="5010912" y="4700016"/>
            <a:ext cx="6355080" cy="1243584"/>
          </a:xfrm>
          <a:prstGeom prst="rect">
            <a:avLst/>
          </a:prstGeom>
          <a:noFill/>
          <a:ln/>
        </p:spPr>
        <p:txBody>
          <a:bodyPr wrap="square" lIns="0" tIns="0" rIns="0" bIns="0" rtlCol="0" anchor="ctr"/>
          <a:lstStyle/>
          <a:p>
            <a:pPr indent="0" marL="0">
              <a:lnSpc>
                <a:spcPct val="106000"/>
              </a:lnSpc>
              <a:buNone/>
            </a:pPr>
            <a:r>
              <a:rPr lang="en-US" sz="1250" b="1" dirty="0">
                <a:solidFill>
                  <a:srgbClr val="B8801F"/>
                </a:solidFill>
                <a:latin typeface="Malgun Gothic" pitchFamily="34" charset="0"/>
                <a:ea typeface="Malgun Gothic" pitchFamily="34" charset="-122"/>
                <a:cs typeface="Malgun Gothic" pitchFamily="34" charset="-120"/>
              </a:rPr>
              <a:t>우리 수업의 환류로  </a:t>
            </a:r>
            <a:pPr indent="0" marL="0">
              <a:lnSpc>
                <a:spcPct val="106000"/>
              </a:lnSpc>
              <a:buNone/>
            </a:pPr>
            <a:r>
              <a:rPr lang="en-US" sz="1200" dirty="0">
                <a:solidFill>
                  <a:srgbClr val="59607A"/>
                </a:solidFill>
                <a:latin typeface="Malgun Gothic" pitchFamily="34" charset="0"/>
                <a:ea typeface="Malgun Gothic" pitchFamily="34" charset="-122"/>
                <a:cs typeface="Malgun Gothic" pitchFamily="34" charset="-120"/>
              </a:rPr>
              <a:t>완성도보다 </a:t>
            </a:r>
            <a:pPr indent="0" marL="0">
              <a:lnSpc>
                <a:spcPct val="106000"/>
              </a:lnSpc>
              <a:buNone/>
            </a:pPr>
            <a:r>
              <a:rPr lang="en-US" sz="1200" b="1" dirty="0">
                <a:solidFill>
                  <a:srgbClr val="343A4D"/>
                </a:solidFill>
                <a:latin typeface="Malgun Gothic" pitchFamily="34" charset="0"/>
                <a:ea typeface="Malgun Gothic" pitchFamily="34" charset="-122"/>
                <a:cs typeface="Malgun Gothic" pitchFamily="34" charset="-120"/>
              </a:rPr>
              <a:t>발상–선별–수정 과정을 평가 증거로 삼는다. </a:t>
            </a:r>
            <a:pPr indent="0" marL="0">
              <a:lnSpc>
                <a:spcPct val="106000"/>
              </a:lnSpc>
              <a:buNone/>
            </a:pPr>
            <a:r>
              <a:rPr lang="en-US" sz="1150" dirty="0">
                <a:solidFill>
                  <a:srgbClr val="59607A"/>
                </a:solidFill>
                <a:latin typeface="Malgun Gothic" pitchFamily="34" charset="0"/>
                <a:ea typeface="Malgun Gothic" pitchFamily="34" charset="-122"/>
                <a:cs typeface="Malgun Gothic" pitchFamily="34" charset="-120"/>
              </a:rPr>
              <a:t>프롬프트 수정 이력·채택/기각 시안·작가노트가 그 증거다. 발문: “왜 이걸 골랐고, 무엇을 버렸나?”</a:t>
            </a:r>
            <a:endParaRPr lang="en-US" sz="1250" dirty="0"/>
          </a:p>
        </p:txBody>
      </p:sp>
      <p:sp>
        <p:nvSpPr>
          <p:cNvPr id="36" name="Text 34"/>
          <p:cNvSpPr/>
          <p:nvPr/>
        </p:nvSpPr>
        <p:spPr>
          <a:xfrm>
            <a:off x="566928" y="6053328"/>
            <a:ext cx="11064240" cy="310896"/>
          </a:xfrm>
          <a:prstGeom prst="rect">
            <a:avLst/>
          </a:prstGeom>
          <a:noFill/>
          <a:ln/>
        </p:spPr>
        <p:txBody>
          <a:bodyPr wrap="square" lIns="0" tIns="0" rIns="0" bIns="0" rtlCol="0" anchor="ctr"/>
          <a:lstStyle/>
          <a:p>
            <a:pPr indent="0" marL="0">
              <a:buNone/>
            </a:pPr>
            <a:r>
              <a:rPr lang="en-US" sz="900" b="1" dirty="0">
                <a:solidFill>
                  <a:srgbClr val="59607A"/>
                </a:solidFill>
                <a:latin typeface="Malgun Gothic" pitchFamily="34" charset="0"/>
                <a:ea typeface="Malgun Gothic" pitchFamily="34" charset="-122"/>
                <a:cs typeface="Malgun Gothic" pitchFamily="34" charset="-120"/>
              </a:rPr>
              <a:t>출처 · </a:t>
            </a:r>
            <a:pPr indent="0" marL="0">
              <a:buNone/>
            </a:pPr>
            <a:r>
              <a:rPr lang="en-US" sz="900" u="sng" dirty="0">
                <a:solidFill>
                  <a:srgbClr val="2E4A85"/>
                </a:solidFill>
                <a:latin typeface="Malgun Gothic" pitchFamily="34" charset="0"/>
                <a:ea typeface="Malgun Gothic" pitchFamily="34" charset="-122"/>
                <a:cs typeface="Malgun Gothic" pitchFamily="34" charset="-120"/>
                <a:hlinkClick r:id="rId1" invalidUrl="" action="" tgtFrame="" tooltip="" history="1" highlightClick="0" endSnd="0">
                  <a:extLst>
                    <a:ext uri="{A12FA001-AC4F-418D-AE19-62706E023703}">
                      <ahyp:hlinkClr xmlns:ahyp="http://schemas.microsoft.com/office/drawing/2018/hyperlinkcolor" val="tx"/>
                    </a:ext>
                  </a:extLst>
                </a:hlinkClick>
              </a:rPr>
              <a:t>PNAS Nexus 3(3) pgae052 · DOI 10.1093/pnasnexus/pgae052</a:t>
            </a:r>
            <a:endParaRPr lang="en-US" sz="900" dirty="0"/>
          </a:p>
        </p:txBody>
      </p:sp>
      <p:sp>
        <p:nvSpPr>
          <p:cNvPr id="37" name="Text 35"/>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38" name="Text 36"/>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B15C45"/>
                </a:solidFill>
                <a:latin typeface="Malgun Gothic" pitchFamily="34" charset="0"/>
                <a:ea typeface="Malgun Gothic" pitchFamily="34" charset="-122"/>
                <a:cs typeface="Malgun Gothic" pitchFamily="34" charset="-120"/>
              </a:rPr>
              <a:t>PART 2 · 미술 ②</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생성형 AI 미술교육 연구 현황 (2019–2025)</a:t>
            </a:r>
            <a:endParaRPr lang="en-US" sz="2400" dirty="0"/>
          </a:p>
        </p:txBody>
      </p:sp>
      <p:sp>
        <p:nvSpPr>
          <p:cNvPr id="4" name="Shape 2"/>
          <p:cNvSpPr/>
          <p:nvPr/>
        </p:nvSpPr>
        <p:spPr>
          <a:xfrm>
            <a:off x="10753344" y="402336"/>
            <a:ext cx="868680" cy="310896"/>
          </a:xfrm>
          <a:prstGeom prst="roundRect">
            <a:avLst>
              <a:gd name="adj" fmla="val 50000"/>
            </a:avLst>
          </a:prstGeom>
          <a:solidFill>
            <a:srgbClr val="FAE8E3"/>
          </a:solidFill>
          <a:ln/>
        </p:spPr>
      </p:sp>
      <p:sp>
        <p:nvSpPr>
          <p:cNvPr id="5" name="Text 3"/>
          <p:cNvSpPr/>
          <p:nvPr/>
        </p:nvSpPr>
        <p:spPr>
          <a:xfrm>
            <a:off x="10753344" y="402336"/>
            <a:ext cx="868680" cy="310896"/>
          </a:xfrm>
          <a:prstGeom prst="rect">
            <a:avLst/>
          </a:prstGeom>
          <a:noFill/>
          <a:ln/>
        </p:spPr>
        <p:txBody>
          <a:bodyPr wrap="square" lIns="0" tIns="0" rIns="0" bIns="0" rtlCol="0" anchor="ctr"/>
          <a:lstStyle/>
          <a:p>
            <a:pPr algn="ctr" indent="0" marL="0">
              <a:buNone/>
            </a:pPr>
            <a:r>
              <a:rPr lang="en-US" sz="1200" b="1" dirty="0">
                <a:solidFill>
                  <a:srgbClr val="B15C45"/>
                </a:solidFill>
                <a:latin typeface="Malgun Gothic" pitchFamily="34" charset="0"/>
                <a:ea typeface="Malgun Gothic" pitchFamily="34" charset="-122"/>
                <a:cs typeface="Malgun Gothic" pitchFamily="34" charset="-120"/>
              </a:rPr>
              <a:t>미술</a:t>
            </a:r>
            <a:endParaRPr lang="en-US" sz="1200" dirty="0"/>
          </a:p>
        </p:txBody>
      </p:sp>
      <p:sp>
        <p:nvSpPr>
          <p:cNvPr id="6" name="Shape 4"/>
          <p:cNvSpPr/>
          <p:nvPr/>
        </p:nvSpPr>
        <p:spPr>
          <a:xfrm>
            <a:off x="566928" y="1463040"/>
            <a:ext cx="3749040" cy="4480560"/>
          </a:xfrm>
          <a:prstGeom prst="roundRect">
            <a:avLst>
              <a:gd name="adj" fmla="val 2439"/>
            </a:avLst>
          </a:prstGeom>
          <a:solidFill>
            <a:srgbClr val="FFFFFF"/>
          </a:solidFill>
          <a:ln/>
          <a:effectLst>
            <a:outerShdw sx="100000" sy="100000" kx="0" ky="0" algn="bl" rotWithShape="0" blurRad="114300" dist="25400" dir="5400000">
              <a:srgbClr val="9AA2B8">
                <a:alpha val="20000"/>
              </a:srgbClr>
            </a:outerShdw>
          </a:effectLst>
        </p:spPr>
      </p:sp>
      <p:sp>
        <p:nvSpPr>
          <p:cNvPr id="7" name="Text 5"/>
          <p:cNvSpPr/>
          <p:nvPr/>
        </p:nvSpPr>
        <p:spPr>
          <a:xfrm>
            <a:off x="804672" y="1609344"/>
            <a:ext cx="3291840" cy="329184"/>
          </a:xfrm>
          <a:prstGeom prst="rect">
            <a:avLst/>
          </a:prstGeom>
          <a:noFill/>
          <a:ln/>
        </p:spPr>
        <p:txBody>
          <a:bodyPr wrap="square" lIns="0" tIns="0" rIns="0" bIns="0" rtlCol="0" anchor="ctr"/>
          <a:lstStyle/>
          <a:p>
            <a:pPr indent="0" marL="0">
              <a:buNone/>
            </a:pPr>
            <a:r>
              <a:rPr lang="en-US" sz="1350" b="1" dirty="0">
                <a:solidFill>
                  <a:srgbClr val="B15C45"/>
                </a:solidFill>
                <a:latin typeface="Malgun Gothic" pitchFamily="34" charset="0"/>
                <a:ea typeface="Malgun Gothic" pitchFamily="34" charset="-122"/>
                <a:cs typeface="Malgun Gothic" pitchFamily="34" charset="-120"/>
              </a:rPr>
              <a:t>실증 연구 편수의 급증</a:t>
            </a:r>
            <a:endParaRPr lang="en-US" sz="1350" dirty="0"/>
          </a:p>
        </p:txBody>
      </p:sp>
      <p:graphicFrame>
        <p:nvGraphicFramePr>
          <p:cNvPr id="8" name="Chart 0" descr=""/>
          <p:cNvGraphicFramePr/>
          <p:nvPr/>
        </p:nvGraphicFramePr>
        <p:xfrm>
          <a:off x="749808" y="2011680"/>
          <a:ext cx="3383280" cy="31089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804672" y="5175504"/>
            <a:ext cx="3291840" cy="237744"/>
          </a:xfrm>
          <a:prstGeom prst="rect">
            <a:avLst/>
          </a:prstGeom>
          <a:noFill/>
          <a:ln/>
        </p:spPr>
        <p:txBody>
          <a:bodyPr wrap="square" lIns="0" tIns="0" rIns="0" bIns="0" rtlCol="0" anchor="ctr"/>
          <a:lstStyle/>
          <a:p>
            <a:pPr indent="0" marL="0">
              <a:buNone/>
            </a:pPr>
            <a:r>
              <a:rPr lang="en-US" sz="900" i="1" dirty="0">
                <a:solidFill>
                  <a:srgbClr val="99A0B4"/>
                </a:solidFill>
                <a:latin typeface="Malgun Gothic" pitchFamily="34" charset="0"/>
                <a:ea typeface="Malgun Gothic" pitchFamily="34" charset="-122"/>
                <a:cs typeface="Malgun Gothic" pitchFamily="34" charset="-120"/>
              </a:rPr>
              <a:t>출처: MDPI 체계적 리뷰(19편 종합)</a:t>
            </a:r>
            <a:endParaRPr lang="en-US" sz="900" dirty="0"/>
          </a:p>
        </p:txBody>
      </p:sp>
      <p:sp>
        <p:nvSpPr>
          <p:cNvPr id="10" name="Shape 7"/>
          <p:cNvSpPr/>
          <p:nvPr/>
        </p:nvSpPr>
        <p:spPr>
          <a:xfrm>
            <a:off x="4553712" y="1463040"/>
            <a:ext cx="3657600" cy="4480560"/>
          </a:xfrm>
          <a:prstGeom prst="roundRect">
            <a:avLst>
              <a:gd name="adj" fmla="val 2500"/>
            </a:avLst>
          </a:prstGeom>
          <a:solidFill>
            <a:srgbClr val="FFFFFF"/>
          </a:solidFill>
          <a:ln/>
          <a:effectLst>
            <a:outerShdw sx="100000" sy="100000" kx="0" ky="0" algn="bl" rotWithShape="0" blurRad="114300" dist="25400" dir="5400000">
              <a:srgbClr val="9AA2B8">
                <a:alpha val="20000"/>
              </a:srgbClr>
            </a:outerShdw>
          </a:effectLst>
        </p:spPr>
      </p:sp>
      <p:sp>
        <p:nvSpPr>
          <p:cNvPr id="11" name="Text 8"/>
          <p:cNvSpPr/>
          <p:nvPr/>
        </p:nvSpPr>
        <p:spPr>
          <a:xfrm>
            <a:off x="4791456" y="1627632"/>
            <a:ext cx="3200400" cy="365760"/>
          </a:xfrm>
          <a:prstGeom prst="rect">
            <a:avLst/>
          </a:prstGeom>
          <a:noFill/>
          <a:ln/>
        </p:spPr>
        <p:txBody>
          <a:bodyPr wrap="square" lIns="0" tIns="0" rIns="0" bIns="0" rtlCol="0" anchor="ctr"/>
          <a:lstStyle/>
          <a:p>
            <a:pPr indent="0" marL="0">
              <a:buNone/>
            </a:pPr>
            <a:r>
              <a:rPr lang="en-US" sz="1400" b="1" dirty="0">
                <a:solidFill>
                  <a:srgbClr val="B15C45"/>
                </a:solidFill>
                <a:latin typeface="Malgun Gothic" pitchFamily="34" charset="0"/>
                <a:ea typeface="Malgun Gothic" pitchFamily="34" charset="-122"/>
                <a:cs typeface="Malgun Gothic" pitchFamily="34" charset="-120"/>
              </a:rPr>
              <a:t>리뷰가 말하는 것</a:t>
            </a:r>
            <a:endParaRPr lang="en-US" sz="1400" dirty="0"/>
          </a:p>
        </p:txBody>
      </p:sp>
      <p:sp>
        <p:nvSpPr>
          <p:cNvPr id="12" name="Text 9"/>
          <p:cNvSpPr/>
          <p:nvPr/>
        </p:nvSpPr>
        <p:spPr>
          <a:xfrm>
            <a:off x="4791456" y="2066544"/>
            <a:ext cx="3200400" cy="3749040"/>
          </a:xfrm>
          <a:prstGeom prst="rect">
            <a:avLst/>
          </a:prstGeom>
          <a:noFill/>
          <a:ln/>
        </p:spPr>
        <p:txBody>
          <a:bodyPr wrap="square" lIns="0" tIns="0" rIns="0" bIns="0" rtlCol="0" anchor="t"/>
          <a:lstStyle/>
          <a:p>
            <a:pPr algn="l" indent="0" marL="0">
              <a:lnSpc>
                <a:spcPct val="104000"/>
              </a:lnSpc>
              <a:spcAft>
                <a:spcPts val="800"/>
              </a:spcAft>
              <a:buNone/>
            </a:pPr>
            <a:r>
              <a:rPr lang="en-US" sz="1150" dirty="0">
                <a:solidFill>
                  <a:srgbClr val="343A4D"/>
                </a:solidFill>
                <a:latin typeface="Malgun Gothic" pitchFamily="34" charset="0"/>
                <a:ea typeface="Malgun Gothic" pitchFamily="34" charset="-122"/>
                <a:cs typeface="Malgun Gothic" pitchFamily="34" charset="-120"/>
              </a:rPr>
              <a:t>PRISMA 절차로 6개 DB의 실증 연구 19편 종합. 대부분 고등·대학·동아시아 맥락이다.</a:t>
            </a:r>
            <a:endParaRPr lang="en-US" sz="1150" dirty="0"/>
          </a:p>
          <a:p>
            <a:pPr algn="l" marL="203200" indent="-203200">
              <a:lnSpc>
                <a:spcPct val="104000"/>
              </a:lnSpc>
              <a:spcAft>
                <a:spcPts val="800"/>
              </a:spcAft>
              <a:buSzPct val="100000"/>
              <a:buChar char="–"/>
            </a:pPr>
            <a:r>
              <a:rPr lang="en-US" sz="1150" dirty="0">
                <a:solidFill>
                  <a:srgbClr val="343A4D"/>
                </a:solidFill>
                <a:latin typeface="Malgun Gothic" pitchFamily="34" charset="0"/>
                <a:ea typeface="Malgun Gothic" pitchFamily="34" charset="-122"/>
                <a:cs typeface="Malgun Gothic" pitchFamily="34" charset="-120"/>
              </a:rPr>
              <a:t>K-12(초·중등) 적용은 초기 단계. 도구 실험은 많지만 학습 성과를 이론에 근거해 검증한 연구는 적다.</a:t>
            </a:r>
            <a:endParaRPr lang="en-US" sz="1150" dirty="0"/>
          </a:p>
          <a:p>
            <a:pPr algn="l" marL="203200" indent="-203200">
              <a:lnSpc>
                <a:spcPct val="104000"/>
              </a:lnSpc>
              <a:spcAft>
                <a:spcPts val="600"/>
              </a:spcAft>
              <a:buSzPct val="100000"/>
              <a:buChar char="–"/>
            </a:pPr>
            <a:r>
              <a:rPr lang="en-US" sz="1150" b="1" dirty="0">
                <a:solidFill>
                  <a:srgbClr val="B15C45"/>
                </a:solidFill>
                <a:latin typeface="Malgun Gothic" pitchFamily="34" charset="0"/>
                <a:ea typeface="Malgun Gothic" pitchFamily="34" charset="-122"/>
                <a:cs typeface="Malgun Gothic" pitchFamily="34" charset="-120"/>
              </a:rPr>
              <a:t>경고: 점수가 올라도 그것이 프롬프트 작성 능력이지 미적 성장이 아닐 수 있다.</a:t>
            </a:r>
            <a:endParaRPr lang="en-US" sz="1150" dirty="0"/>
          </a:p>
        </p:txBody>
      </p:sp>
      <p:sp>
        <p:nvSpPr>
          <p:cNvPr id="13" name="Shape 10"/>
          <p:cNvSpPr/>
          <p:nvPr/>
        </p:nvSpPr>
        <p:spPr>
          <a:xfrm>
            <a:off x="8394192" y="1463040"/>
            <a:ext cx="3246120" cy="4480560"/>
          </a:xfrm>
          <a:prstGeom prst="roundRect">
            <a:avLst>
              <a:gd name="adj" fmla="val 2817"/>
            </a:avLst>
          </a:prstGeom>
          <a:solidFill>
            <a:srgbClr val="FAE8E3"/>
          </a:solidFill>
          <a:ln/>
          <a:effectLst>
            <a:outerShdw sx="100000" sy="100000" kx="0" ky="0" algn="bl" rotWithShape="0" blurRad="114300" dist="25400" dir="5400000">
              <a:srgbClr val="9AA2B8">
                <a:alpha val="20000"/>
              </a:srgbClr>
            </a:outerShdw>
          </a:effectLst>
        </p:spPr>
      </p:sp>
      <p:sp>
        <p:nvSpPr>
          <p:cNvPr id="14" name="Text 11"/>
          <p:cNvSpPr/>
          <p:nvPr/>
        </p:nvSpPr>
        <p:spPr>
          <a:xfrm>
            <a:off x="8613648" y="1627632"/>
            <a:ext cx="2834640" cy="365760"/>
          </a:xfrm>
          <a:prstGeom prst="rect">
            <a:avLst/>
          </a:prstGeom>
          <a:noFill/>
          <a:ln/>
        </p:spPr>
        <p:txBody>
          <a:bodyPr wrap="square" lIns="0" tIns="0" rIns="0" bIns="0" rtlCol="0" anchor="ctr"/>
          <a:lstStyle/>
          <a:p>
            <a:pPr indent="0" marL="0">
              <a:buNone/>
            </a:pPr>
            <a:r>
              <a:rPr lang="en-US" sz="1350" b="1" dirty="0">
                <a:solidFill>
                  <a:srgbClr val="B15C45"/>
                </a:solidFill>
                <a:latin typeface="Malgun Gothic" pitchFamily="34" charset="0"/>
                <a:ea typeface="Malgun Gothic" pitchFamily="34" charset="-122"/>
                <a:cs typeface="Malgun Gothic" pitchFamily="34" charset="-120"/>
              </a:rPr>
              <a:t>우리 수업의 환류로</a:t>
            </a:r>
            <a:endParaRPr lang="en-US" sz="1350" dirty="0"/>
          </a:p>
        </p:txBody>
      </p:sp>
      <p:sp>
        <p:nvSpPr>
          <p:cNvPr id="15" name="Text 12"/>
          <p:cNvSpPr/>
          <p:nvPr/>
        </p:nvSpPr>
        <p:spPr>
          <a:xfrm>
            <a:off x="8613648" y="2066544"/>
            <a:ext cx="2834640" cy="3749040"/>
          </a:xfrm>
          <a:prstGeom prst="rect">
            <a:avLst/>
          </a:prstGeom>
          <a:noFill/>
          <a:ln/>
        </p:spPr>
        <p:txBody>
          <a:bodyPr wrap="square" lIns="0" tIns="0" rIns="0" bIns="0" rtlCol="0" anchor="t"/>
          <a:lstStyle/>
          <a:p>
            <a:pPr algn="l" marL="203200" indent="-203200">
              <a:lnSpc>
                <a:spcPct val="104000"/>
              </a:lnSpc>
              <a:spcAft>
                <a:spcPts val="800"/>
              </a:spcAft>
              <a:buSzPct val="100000"/>
              <a:buChar char="•"/>
            </a:pPr>
            <a:r>
              <a:rPr lang="en-US" sz="1150" dirty="0">
                <a:solidFill>
                  <a:srgbClr val="343A4D"/>
                </a:solidFill>
                <a:latin typeface="Malgun Gothic" pitchFamily="34" charset="0"/>
                <a:ea typeface="Malgun Gothic" pitchFamily="34" charset="-122"/>
                <a:cs typeface="Malgun Gothic" pitchFamily="34" charset="-120"/>
              </a:rPr>
              <a:t>사례가 적은 만큼 우리의 실행·환류 기록이 곧 현장 근거가 된다.</a:t>
            </a:r>
            <a:endParaRPr lang="en-US" sz="1150" dirty="0"/>
          </a:p>
          <a:p>
            <a:pPr algn="l" marL="203200" indent="-203200">
              <a:lnSpc>
                <a:spcPct val="104000"/>
              </a:lnSpc>
              <a:spcAft>
                <a:spcPts val="800"/>
              </a:spcAft>
              <a:buSzPct val="100000"/>
              <a:buChar char="•"/>
            </a:pPr>
            <a:r>
              <a:rPr lang="en-US" sz="1150" dirty="0">
                <a:solidFill>
                  <a:srgbClr val="343A4D"/>
                </a:solidFill>
                <a:latin typeface="Malgun Gothic" pitchFamily="34" charset="0"/>
                <a:ea typeface="Malgun Gothic" pitchFamily="34" charset="-122"/>
                <a:cs typeface="Malgun Gothic" pitchFamily="34" charset="-120"/>
              </a:rPr>
              <a:t>편향(문화·성별·인종)을 발견하고 되묻는 발문을 설계안에 넣는다.</a:t>
            </a:r>
            <a:endParaRPr lang="en-US" sz="1150" dirty="0"/>
          </a:p>
          <a:p>
            <a:pPr algn="l" marL="203200" indent="-203200">
              <a:lnSpc>
                <a:spcPct val="104000"/>
              </a:lnSpc>
              <a:spcAft>
                <a:spcPts val="600"/>
              </a:spcAft>
              <a:buSzPct val="100000"/>
              <a:buChar char="•"/>
            </a:pPr>
            <a:r>
              <a:rPr lang="en-US" sz="1150" dirty="0">
                <a:solidFill>
                  <a:srgbClr val="343A4D"/>
                </a:solidFill>
                <a:latin typeface="Malgun Gothic" pitchFamily="34" charset="0"/>
                <a:ea typeface="Malgun Gothic" pitchFamily="34" charset="-122"/>
                <a:cs typeface="Malgun Gothic" pitchFamily="34" charset="-120"/>
              </a:rPr>
              <a:t>출처 표기·프롬프트 아카이빙을 공식 절차로 둔다.</a:t>
            </a:r>
            <a:endParaRPr lang="en-US" sz="1150" dirty="0"/>
          </a:p>
        </p:txBody>
      </p:sp>
      <p:sp>
        <p:nvSpPr>
          <p:cNvPr id="16" name="Text 13"/>
          <p:cNvSpPr/>
          <p:nvPr/>
        </p:nvSpPr>
        <p:spPr>
          <a:xfrm>
            <a:off x="566928" y="6053328"/>
            <a:ext cx="11064240" cy="310896"/>
          </a:xfrm>
          <a:prstGeom prst="rect">
            <a:avLst/>
          </a:prstGeom>
          <a:noFill/>
          <a:ln/>
        </p:spPr>
        <p:txBody>
          <a:bodyPr wrap="square" lIns="0" tIns="0" rIns="0" bIns="0" rtlCol="0" anchor="ctr"/>
          <a:lstStyle/>
          <a:p>
            <a:pPr indent="0" marL="0">
              <a:buNone/>
            </a:pPr>
            <a:r>
              <a:rPr lang="en-US" sz="900" b="1" dirty="0">
                <a:solidFill>
                  <a:srgbClr val="59607A"/>
                </a:solidFill>
                <a:latin typeface="Malgun Gothic" pitchFamily="34" charset="0"/>
                <a:ea typeface="Malgun Gothic" pitchFamily="34" charset="-122"/>
                <a:cs typeface="Malgun Gothic" pitchFamily="34" charset="-120"/>
              </a:rPr>
              <a:t>출처 · </a:t>
            </a:r>
            <a:pPr indent="0" marL="0">
              <a:buNone/>
            </a:pPr>
            <a:r>
              <a:rPr lang="en-US" sz="900" u="sng" dirty="0">
                <a:solidFill>
                  <a:srgbClr val="2E4A85"/>
                </a:solidFill>
                <a:latin typeface="Malgun Gothic" pitchFamily="34" charset="0"/>
                <a:ea typeface="Malgun Gothic" pitchFamily="34" charset="-122"/>
                <a:cs typeface="Malgun Goth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Education Sciences (MDPI)</a:t>
            </a:r>
            <a:endParaRPr lang="en-US" sz="900" dirty="0"/>
          </a:p>
        </p:txBody>
      </p:sp>
      <p:sp>
        <p:nvSpPr>
          <p:cNvPr id="17" name="Text 14"/>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18" name="Text 15"/>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3B7A5A"/>
                </a:solidFill>
                <a:latin typeface="Malgun Gothic" pitchFamily="34" charset="0"/>
                <a:ea typeface="Malgun Gothic" pitchFamily="34" charset="-122"/>
                <a:cs typeface="Malgun Gothic" pitchFamily="34" charset="-120"/>
              </a:rPr>
              <a:t>PART 2 · 체육 ①</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실시간 자세인식 피드백의 효과와 매개 요인</a:t>
            </a:r>
            <a:endParaRPr lang="en-US" sz="2400" dirty="0"/>
          </a:p>
        </p:txBody>
      </p:sp>
      <p:sp>
        <p:nvSpPr>
          <p:cNvPr id="4" name="Shape 2"/>
          <p:cNvSpPr/>
          <p:nvPr/>
        </p:nvSpPr>
        <p:spPr>
          <a:xfrm>
            <a:off x="10753344" y="402336"/>
            <a:ext cx="868680" cy="310896"/>
          </a:xfrm>
          <a:prstGeom prst="roundRect">
            <a:avLst>
              <a:gd name="adj" fmla="val 50000"/>
            </a:avLst>
          </a:prstGeom>
          <a:solidFill>
            <a:srgbClr val="E2F0E8"/>
          </a:solidFill>
          <a:ln/>
        </p:spPr>
      </p:sp>
      <p:sp>
        <p:nvSpPr>
          <p:cNvPr id="5" name="Text 3"/>
          <p:cNvSpPr/>
          <p:nvPr/>
        </p:nvSpPr>
        <p:spPr>
          <a:xfrm>
            <a:off x="10753344" y="402336"/>
            <a:ext cx="868680" cy="310896"/>
          </a:xfrm>
          <a:prstGeom prst="rect">
            <a:avLst/>
          </a:prstGeom>
          <a:noFill/>
          <a:ln/>
        </p:spPr>
        <p:txBody>
          <a:bodyPr wrap="square" lIns="0" tIns="0" rIns="0" bIns="0" rtlCol="0" anchor="ctr"/>
          <a:lstStyle/>
          <a:p>
            <a:pPr algn="ctr" indent="0" marL="0">
              <a:buNone/>
            </a:pPr>
            <a:r>
              <a:rPr lang="en-US" sz="1200" b="1" dirty="0">
                <a:solidFill>
                  <a:srgbClr val="3B7A5A"/>
                </a:solidFill>
                <a:latin typeface="Malgun Gothic" pitchFamily="34" charset="0"/>
                <a:ea typeface="Malgun Gothic" pitchFamily="34" charset="-122"/>
                <a:cs typeface="Malgun Gothic" pitchFamily="34" charset="-120"/>
              </a:rPr>
              <a:t>체육</a:t>
            </a:r>
            <a:endParaRPr lang="en-US" sz="1200" dirty="0"/>
          </a:p>
        </p:txBody>
      </p:sp>
      <p:sp>
        <p:nvSpPr>
          <p:cNvPr id="6" name="Shape 4"/>
          <p:cNvSpPr/>
          <p:nvPr/>
        </p:nvSpPr>
        <p:spPr>
          <a:xfrm>
            <a:off x="566928" y="1463040"/>
            <a:ext cx="3977640" cy="4480560"/>
          </a:xfrm>
          <a:prstGeom prst="roundRect">
            <a:avLst>
              <a:gd name="adj" fmla="val 2299"/>
            </a:avLst>
          </a:prstGeom>
          <a:solidFill>
            <a:srgbClr val="E2F0E8"/>
          </a:solidFill>
          <a:ln/>
          <a:effectLst>
            <a:outerShdw sx="100000" sy="100000" kx="0" ky="0" algn="bl" rotWithShape="0" blurRad="114300" dist="25400" dir="5400000">
              <a:srgbClr val="9AA2B8">
                <a:alpha val="20000"/>
              </a:srgbClr>
            </a:outerShdw>
          </a:effectLst>
        </p:spPr>
      </p:sp>
      <p:sp>
        <p:nvSpPr>
          <p:cNvPr id="7" name="Text 5"/>
          <p:cNvSpPr/>
          <p:nvPr/>
        </p:nvSpPr>
        <p:spPr>
          <a:xfrm>
            <a:off x="786384" y="1591056"/>
            <a:ext cx="3566160" cy="329184"/>
          </a:xfrm>
          <a:prstGeom prst="rect">
            <a:avLst/>
          </a:prstGeom>
          <a:noFill/>
          <a:ln/>
        </p:spPr>
        <p:txBody>
          <a:bodyPr wrap="square" lIns="0" tIns="0" rIns="0" bIns="0" rtlCol="0" anchor="ctr"/>
          <a:lstStyle/>
          <a:p>
            <a:pPr indent="0" marL="0">
              <a:buNone/>
            </a:pPr>
            <a:r>
              <a:rPr lang="en-US" sz="1250" b="1" dirty="0">
                <a:solidFill>
                  <a:srgbClr val="3B7A5A"/>
                </a:solidFill>
                <a:latin typeface="Malgun Gothic" pitchFamily="34" charset="0"/>
                <a:ea typeface="Malgun Gothic" pitchFamily="34" charset="-122"/>
                <a:cs typeface="Malgun Gothic" pitchFamily="34" charset="-120"/>
              </a:rPr>
              <a:t>자세인식 피드백 화면 (도해)</a:t>
            </a:r>
            <a:endParaRPr lang="en-US" sz="1250" dirty="0"/>
          </a:p>
        </p:txBody>
      </p:sp>
      <p:sp>
        <p:nvSpPr>
          <p:cNvPr id="8" name="Shape 6"/>
          <p:cNvSpPr/>
          <p:nvPr/>
        </p:nvSpPr>
        <p:spPr>
          <a:xfrm>
            <a:off x="969264" y="2048256"/>
            <a:ext cx="2377440" cy="2651760"/>
          </a:xfrm>
          <a:prstGeom prst="roundRect">
            <a:avLst>
              <a:gd name="adj" fmla="val 4615"/>
            </a:avLst>
          </a:prstGeom>
          <a:solidFill>
            <a:srgbClr val="FFFFFF"/>
          </a:solidFill>
          <a:ln w="19050">
            <a:solidFill>
              <a:srgbClr val="79B296"/>
            </a:solidFill>
            <a:prstDash val="solid"/>
          </a:ln>
        </p:spPr>
      </p:sp>
      <p:pic>
        <p:nvPicPr>
          <p:cNvPr id="9" name="Image 0" descr="/tmp/build/icons/camera.png">    </p:cNvPr>
          <p:cNvPicPr>
            <a:picLocks noChangeAspect="1"/>
          </p:cNvPicPr>
          <p:nvPr/>
        </p:nvPicPr>
        <p:blipFill>
          <a:blip r:embed="rId1"/>
          <a:stretch>
            <a:fillRect/>
          </a:stretch>
        </p:blipFill>
        <p:spPr>
          <a:xfrm>
            <a:off x="2999232" y="2157984"/>
            <a:ext cx="237744" cy="237744"/>
          </a:xfrm>
          <a:prstGeom prst="rect">
            <a:avLst/>
          </a:prstGeom>
        </p:spPr>
      </p:pic>
      <p:sp>
        <p:nvSpPr>
          <p:cNvPr id="10" name="Shape 7"/>
          <p:cNvSpPr/>
          <p:nvPr/>
        </p:nvSpPr>
        <p:spPr>
          <a:xfrm>
            <a:off x="1572768" y="2304288"/>
            <a:ext cx="310896" cy="310896"/>
          </a:xfrm>
          <a:prstGeom prst="ellipse">
            <a:avLst/>
          </a:prstGeom>
          <a:ln w="38100">
            <a:solidFill>
              <a:srgbClr val="3B7A5A"/>
            </a:solidFill>
            <a:prstDash val="solid"/>
          </a:ln>
        </p:spPr>
      </p:sp>
      <p:sp>
        <p:nvSpPr>
          <p:cNvPr id="11" name="Shape 8"/>
          <p:cNvSpPr/>
          <p:nvPr/>
        </p:nvSpPr>
        <p:spPr>
          <a:xfrm>
            <a:off x="1728216" y="2615184"/>
            <a:ext cx="219456" cy="676656"/>
          </a:xfrm>
          <a:prstGeom prst="line">
            <a:avLst/>
          </a:prstGeom>
          <a:noFill/>
          <a:ln w="38100">
            <a:solidFill>
              <a:srgbClr val="3B7A5A"/>
            </a:solidFill>
            <a:prstDash val="solid"/>
          </a:ln>
        </p:spPr>
      </p:sp>
      <p:sp>
        <p:nvSpPr>
          <p:cNvPr id="12" name="Shape 9"/>
          <p:cNvSpPr/>
          <p:nvPr/>
        </p:nvSpPr>
        <p:spPr>
          <a:xfrm>
            <a:off x="1801368" y="2798064"/>
            <a:ext cx="566928" cy="219456"/>
          </a:xfrm>
          <a:prstGeom prst="line">
            <a:avLst/>
          </a:prstGeom>
          <a:noFill/>
          <a:ln w="38100">
            <a:solidFill>
              <a:srgbClr val="3B7A5A"/>
            </a:solidFill>
            <a:prstDash val="solid"/>
          </a:ln>
        </p:spPr>
      </p:sp>
      <p:sp>
        <p:nvSpPr>
          <p:cNvPr id="13" name="Shape 10"/>
          <p:cNvSpPr/>
          <p:nvPr/>
        </p:nvSpPr>
        <p:spPr>
          <a:xfrm>
            <a:off x="1947672" y="3291840"/>
            <a:ext cx="530352" cy="438912"/>
          </a:xfrm>
          <a:prstGeom prst="line">
            <a:avLst/>
          </a:prstGeom>
          <a:noFill/>
          <a:ln w="38100">
            <a:solidFill>
              <a:srgbClr val="3B7A5A"/>
            </a:solidFill>
            <a:prstDash val="solid"/>
          </a:ln>
        </p:spPr>
      </p:sp>
      <p:sp>
        <p:nvSpPr>
          <p:cNvPr id="14" name="Shape 11"/>
          <p:cNvSpPr/>
          <p:nvPr/>
        </p:nvSpPr>
        <p:spPr>
          <a:xfrm flipH="1">
            <a:off x="2304288" y="3730752"/>
            <a:ext cx="173736" cy="603504"/>
          </a:xfrm>
          <a:prstGeom prst="line">
            <a:avLst/>
          </a:prstGeom>
          <a:noFill/>
          <a:ln w="38100">
            <a:solidFill>
              <a:srgbClr val="3B7A5A"/>
            </a:solidFill>
            <a:prstDash val="solid"/>
          </a:ln>
        </p:spPr>
      </p:sp>
      <p:sp>
        <p:nvSpPr>
          <p:cNvPr id="15" name="Shape 12"/>
          <p:cNvSpPr/>
          <p:nvPr/>
        </p:nvSpPr>
        <p:spPr>
          <a:xfrm>
            <a:off x="2304288" y="4334256"/>
            <a:ext cx="384048" cy="0"/>
          </a:xfrm>
          <a:prstGeom prst="line">
            <a:avLst/>
          </a:prstGeom>
          <a:noFill/>
          <a:ln w="38100">
            <a:solidFill>
              <a:srgbClr val="3B7A5A"/>
            </a:solidFill>
            <a:prstDash val="solid"/>
          </a:ln>
        </p:spPr>
      </p:sp>
      <p:sp>
        <p:nvSpPr>
          <p:cNvPr id="16" name="Shape 13"/>
          <p:cNvSpPr/>
          <p:nvPr/>
        </p:nvSpPr>
        <p:spPr>
          <a:xfrm>
            <a:off x="2615184" y="3584448"/>
            <a:ext cx="658368" cy="274320"/>
          </a:xfrm>
          <a:prstGeom prst="roundRect">
            <a:avLst>
              <a:gd name="adj" fmla="val 50000"/>
            </a:avLst>
          </a:prstGeom>
          <a:solidFill>
            <a:srgbClr val="3B7A5A"/>
          </a:solidFill>
          <a:ln/>
        </p:spPr>
      </p:sp>
      <p:sp>
        <p:nvSpPr>
          <p:cNvPr id="17" name="Text 14"/>
          <p:cNvSpPr/>
          <p:nvPr/>
        </p:nvSpPr>
        <p:spPr>
          <a:xfrm>
            <a:off x="2615184" y="3584448"/>
            <a:ext cx="65836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132°</a:t>
            </a:r>
            <a:endParaRPr lang="en-US" sz="1000" dirty="0"/>
          </a:p>
        </p:txBody>
      </p:sp>
      <p:sp>
        <p:nvSpPr>
          <p:cNvPr id="18" name="Shape 15"/>
          <p:cNvSpPr/>
          <p:nvPr/>
        </p:nvSpPr>
        <p:spPr>
          <a:xfrm flipH="1">
            <a:off x="2487168" y="3721608"/>
            <a:ext cx="128016" cy="0"/>
          </a:xfrm>
          <a:prstGeom prst="line">
            <a:avLst/>
          </a:prstGeom>
          <a:noFill/>
          <a:ln w="19050">
            <a:solidFill>
              <a:srgbClr val="3B7A5A"/>
            </a:solidFill>
            <a:prstDash val="solid"/>
            <a:tailEnd type="triangle"/>
          </a:ln>
        </p:spPr>
      </p:sp>
      <p:sp>
        <p:nvSpPr>
          <p:cNvPr id="19" name="Text 16"/>
          <p:cNvSpPr/>
          <p:nvPr/>
        </p:nvSpPr>
        <p:spPr>
          <a:xfrm>
            <a:off x="969264" y="4736592"/>
            <a:ext cx="2377440" cy="237744"/>
          </a:xfrm>
          <a:prstGeom prst="rect">
            <a:avLst/>
          </a:prstGeom>
          <a:noFill/>
          <a:ln/>
        </p:spPr>
        <p:txBody>
          <a:bodyPr wrap="square" lIns="0" tIns="0" rIns="0" bIns="0" rtlCol="0" anchor="ctr"/>
          <a:lstStyle/>
          <a:p>
            <a:pPr algn="ctr" indent="0" marL="0">
              <a:buNone/>
            </a:pPr>
            <a:r>
              <a:rPr lang="en-US" sz="900" i="1" dirty="0">
                <a:solidFill>
                  <a:srgbClr val="59607A"/>
                </a:solidFill>
                <a:latin typeface="Malgun Gothic" pitchFamily="34" charset="0"/>
                <a:ea typeface="Malgun Gothic" pitchFamily="34" charset="-122"/>
                <a:cs typeface="Malgun Gothic" pitchFamily="34" charset="-120"/>
              </a:rPr>
              <a:t>무릎 각도 실시간 표시</a:t>
            </a:r>
            <a:endParaRPr lang="en-US" sz="900" dirty="0"/>
          </a:p>
        </p:txBody>
      </p:sp>
      <p:sp>
        <p:nvSpPr>
          <p:cNvPr id="20" name="Shape 17"/>
          <p:cNvSpPr/>
          <p:nvPr/>
        </p:nvSpPr>
        <p:spPr>
          <a:xfrm>
            <a:off x="786384" y="5084064"/>
            <a:ext cx="1700784" cy="310896"/>
          </a:xfrm>
          <a:prstGeom prst="roundRect">
            <a:avLst>
              <a:gd name="adj" fmla="val 50000"/>
            </a:avLst>
          </a:prstGeom>
          <a:solidFill>
            <a:srgbClr val="FFFFFF"/>
          </a:solidFill>
          <a:ln/>
        </p:spPr>
      </p:sp>
      <p:sp>
        <p:nvSpPr>
          <p:cNvPr id="21" name="Text 18"/>
          <p:cNvSpPr/>
          <p:nvPr/>
        </p:nvSpPr>
        <p:spPr>
          <a:xfrm>
            <a:off x="786384" y="5084064"/>
            <a:ext cx="1700784" cy="310896"/>
          </a:xfrm>
          <a:prstGeom prst="rect">
            <a:avLst/>
          </a:prstGeom>
          <a:noFill/>
          <a:ln/>
        </p:spPr>
        <p:txBody>
          <a:bodyPr wrap="square" lIns="0" tIns="0" rIns="0" bIns="0" rtlCol="0" anchor="ctr"/>
          <a:lstStyle/>
          <a:p>
            <a:pPr algn="ctr" indent="0" marL="0">
              <a:buNone/>
            </a:pPr>
            <a:r>
              <a:rPr lang="en-US" sz="1050" b="1" dirty="0">
                <a:solidFill>
                  <a:srgbClr val="3B7A5A"/>
                </a:solidFill>
                <a:latin typeface="Malgun Gothic" pitchFamily="34" charset="0"/>
                <a:ea typeface="Malgun Gothic" pitchFamily="34" charset="-122"/>
                <a:cs typeface="Malgun Gothic" pitchFamily="34" charset="-120"/>
              </a:rPr>
              <a:t>움직임의 질</a:t>
            </a:r>
            <a:endParaRPr lang="en-US" sz="1050" dirty="0"/>
          </a:p>
        </p:txBody>
      </p:sp>
      <p:sp>
        <p:nvSpPr>
          <p:cNvPr id="22" name="Shape 19"/>
          <p:cNvSpPr/>
          <p:nvPr/>
        </p:nvSpPr>
        <p:spPr>
          <a:xfrm>
            <a:off x="2596896" y="5084064"/>
            <a:ext cx="1700784" cy="310896"/>
          </a:xfrm>
          <a:prstGeom prst="roundRect">
            <a:avLst>
              <a:gd name="adj" fmla="val 50000"/>
            </a:avLst>
          </a:prstGeom>
          <a:solidFill>
            <a:srgbClr val="FFFFFF"/>
          </a:solidFill>
          <a:ln/>
        </p:spPr>
      </p:sp>
      <p:sp>
        <p:nvSpPr>
          <p:cNvPr id="23" name="Text 20"/>
          <p:cNvSpPr/>
          <p:nvPr/>
        </p:nvSpPr>
        <p:spPr>
          <a:xfrm>
            <a:off x="2596896" y="5084064"/>
            <a:ext cx="1700784" cy="310896"/>
          </a:xfrm>
          <a:prstGeom prst="rect">
            <a:avLst/>
          </a:prstGeom>
          <a:noFill/>
          <a:ln/>
        </p:spPr>
        <p:txBody>
          <a:bodyPr wrap="square" lIns="0" tIns="0" rIns="0" bIns="0" rtlCol="0" anchor="ctr"/>
          <a:lstStyle/>
          <a:p>
            <a:pPr algn="ctr" indent="0" marL="0">
              <a:buNone/>
            </a:pPr>
            <a:r>
              <a:rPr lang="en-US" sz="1050" b="1" dirty="0">
                <a:solidFill>
                  <a:srgbClr val="3B7A5A"/>
                </a:solidFill>
                <a:latin typeface="Malgun Gothic" pitchFamily="34" charset="0"/>
                <a:ea typeface="Malgun Gothic" pitchFamily="34" charset="-122"/>
                <a:cs typeface="Malgun Gothic" pitchFamily="34" charset="-120"/>
              </a:rPr>
              <a:t>유창성</a:t>
            </a:r>
            <a:endParaRPr lang="en-US" sz="1050" dirty="0"/>
          </a:p>
        </p:txBody>
      </p:sp>
      <p:sp>
        <p:nvSpPr>
          <p:cNvPr id="24" name="Shape 21"/>
          <p:cNvSpPr/>
          <p:nvPr/>
        </p:nvSpPr>
        <p:spPr>
          <a:xfrm>
            <a:off x="786384" y="5468112"/>
            <a:ext cx="1700784" cy="310896"/>
          </a:xfrm>
          <a:prstGeom prst="roundRect">
            <a:avLst>
              <a:gd name="adj" fmla="val 50000"/>
            </a:avLst>
          </a:prstGeom>
          <a:solidFill>
            <a:srgbClr val="FFFFFF"/>
          </a:solidFill>
          <a:ln/>
        </p:spPr>
      </p:sp>
      <p:sp>
        <p:nvSpPr>
          <p:cNvPr id="25" name="Text 22"/>
          <p:cNvSpPr/>
          <p:nvPr/>
        </p:nvSpPr>
        <p:spPr>
          <a:xfrm>
            <a:off x="786384" y="5468112"/>
            <a:ext cx="1700784" cy="310896"/>
          </a:xfrm>
          <a:prstGeom prst="rect">
            <a:avLst/>
          </a:prstGeom>
          <a:noFill/>
          <a:ln/>
        </p:spPr>
        <p:txBody>
          <a:bodyPr wrap="square" lIns="0" tIns="0" rIns="0" bIns="0" rtlCol="0" anchor="ctr"/>
          <a:lstStyle/>
          <a:p>
            <a:pPr algn="ctr" indent="0" marL="0">
              <a:buNone/>
            </a:pPr>
            <a:r>
              <a:rPr lang="en-US" sz="1050" b="1" dirty="0">
                <a:solidFill>
                  <a:srgbClr val="3B7A5A"/>
                </a:solidFill>
                <a:latin typeface="Malgun Gothic" pitchFamily="34" charset="0"/>
                <a:ea typeface="Malgun Gothic" pitchFamily="34" charset="-122"/>
                <a:cs typeface="Malgun Gothic" pitchFamily="34" charset="-120"/>
              </a:rPr>
              <a:t>학습 흥미</a:t>
            </a:r>
            <a:endParaRPr lang="en-US" sz="1050" dirty="0"/>
          </a:p>
        </p:txBody>
      </p:sp>
      <p:sp>
        <p:nvSpPr>
          <p:cNvPr id="26" name="Shape 23"/>
          <p:cNvSpPr/>
          <p:nvPr/>
        </p:nvSpPr>
        <p:spPr>
          <a:xfrm>
            <a:off x="2596896" y="5468112"/>
            <a:ext cx="1700784" cy="310896"/>
          </a:xfrm>
          <a:prstGeom prst="roundRect">
            <a:avLst>
              <a:gd name="adj" fmla="val 50000"/>
            </a:avLst>
          </a:prstGeom>
          <a:solidFill>
            <a:srgbClr val="FFFFFF"/>
          </a:solidFill>
          <a:ln/>
        </p:spPr>
      </p:sp>
      <p:sp>
        <p:nvSpPr>
          <p:cNvPr id="27" name="Text 24"/>
          <p:cNvSpPr/>
          <p:nvPr/>
        </p:nvSpPr>
        <p:spPr>
          <a:xfrm>
            <a:off x="2596896" y="5468112"/>
            <a:ext cx="1700784" cy="310896"/>
          </a:xfrm>
          <a:prstGeom prst="rect">
            <a:avLst/>
          </a:prstGeom>
          <a:noFill/>
          <a:ln/>
        </p:spPr>
        <p:txBody>
          <a:bodyPr wrap="square" lIns="0" tIns="0" rIns="0" bIns="0" rtlCol="0" anchor="ctr"/>
          <a:lstStyle/>
          <a:p>
            <a:pPr algn="ctr" indent="0" marL="0">
              <a:buNone/>
            </a:pPr>
            <a:r>
              <a:rPr lang="en-US" sz="1050" b="1" dirty="0">
                <a:solidFill>
                  <a:srgbClr val="3B7A5A"/>
                </a:solidFill>
                <a:latin typeface="Malgun Gothic" pitchFamily="34" charset="0"/>
                <a:ea typeface="Malgun Gothic" pitchFamily="34" charset="-122"/>
                <a:cs typeface="Malgun Gothic" pitchFamily="34" charset="-120"/>
              </a:rPr>
              <a:t>자기주도</a:t>
            </a:r>
            <a:endParaRPr lang="en-US" sz="1050" dirty="0"/>
          </a:p>
        </p:txBody>
      </p:sp>
      <p:sp>
        <p:nvSpPr>
          <p:cNvPr id="28" name="Shape 25"/>
          <p:cNvSpPr/>
          <p:nvPr/>
        </p:nvSpPr>
        <p:spPr>
          <a:xfrm>
            <a:off x="4754880" y="1463040"/>
            <a:ext cx="6885432" cy="1737360"/>
          </a:xfrm>
          <a:prstGeom prst="roundRect">
            <a:avLst>
              <a:gd name="adj" fmla="val 5263"/>
            </a:avLst>
          </a:prstGeom>
          <a:solidFill>
            <a:srgbClr val="FFFFFF"/>
          </a:solidFill>
          <a:ln/>
          <a:effectLst>
            <a:outerShdw sx="100000" sy="100000" kx="0" ky="0" algn="bl" rotWithShape="0" blurRad="114300" dist="25400" dir="5400000">
              <a:srgbClr val="9AA2B8">
                <a:alpha val="20000"/>
              </a:srgbClr>
            </a:outerShdw>
          </a:effectLst>
        </p:spPr>
      </p:sp>
      <p:sp>
        <p:nvSpPr>
          <p:cNvPr id="29" name="Text 26"/>
          <p:cNvSpPr/>
          <p:nvPr/>
        </p:nvSpPr>
        <p:spPr>
          <a:xfrm>
            <a:off x="5010912" y="1572768"/>
            <a:ext cx="6309360" cy="310896"/>
          </a:xfrm>
          <a:prstGeom prst="rect">
            <a:avLst/>
          </a:prstGeom>
          <a:noFill/>
          <a:ln/>
        </p:spPr>
        <p:txBody>
          <a:bodyPr wrap="square" lIns="0" tIns="0" rIns="0" bIns="0" rtlCol="0" anchor="ctr"/>
          <a:lstStyle/>
          <a:p>
            <a:pPr indent="0" marL="0">
              <a:buNone/>
            </a:pPr>
            <a:r>
              <a:rPr lang="en-US" sz="1300" b="1" dirty="0">
                <a:solidFill>
                  <a:srgbClr val="3B7A5A"/>
                </a:solidFill>
                <a:latin typeface="Malgun Gothic" pitchFamily="34" charset="0"/>
                <a:ea typeface="Malgun Gothic" pitchFamily="34" charset="-122"/>
                <a:cs typeface="Malgun Gothic" pitchFamily="34" charset="-120"/>
              </a:rPr>
              <a:t>흥미로운 발견: 성과를 만든 실제 경로 (매개분석)</a:t>
            </a:r>
            <a:endParaRPr lang="en-US" sz="1300" dirty="0"/>
          </a:p>
        </p:txBody>
      </p:sp>
      <p:sp>
        <p:nvSpPr>
          <p:cNvPr id="30" name="Shape 27"/>
          <p:cNvSpPr/>
          <p:nvPr/>
        </p:nvSpPr>
        <p:spPr>
          <a:xfrm>
            <a:off x="5010912" y="2048256"/>
            <a:ext cx="1828800" cy="566928"/>
          </a:xfrm>
          <a:prstGeom prst="roundRect">
            <a:avLst>
              <a:gd name="adj" fmla="val 29032"/>
            </a:avLst>
          </a:prstGeom>
          <a:solidFill>
            <a:srgbClr val="E2F0E8"/>
          </a:solidFill>
          <a:ln/>
        </p:spPr>
      </p:sp>
      <p:sp>
        <p:nvSpPr>
          <p:cNvPr id="31" name="Text 28"/>
          <p:cNvSpPr/>
          <p:nvPr/>
        </p:nvSpPr>
        <p:spPr>
          <a:xfrm>
            <a:off x="5010912" y="2048256"/>
            <a:ext cx="1828800" cy="566928"/>
          </a:xfrm>
          <a:prstGeom prst="rect">
            <a:avLst/>
          </a:prstGeom>
          <a:noFill/>
          <a:ln/>
        </p:spPr>
        <p:txBody>
          <a:bodyPr wrap="square" lIns="0" tIns="0" rIns="0" bIns="0" rtlCol="0" anchor="ctr"/>
          <a:lstStyle/>
          <a:p>
            <a:pPr algn="ctr" indent="0" marL="0">
              <a:buNone/>
            </a:pPr>
            <a:r>
              <a:rPr lang="en-US" sz="1100" b="1" dirty="0">
                <a:solidFill>
                  <a:srgbClr val="3B7A5A"/>
                </a:solidFill>
                <a:latin typeface="Malgun Gothic" pitchFamily="34" charset="0"/>
                <a:ea typeface="Malgun Gothic" pitchFamily="34" charset="-122"/>
                <a:cs typeface="Malgun Gothic" pitchFamily="34" charset="-120"/>
              </a:rPr>
              <a:t>실시간 자세 피드백</a:t>
            </a:r>
            <a:endParaRPr lang="en-US" sz="1100" dirty="0"/>
          </a:p>
        </p:txBody>
      </p:sp>
      <p:sp>
        <p:nvSpPr>
          <p:cNvPr id="32" name="Shape 29"/>
          <p:cNvSpPr/>
          <p:nvPr/>
        </p:nvSpPr>
        <p:spPr>
          <a:xfrm>
            <a:off x="7260336" y="2048256"/>
            <a:ext cx="1828800" cy="566928"/>
          </a:xfrm>
          <a:prstGeom prst="roundRect">
            <a:avLst>
              <a:gd name="adj" fmla="val 29032"/>
            </a:avLst>
          </a:prstGeom>
          <a:solidFill>
            <a:srgbClr val="FBF1DC"/>
          </a:solidFill>
          <a:ln/>
        </p:spPr>
      </p:sp>
      <p:sp>
        <p:nvSpPr>
          <p:cNvPr id="33" name="Text 30"/>
          <p:cNvSpPr/>
          <p:nvPr/>
        </p:nvSpPr>
        <p:spPr>
          <a:xfrm>
            <a:off x="7260336" y="2048256"/>
            <a:ext cx="1828800" cy="566928"/>
          </a:xfrm>
          <a:prstGeom prst="rect">
            <a:avLst/>
          </a:prstGeom>
          <a:noFill/>
          <a:ln/>
        </p:spPr>
        <p:txBody>
          <a:bodyPr wrap="square" lIns="0" tIns="0" rIns="0" bIns="0" rtlCol="0" anchor="ctr"/>
          <a:lstStyle/>
          <a:p>
            <a:pPr algn="ctr" indent="0" marL="0">
              <a:buNone/>
            </a:pPr>
            <a:r>
              <a:rPr lang="en-US" sz="1100" b="1" dirty="0">
                <a:solidFill>
                  <a:srgbClr val="B8801F"/>
                </a:solidFill>
                <a:latin typeface="Malgun Gothic" pitchFamily="34" charset="0"/>
                <a:ea typeface="Malgun Gothic" pitchFamily="34" charset="-122"/>
                <a:cs typeface="Malgun Gothic" pitchFamily="34" charset="-120"/>
              </a:rPr>
              <a:t>연습 시간 증가</a:t>
            </a:r>
            <a:endParaRPr lang="en-US" sz="1100" dirty="0"/>
          </a:p>
        </p:txBody>
      </p:sp>
      <p:sp>
        <p:nvSpPr>
          <p:cNvPr id="34" name="Shape 31"/>
          <p:cNvSpPr/>
          <p:nvPr/>
        </p:nvSpPr>
        <p:spPr>
          <a:xfrm>
            <a:off x="9509760" y="2048256"/>
            <a:ext cx="1874520" cy="566928"/>
          </a:xfrm>
          <a:prstGeom prst="roundRect">
            <a:avLst>
              <a:gd name="adj" fmla="val 29032"/>
            </a:avLst>
          </a:prstGeom>
          <a:solidFill>
            <a:srgbClr val="EAEEF8"/>
          </a:solidFill>
          <a:ln/>
        </p:spPr>
      </p:sp>
      <p:sp>
        <p:nvSpPr>
          <p:cNvPr id="35" name="Text 32"/>
          <p:cNvSpPr/>
          <p:nvPr/>
        </p:nvSpPr>
        <p:spPr>
          <a:xfrm>
            <a:off x="9509760" y="2048256"/>
            <a:ext cx="1874520" cy="566928"/>
          </a:xfrm>
          <a:prstGeom prst="rect">
            <a:avLst/>
          </a:prstGeom>
          <a:noFill/>
          <a:ln/>
        </p:spPr>
        <p:txBody>
          <a:bodyPr wrap="square" lIns="0" tIns="0" rIns="0" bIns="0" rtlCol="0" anchor="ctr"/>
          <a:lstStyle/>
          <a:p>
            <a:pPr algn="ctr" indent="0" marL="0">
              <a:buNone/>
            </a:pPr>
            <a:r>
              <a:rPr lang="en-US" sz="950" b="1" dirty="0">
                <a:solidFill>
                  <a:srgbClr val="2E4A85"/>
                </a:solidFill>
                <a:latin typeface="Malgun Gothic" pitchFamily="34" charset="0"/>
                <a:ea typeface="Malgun Gothic" pitchFamily="34" charset="-122"/>
                <a:cs typeface="Malgun Gothic" pitchFamily="34" charset="-120"/>
              </a:rPr>
              <a:t>질·흥미·자기주도 향상</a:t>
            </a:r>
            <a:endParaRPr lang="en-US" sz="950" dirty="0"/>
          </a:p>
        </p:txBody>
      </p:sp>
      <p:sp>
        <p:nvSpPr>
          <p:cNvPr id="36" name="Text 33"/>
          <p:cNvSpPr/>
          <p:nvPr/>
        </p:nvSpPr>
        <p:spPr>
          <a:xfrm>
            <a:off x="7260336" y="2633472"/>
            <a:ext cx="1828800" cy="219456"/>
          </a:xfrm>
          <a:prstGeom prst="rect">
            <a:avLst/>
          </a:prstGeom>
          <a:noFill/>
          <a:ln/>
        </p:spPr>
        <p:txBody>
          <a:bodyPr wrap="square" lIns="0" tIns="0" rIns="0" bIns="0" rtlCol="0" anchor="ctr"/>
          <a:lstStyle/>
          <a:p>
            <a:pPr algn="ctr" indent="0" marL="0">
              <a:buNone/>
            </a:pPr>
            <a:r>
              <a:rPr lang="en-US" sz="900" i="1" dirty="0">
                <a:solidFill>
                  <a:srgbClr val="59607A"/>
                </a:solidFill>
                <a:latin typeface="Malgun Gothic" pitchFamily="34" charset="0"/>
                <a:ea typeface="Malgun Gothic" pitchFamily="34" charset="-122"/>
                <a:cs typeface="Malgun Gothic" pitchFamily="34" charset="-120"/>
              </a:rPr>
              <a:t>매개 변인</a:t>
            </a:r>
            <a:endParaRPr lang="en-US" sz="900" dirty="0"/>
          </a:p>
        </p:txBody>
      </p:sp>
      <p:sp>
        <p:nvSpPr>
          <p:cNvPr id="37" name="Text 34"/>
          <p:cNvSpPr/>
          <p:nvPr/>
        </p:nvSpPr>
        <p:spPr>
          <a:xfrm>
            <a:off x="5010912" y="2834640"/>
            <a:ext cx="6373368" cy="292608"/>
          </a:xfrm>
          <a:prstGeom prst="rect">
            <a:avLst/>
          </a:prstGeom>
          <a:noFill/>
          <a:ln/>
        </p:spPr>
        <p:txBody>
          <a:bodyPr wrap="square" lIns="0" tIns="0" rIns="0" bIns="0" rtlCol="0" anchor="ctr"/>
          <a:lstStyle/>
          <a:p>
            <a:pPr indent="0" marL="0">
              <a:buNone/>
            </a:pPr>
            <a:r>
              <a:rPr lang="en-US" sz="1050" dirty="0">
                <a:solidFill>
                  <a:srgbClr val="343A4D"/>
                </a:solidFill>
                <a:latin typeface="Malgun Gothic" pitchFamily="34" charset="0"/>
                <a:ea typeface="Malgun Gothic" pitchFamily="34" charset="-122"/>
                <a:cs typeface="Malgun Gothic" pitchFamily="34" charset="-120"/>
              </a:rPr>
              <a:t>피드백 그 자체보다, 학생이 더 오래 움직인 것이 성장을 만들었다.</a:t>
            </a:r>
            <a:endParaRPr lang="en-US" sz="1050" dirty="0"/>
          </a:p>
        </p:txBody>
      </p:sp>
      <p:sp>
        <p:nvSpPr>
          <p:cNvPr id="38" name="Shape 35"/>
          <p:cNvSpPr/>
          <p:nvPr/>
        </p:nvSpPr>
        <p:spPr>
          <a:xfrm>
            <a:off x="6876288" y="2331720"/>
            <a:ext cx="347472" cy="0"/>
          </a:xfrm>
          <a:prstGeom prst="line">
            <a:avLst/>
          </a:prstGeom>
          <a:noFill/>
          <a:ln w="25400">
            <a:solidFill>
              <a:srgbClr val="79B296"/>
            </a:solidFill>
            <a:prstDash val="solid"/>
            <a:tailEnd type="triangle"/>
          </a:ln>
        </p:spPr>
      </p:sp>
      <p:sp>
        <p:nvSpPr>
          <p:cNvPr id="39" name="Shape 36"/>
          <p:cNvSpPr/>
          <p:nvPr/>
        </p:nvSpPr>
        <p:spPr>
          <a:xfrm>
            <a:off x="9125712" y="2331720"/>
            <a:ext cx="347472" cy="0"/>
          </a:xfrm>
          <a:prstGeom prst="line">
            <a:avLst/>
          </a:prstGeom>
          <a:noFill/>
          <a:ln w="25400">
            <a:solidFill>
              <a:srgbClr val="79B296"/>
            </a:solidFill>
            <a:prstDash val="solid"/>
            <a:tailEnd type="triangle"/>
          </a:ln>
        </p:spPr>
      </p:sp>
      <p:sp>
        <p:nvSpPr>
          <p:cNvPr id="40" name="Shape 37"/>
          <p:cNvSpPr/>
          <p:nvPr/>
        </p:nvSpPr>
        <p:spPr>
          <a:xfrm>
            <a:off x="4754880" y="3328416"/>
            <a:ext cx="6885432" cy="1371600"/>
          </a:xfrm>
          <a:prstGeom prst="roundRect">
            <a:avLst>
              <a:gd name="adj" fmla="val 6667"/>
            </a:avLst>
          </a:prstGeom>
          <a:solidFill>
            <a:srgbClr val="FFFFFF"/>
          </a:solidFill>
          <a:ln w="12700">
            <a:solidFill>
              <a:srgbClr val="3B7A5A"/>
            </a:solidFill>
            <a:prstDash val="solid"/>
          </a:ln>
        </p:spPr>
      </p:sp>
      <p:sp>
        <p:nvSpPr>
          <p:cNvPr id="41" name="Shape 38"/>
          <p:cNvSpPr/>
          <p:nvPr/>
        </p:nvSpPr>
        <p:spPr>
          <a:xfrm>
            <a:off x="4754880" y="3328416"/>
            <a:ext cx="82296" cy="1371600"/>
          </a:xfrm>
          <a:prstGeom prst="roundRect">
            <a:avLst>
              <a:gd name="adj" fmla="val 44444"/>
            </a:avLst>
          </a:prstGeom>
          <a:solidFill>
            <a:srgbClr val="3B7A5A"/>
          </a:solidFill>
          <a:ln/>
        </p:spPr>
      </p:sp>
      <p:sp>
        <p:nvSpPr>
          <p:cNvPr id="42" name="Text 39"/>
          <p:cNvSpPr/>
          <p:nvPr/>
        </p:nvSpPr>
        <p:spPr>
          <a:xfrm>
            <a:off x="5010912" y="3419856"/>
            <a:ext cx="6428232" cy="274320"/>
          </a:xfrm>
          <a:prstGeom prst="rect">
            <a:avLst/>
          </a:prstGeom>
          <a:noFill/>
          <a:ln/>
        </p:spPr>
        <p:txBody>
          <a:bodyPr wrap="square" lIns="0" tIns="0" rIns="0" bIns="0" rtlCol="0" anchor="ctr"/>
          <a:lstStyle/>
          <a:p>
            <a:pPr indent="0" marL="0">
              <a:buNone/>
            </a:pPr>
            <a:r>
              <a:rPr lang="en-US" sz="1150" b="1" dirty="0">
                <a:solidFill>
                  <a:srgbClr val="3B7A5A"/>
                </a:solidFill>
                <a:latin typeface="Malgun Gothic" pitchFamily="34" charset="0"/>
                <a:ea typeface="Malgun Gothic" pitchFamily="34" charset="-122"/>
                <a:cs typeface="Malgun Gothic" pitchFamily="34" charset="-120"/>
              </a:rPr>
              <a:t>수업 장면 · 배구 언더핸드</a:t>
            </a:r>
            <a:endParaRPr lang="en-US" sz="1150" dirty="0"/>
          </a:p>
        </p:txBody>
      </p:sp>
      <p:sp>
        <p:nvSpPr>
          <p:cNvPr id="43" name="Text 40"/>
          <p:cNvSpPr/>
          <p:nvPr/>
        </p:nvSpPr>
        <p:spPr>
          <a:xfrm>
            <a:off x="5010912" y="3712464"/>
            <a:ext cx="6391656" cy="896112"/>
          </a:xfrm>
          <a:prstGeom prst="rect">
            <a:avLst/>
          </a:prstGeom>
          <a:noFill/>
          <a:ln/>
        </p:spPr>
        <p:txBody>
          <a:bodyPr wrap="square" lIns="0" tIns="0" rIns="0" bIns="0" rtlCol="0" anchor="t"/>
          <a:lstStyle/>
          <a:p>
            <a:pPr algn="l" indent="0" marL="0">
              <a:lnSpc>
                <a:spcPct val="104000"/>
              </a:lnSpc>
              <a:spcAft>
                <a:spcPts val="400"/>
              </a:spcAft>
              <a:buNone/>
            </a:pPr>
            <a:r>
              <a:rPr lang="en-US" sz="1150" i="1" dirty="0">
                <a:solidFill>
                  <a:srgbClr val="3B7A5A"/>
                </a:solidFill>
                <a:latin typeface="Malgun Gothic" pitchFamily="34" charset="0"/>
                <a:ea typeface="Malgun Gothic" pitchFamily="34" charset="-122"/>
                <a:cs typeface="Malgun Gothic" pitchFamily="34" charset="-120"/>
              </a:rPr>
              <a:t>앱이 무릎 각도 132°를 띄운다. 교사: “숫자보다 이걸 봐. 지난주보다 연습 횟수가 두 배야. 각도는 다음 시간에 같이 줄여 보자.”</a:t>
            </a:r>
            <a:endParaRPr lang="en-US" sz="1150" dirty="0"/>
          </a:p>
          <a:p>
            <a:pPr algn="l" indent="0" marL="0">
              <a:lnSpc>
                <a:spcPct val="104000"/>
              </a:lnSpc>
              <a:spcAft>
                <a:spcPts val="600"/>
              </a:spcAft>
              <a:buNone/>
            </a:pPr>
            <a:r>
              <a:rPr lang="en-US" sz="1100" b="1" dirty="0">
                <a:solidFill>
                  <a:srgbClr val="343A4D"/>
                </a:solidFill>
                <a:latin typeface="Malgun Gothic" pitchFamily="34" charset="0"/>
                <a:ea typeface="Malgun Gothic" pitchFamily="34" charset="-122"/>
                <a:cs typeface="Malgun Gothic" pitchFamily="34" charset="-120"/>
              </a:rPr>
              <a:t>기록: 주차별 시도 횟수 + 본인이 고친 한 가지.</a:t>
            </a:r>
            <a:endParaRPr lang="en-US" sz="1150" dirty="0"/>
          </a:p>
        </p:txBody>
      </p:sp>
      <p:sp>
        <p:nvSpPr>
          <p:cNvPr id="44" name="Shape 41"/>
          <p:cNvSpPr/>
          <p:nvPr/>
        </p:nvSpPr>
        <p:spPr>
          <a:xfrm>
            <a:off x="4754880" y="4809744"/>
            <a:ext cx="6885432" cy="1133856"/>
          </a:xfrm>
          <a:prstGeom prst="roundRect">
            <a:avLst>
              <a:gd name="adj" fmla="val 8065"/>
            </a:avLst>
          </a:prstGeom>
          <a:solidFill>
            <a:srgbClr val="FBF1DC"/>
          </a:solidFill>
          <a:ln/>
          <a:effectLst>
            <a:outerShdw sx="100000" sy="100000" kx="0" ky="0" algn="bl" rotWithShape="0" blurRad="114300" dist="25400" dir="5400000">
              <a:srgbClr val="9AA2B8">
                <a:alpha val="20000"/>
              </a:srgbClr>
            </a:outerShdw>
          </a:effectLst>
        </p:spPr>
      </p:sp>
      <p:sp>
        <p:nvSpPr>
          <p:cNvPr id="45" name="Text 42"/>
          <p:cNvSpPr/>
          <p:nvPr/>
        </p:nvSpPr>
        <p:spPr>
          <a:xfrm>
            <a:off x="5010912" y="4809744"/>
            <a:ext cx="6355080" cy="1133856"/>
          </a:xfrm>
          <a:prstGeom prst="rect">
            <a:avLst/>
          </a:prstGeom>
          <a:noFill/>
          <a:ln/>
        </p:spPr>
        <p:txBody>
          <a:bodyPr wrap="square" lIns="0" tIns="0" rIns="0" bIns="0" rtlCol="0" anchor="ctr"/>
          <a:lstStyle/>
          <a:p>
            <a:pPr indent="0" marL="0">
              <a:lnSpc>
                <a:spcPct val="106000"/>
              </a:lnSpc>
              <a:buNone/>
            </a:pPr>
            <a:r>
              <a:rPr lang="en-US" sz="1250" b="1" dirty="0">
                <a:solidFill>
                  <a:srgbClr val="B8801F"/>
                </a:solidFill>
                <a:latin typeface="Malgun Gothic" pitchFamily="34" charset="0"/>
                <a:ea typeface="Malgun Gothic" pitchFamily="34" charset="-122"/>
                <a:cs typeface="Malgun Gothic" pitchFamily="34" charset="-120"/>
              </a:rPr>
              <a:t>우리 수업의 환류로  </a:t>
            </a:r>
            <a:pPr indent="0" marL="0">
              <a:lnSpc>
                <a:spcPct val="106000"/>
              </a:lnSpc>
              <a:buNone/>
            </a:pPr>
            <a:r>
              <a:rPr lang="en-US" sz="1200" dirty="0">
                <a:solidFill>
                  <a:srgbClr val="59607A"/>
                </a:solidFill>
                <a:latin typeface="Malgun Gothic" pitchFamily="34" charset="0"/>
                <a:ea typeface="Malgun Gothic" pitchFamily="34" charset="-122"/>
                <a:cs typeface="Malgun Gothic" pitchFamily="34" charset="-120"/>
              </a:rPr>
              <a:t>정확도 점수만 보지 말고 </a:t>
            </a:r>
            <a:pPr indent="0" marL="0">
              <a:lnSpc>
                <a:spcPct val="106000"/>
              </a:lnSpc>
              <a:buNone/>
            </a:pPr>
            <a:r>
              <a:rPr lang="en-US" sz="1200" b="1" dirty="0">
                <a:solidFill>
                  <a:srgbClr val="343A4D"/>
                </a:solidFill>
                <a:latin typeface="Malgun Gothic" pitchFamily="34" charset="0"/>
                <a:ea typeface="Malgun Gothic" pitchFamily="34" charset="-122"/>
                <a:cs typeface="Malgun Gothic" pitchFamily="34" charset="-120"/>
              </a:rPr>
              <a:t>참여 지속(연습량·재시도)을 함께 읽는다. </a:t>
            </a:r>
            <a:pPr indent="0" marL="0">
              <a:lnSpc>
                <a:spcPct val="106000"/>
              </a:lnSpc>
              <a:buNone/>
            </a:pPr>
            <a:r>
              <a:rPr lang="en-US" sz="1150" dirty="0">
                <a:solidFill>
                  <a:srgbClr val="59607A"/>
                </a:solidFill>
                <a:latin typeface="Malgun Gothic" pitchFamily="34" charset="0"/>
                <a:ea typeface="Malgun Gothic" pitchFamily="34" charset="-122"/>
                <a:cs typeface="Malgun Gothic" pitchFamily="34" charset="-120"/>
              </a:rPr>
              <a:t>발문: “이 도구가 학생을 더 오래 움직이게 했는가, 수치에 위축시켰는가?” ‘정확한 동작’의 기준 영상 자체도 검토 대상이다.</a:t>
            </a:r>
            <a:endParaRPr lang="en-US" sz="1250" dirty="0"/>
          </a:p>
        </p:txBody>
      </p:sp>
      <p:sp>
        <p:nvSpPr>
          <p:cNvPr id="46" name="Text 43"/>
          <p:cNvSpPr/>
          <p:nvPr/>
        </p:nvSpPr>
        <p:spPr>
          <a:xfrm>
            <a:off x="566928" y="6053328"/>
            <a:ext cx="11064240" cy="310896"/>
          </a:xfrm>
          <a:prstGeom prst="rect">
            <a:avLst/>
          </a:prstGeom>
          <a:noFill/>
          <a:ln/>
        </p:spPr>
        <p:txBody>
          <a:bodyPr wrap="square" lIns="0" tIns="0" rIns="0" bIns="0" rtlCol="0" anchor="ctr"/>
          <a:lstStyle/>
          <a:p>
            <a:pPr indent="0" marL="0">
              <a:buNone/>
            </a:pPr>
            <a:r>
              <a:rPr lang="en-US" sz="900" b="1" dirty="0">
                <a:solidFill>
                  <a:srgbClr val="59607A"/>
                </a:solidFill>
                <a:latin typeface="Malgun Gothic" pitchFamily="34" charset="0"/>
                <a:ea typeface="Malgun Gothic" pitchFamily="34" charset="-122"/>
                <a:cs typeface="Malgun Gothic" pitchFamily="34" charset="-120"/>
              </a:rPr>
              <a:t>출처 · </a:t>
            </a:r>
            <a:pPr indent="0" marL="0">
              <a:buNone/>
            </a:pPr>
            <a:r>
              <a:rPr lang="en-US" sz="900" u="sng" dirty="0">
                <a:solidFill>
                  <a:srgbClr val="2E4A85"/>
                </a:solidFill>
                <a:latin typeface="Malgun Gothic" pitchFamily="34" charset="0"/>
                <a:ea typeface="Malgun Gothic" pitchFamily="34" charset="-122"/>
                <a:cs typeface="Malgun Goth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Smart Learning Environments (2025) · DOI 10.1186/s40561-025-00411-3</a:t>
            </a:r>
            <a:endParaRPr lang="en-US" sz="900" dirty="0"/>
          </a:p>
        </p:txBody>
      </p:sp>
      <p:sp>
        <p:nvSpPr>
          <p:cNvPr id="47" name="Text 44"/>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48" name="Text 45"/>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3B7A5A"/>
                </a:solidFill>
                <a:latin typeface="Malgun Gothic" pitchFamily="34" charset="0"/>
                <a:ea typeface="Malgun Gothic" pitchFamily="34" charset="-122"/>
                <a:cs typeface="Malgun Gothic" pitchFamily="34" charset="-120"/>
              </a:rPr>
              <a:t>PART 2 · 체육 ②</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국내 현장 사례: 디지털 도구 기반 과정중심평가</a:t>
            </a:r>
            <a:endParaRPr lang="en-US" sz="2400" dirty="0"/>
          </a:p>
        </p:txBody>
      </p:sp>
      <p:sp>
        <p:nvSpPr>
          <p:cNvPr id="4" name="Shape 2"/>
          <p:cNvSpPr/>
          <p:nvPr/>
        </p:nvSpPr>
        <p:spPr>
          <a:xfrm>
            <a:off x="10753344" y="402336"/>
            <a:ext cx="868680" cy="310896"/>
          </a:xfrm>
          <a:prstGeom prst="roundRect">
            <a:avLst>
              <a:gd name="adj" fmla="val 50000"/>
            </a:avLst>
          </a:prstGeom>
          <a:solidFill>
            <a:srgbClr val="E2F0E8"/>
          </a:solidFill>
          <a:ln/>
        </p:spPr>
      </p:sp>
      <p:sp>
        <p:nvSpPr>
          <p:cNvPr id="5" name="Text 3"/>
          <p:cNvSpPr/>
          <p:nvPr/>
        </p:nvSpPr>
        <p:spPr>
          <a:xfrm>
            <a:off x="10753344" y="402336"/>
            <a:ext cx="868680" cy="310896"/>
          </a:xfrm>
          <a:prstGeom prst="rect">
            <a:avLst/>
          </a:prstGeom>
          <a:noFill/>
          <a:ln/>
        </p:spPr>
        <p:txBody>
          <a:bodyPr wrap="square" lIns="0" tIns="0" rIns="0" bIns="0" rtlCol="0" anchor="ctr"/>
          <a:lstStyle/>
          <a:p>
            <a:pPr algn="ctr" indent="0" marL="0">
              <a:buNone/>
            </a:pPr>
            <a:r>
              <a:rPr lang="en-US" sz="1200" b="1" dirty="0">
                <a:solidFill>
                  <a:srgbClr val="3B7A5A"/>
                </a:solidFill>
                <a:latin typeface="Malgun Gothic" pitchFamily="34" charset="0"/>
                <a:ea typeface="Malgun Gothic" pitchFamily="34" charset="-122"/>
                <a:cs typeface="Malgun Gothic" pitchFamily="34" charset="-120"/>
              </a:rPr>
              <a:t>체육</a:t>
            </a:r>
            <a:endParaRPr lang="en-US" sz="1200" dirty="0"/>
          </a:p>
        </p:txBody>
      </p:sp>
      <p:sp>
        <p:nvSpPr>
          <p:cNvPr id="6" name="Shape 4"/>
          <p:cNvSpPr/>
          <p:nvPr/>
        </p:nvSpPr>
        <p:spPr>
          <a:xfrm>
            <a:off x="566928" y="1463040"/>
            <a:ext cx="6720840" cy="2834640"/>
          </a:xfrm>
          <a:prstGeom prst="roundRect">
            <a:avLst>
              <a:gd name="adj" fmla="val 3226"/>
            </a:avLst>
          </a:prstGeom>
          <a:solidFill>
            <a:srgbClr val="FFFFFF"/>
          </a:solidFill>
          <a:ln/>
          <a:effectLst>
            <a:outerShdw sx="100000" sy="100000" kx="0" ky="0" algn="bl" rotWithShape="0" blurRad="114300" dist="25400" dir="5400000">
              <a:srgbClr val="9AA2B8">
                <a:alpha val="20000"/>
              </a:srgbClr>
            </a:outerShdw>
          </a:effectLst>
        </p:spPr>
      </p:sp>
      <p:sp>
        <p:nvSpPr>
          <p:cNvPr id="7" name="Text 5"/>
          <p:cNvSpPr/>
          <p:nvPr/>
        </p:nvSpPr>
        <p:spPr>
          <a:xfrm>
            <a:off x="822960" y="1627632"/>
            <a:ext cx="6217920" cy="365760"/>
          </a:xfrm>
          <a:prstGeom prst="rect">
            <a:avLst/>
          </a:prstGeom>
          <a:noFill/>
          <a:ln/>
        </p:spPr>
        <p:txBody>
          <a:bodyPr wrap="square" lIns="0" tIns="0" rIns="0" bIns="0" rtlCol="0" anchor="ctr"/>
          <a:lstStyle/>
          <a:p>
            <a:pPr indent="0" marL="0">
              <a:buNone/>
            </a:pPr>
            <a:r>
              <a:rPr lang="en-US" sz="1400" b="1" dirty="0">
                <a:solidFill>
                  <a:srgbClr val="3B7A5A"/>
                </a:solidFill>
                <a:latin typeface="Malgun Gothic" pitchFamily="34" charset="0"/>
                <a:ea typeface="Malgun Gothic" pitchFamily="34" charset="-122"/>
                <a:cs typeface="Malgun Gothic" pitchFamily="34" charset="-120"/>
              </a:rPr>
              <a:t>현장 사례 · 「스마트 체육 탐구」 (2025)</a:t>
            </a:r>
            <a:endParaRPr lang="en-US" sz="1400" dirty="0"/>
          </a:p>
        </p:txBody>
      </p:sp>
      <p:sp>
        <p:nvSpPr>
          <p:cNvPr id="8" name="Text 6"/>
          <p:cNvSpPr/>
          <p:nvPr/>
        </p:nvSpPr>
        <p:spPr>
          <a:xfrm>
            <a:off x="822960" y="2048256"/>
            <a:ext cx="6263640" cy="2103120"/>
          </a:xfrm>
          <a:prstGeom prst="rect">
            <a:avLst/>
          </a:prstGeom>
          <a:noFill/>
          <a:ln/>
        </p:spPr>
        <p:txBody>
          <a:bodyPr wrap="square" lIns="0" tIns="0" rIns="0" bIns="0" rtlCol="0" anchor="t"/>
          <a:lstStyle/>
          <a:p>
            <a:pPr algn="l" indent="0" marL="0">
              <a:lnSpc>
                <a:spcPct val="104000"/>
              </a:lnSpc>
              <a:spcAft>
                <a:spcPts val="800"/>
              </a:spcAft>
              <a:buNone/>
            </a:pPr>
            <a:r>
              <a:rPr lang="en-US" sz="1200" dirty="0">
                <a:solidFill>
                  <a:srgbClr val="343A4D"/>
                </a:solidFill>
                <a:latin typeface="Malgun Gothic" pitchFamily="34" charset="0"/>
                <a:ea typeface="Malgun Gothic" pitchFamily="34" charset="-122"/>
                <a:cs typeface="Malgun Gothic" pitchFamily="34" charset="-120"/>
              </a:rPr>
              <a:t>AI 동작 피드백 앱과 증강현실 신체활동 앱을 묶어 ‘피지컬 챌린지’를 운영, 기초체력 향상과 자세 교정을 과정중심평가로 구현한 교사 실천 사례.</a:t>
            </a:r>
            <a:endParaRPr lang="en-US" sz="1200" dirty="0"/>
          </a:p>
          <a:p>
            <a:pPr algn="l" indent="0" marL="0">
              <a:lnSpc>
                <a:spcPct val="104000"/>
              </a:lnSpc>
              <a:spcAft>
                <a:spcPts val="600"/>
              </a:spcAft>
              <a:buNone/>
            </a:pPr>
            <a:r>
              <a:rPr lang="en-US" sz="1200" i="1" dirty="0">
                <a:solidFill>
                  <a:srgbClr val="343A4D"/>
                </a:solidFill>
                <a:latin typeface="Malgun Gothic" pitchFamily="34" charset="0"/>
                <a:ea typeface="Malgun Gothic" pitchFamily="34" charset="-122"/>
                <a:cs typeface="Malgun Gothic" pitchFamily="34" charset="-120"/>
              </a:rPr>
              <a:t>교사가 남긴 질문: “정답을 빨리 찾는 능력보다 좋은 질문을 던지는 능력이 중요한 시대다. AI 시대, 체육 교사의 역할은 무엇인가?”</a:t>
            </a:r>
            <a:endParaRPr lang="en-US" sz="1200" dirty="0"/>
          </a:p>
        </p:txBody>
      </p:sp>
      <p:sp>
        <p:nvSpPr>
          <p:cNvPr id="9" name="Shape 7"/>
          <p:cNvSpPr/>
          <p:nvPr/>
        </p:nvSpPr>
        <p:spPr>
          <a:xfrm>
            <a:off x="566928" y="4443984"/>
            <a:ext cx="6720840" cy="1499616"/>
          </a:xfrm>
          <a:prstGeom prst="roundRect">
            <a:avLst>
              <a:gd name="adj" fmla="val 6098"/>
            </a:avLst>
          </a:prstGeom>
          <a:solidFill>
            <a:srgbClr val="FFFFFF"/>
          </a:solidFill>
          <a:ln w="12700">
            <a:solidFill>
              <a:srgbClr val="3B7A5A"/>
            </a:solidFill>
            <a:prstDash val="solid"/>
          </a:ln>
        </p:spPr>
      </p:sp>
      <p:sp>
        <p:nvSpPr>
          <p:cNvPr id="10" name="Shape 8"/>
          <p:cNvSpPr/>
          <p:nvPr/>
        </p:nvSpPr>
        <p:spPr>
          <a:xfrm>
            <a:off x="566928" y="4443984"/>
            <a:ext cx="82296" cy="1499616"/>
          </a:xfrm>
          <a:prstGeom prst="roundRect">
            <a:avLst>
              <a:gd name="adj" fmla="val 44444"/>
            </a:avLst>
          </a:prstGeom>
          <a:solidFill>
            <a:srgbClr val="3B7A5A"/>
          </a:solidFill>
          <a:ln/>
        </p:spPr>
      </p:sp>
      <p:sp>
        <p:nvSpPr>
          <p:cNvPr id="11" name="Text 9"/>
          <p:cNvSpPr/>
          <p:nvPr/>
        </p:nvSpPr>
        <p:spPr>
          <a:xfrm>
            <a:off x="822960" y="4535424"/>
            <a:ext cx="6263640" cy="274320"/>
          </a:xfrm>
          <a:prstGeom prst="rect">
            <a:avLst/>
          </a:prstGeom>
          <a:noFill/>
          <a:ln/>
        </p:spPr>
        <p:txBody>
          <a:bodyPr wrap="square" lIns="0" tIns="0" rIns="0" bIns="0" rtlCol="0" anchor="ctr"/>
          <a:lstStyle/>
          <a:p>
            <a:pPr indent="0" marL="0">
              <a:buNone/>
            </a:pPr>
            <a:r>
              <a:rPr lang="en-US" sz="1150" b="1" dirty="0">
                <a:solidFill>
                  <a:srgbClr val="3B7A5A"/>
                </a:solidFill>
                <a:latin typeface="Malgun Gothic" pitchFamily="34" charset="0"/>
                <a:ea typeface="Malgun Gothic" pitchFamily="34" charset="-122"/>
                <a:cs typeface="Malgun Gothic" pitchFamily="34" charset="-120"/>
              </a:rPr>
              <a:t>수업 장면 · 피지컬 챌린지</a:t>
            </a:r>
            <a:endParaRPr lang="en-US" sz="1150" dirty="0"/>
          </a:p>
        </p:txBody>
      </p:sp>
      <p:sp>
        <p:nvSpPr>
          <p:cNvPr id="12" name="Text 10"/>
          <p:cNvSpPr/>
          <p:nvPr/>
        </p:nvSpPr>
        <p:spPr>
          <a:xfrm>
            <a:off x="822960" y="4828032"/>
            <a:ext cx="6227064" cy="1024128"/>
          </a:xfrm>
          <a:prstGeom prst="rect">
            <a:avLst/>
          </a:prstGeom>
          <a:noFill/>
          <a:ln/>
        </p:spPr>
        <p:txBody>
          <a:bodyPr wrap="square" lIns="0" tIns="0" rIns="0" bIns="0" rtlCol="0" anchor="t"/>
          <a:lstStyle/>
          <a:p>
            <a:pPr algn="l" indent="0" marL="0">
              <a:lnSpc>
                <a:spcPct val="104000"/>
              </a:lnSpc>
              <a:spcAft>
                <a:spcPts val="400"/>
              </a:spcAft>
              <a:buNone/>
            </a:pPr>
            <a:r>
              <a:rPr lang="en-US" sz="1150" dirty="0">
                <a:solidFill>
                  <a:srgbClr val="343A4D"/>
                </a:solidFill>
                <a:latin typeface="Malgun Gothic" pitchFamily="34" charset="0"/>
                <a:ea typeface="Malgun Gothic" pitchFamily="34" charset="-122"/>
                <a:cs typeface="Malgun Gothic" pitchFamily="34" charset="-120"/>
              </a:rPr>
              <a:t>학생이 AR 앱 미션(스쿼트 30회)을 수행하면 앱이 횟수·자세 점수를 기록한다.</a:t>
            </a:r>
            <a:endParaRPr lang="en-US" sz="1150" dirty="0"/>
          </a:p>
          <a:p>
            <a:pPr algn="l" indent="0" marL="0">
              <a:lnSpc>
                <a:spcPct val="104000"/>
              </a:lnSpc>
              <a:spcAft>
                <a:spcPts val="400"/>
              </a:spcAft>
              <a:buNone/>
            </a:pPr>
            <a:r>
              <a:rPr lang="en-US" sz="1150" i="1" dirty="0">
                <a:solidFill>
                  <a:srgbClr val="3B7A5A"/>
                </a:solidFill>
                <a:latin typeface="Malgun Gothic" pitchFamily="34" charset="0"/>
                <a:ea typeface="Malgun Gothic" pitchFamily="34" charset="-122"/>
                <a:cs typeface="Malgun Gothic" pitchFamily="34" charset="-120"/>
              </a:rPr>
              <a:t>교사: “점수 낮은 친구를 찾지 말고, 첫 주보다 오른 자기 기록을 찾아봐.”</a:t>
            </a:r>
            <a:endParaRPr lang="en-US" sz="1150" dirty="0"/>
          </a:p>
          <a:p>
            <a:pPr algn="l" indent="0" marL="0">
              <a:lnSpc>
                <a:spcPct val="104000"/>
              </a:lnSpc>
              <a:spcAft>
                <a:spcPts val="600"/>
              </a:spcAft>
              <a:buNone/>
            </a:pPr>
            <a:r>
              <a:rPr lang="en-US" sz="1100" b="1" dirty="0">
                <a:solidFill>
                  <a:srgbClr val="343A4D"/>
                </a:solidFill>
                <a:latin typeface="Malgun Gothic" pitchFamily="34" charset="0"/>
                <a:ea typeface="Malgun Gothic" pitchFamily="34" charset="-122"/>
                <a:cs typeface="Malgun Gothic" pitchFamily="34" charset="-120"/>
              </a:rPr>
              <a:t>기록: 주차별 기록지가 그대로 과정중심평가 자료가 된다.</a:t>
            </a:r>
            <a:endParaRPr lang="en-US" sz="1150" dirty="0"/>
          </a:p>
        </p:txBody>
      </p:sp>
      <p:sp>
        <p:nvSpPr>
          <p:cNvPr id="13" name="Shape 11"/>
          <p:cNvSpPr/>
          <p:nvPr/>
        </p:nvSpPr>
        <p:spPr>
          <a:xfrm>
            <a:off x="7498080" y="1463040"/>
            <a:ext cx="4142232" cy="4480560"/>
          </a:xfrm>
          <a:prstGeom prst="roundRect">
            <a:avLst>
              <a:gd name="adj" fmla="val 2208"/>
            </a:avLst>
          </a:prstGeom>
          <a:solidFill>
            <a:srgbClr val="E2F0E8"/>
          </a:solidFill>
          <a:ln/>
          <a:effectLst>
            <a:outerShdw sx="100000" sy="100000" kx="0" ky="0" algn="bl" rotWithShape="0" blurRad="114300" dist="25400" dir="5400000">
              <a:srgbClr val="9AA2B8">
                <a:alpha val="20000"/>
              </a:srgbClr>
            </a:outerShdw>
          </a:effectLst>
        </p:spPr>
      </p:sp>
      <p:sp>
        <p:nvSpPr>
          <p:cNvPr id="14" name="Text 12"/>
          <p:cNvSpPr/>
          <p:nvPr/>
        </p:nvSpPr>
        <p:spPr>
          <a:xfrm>
            <a:off x="7735824" y="1627632"/>
            <a:ext cx="3657600" cy="365760"/>
          </a:xfrm>
          <a:prstGeom prst="rect">
            <a:avLst/>
          </a:prstGeom>
          <a:noFill/>
          <a:ln/>
        </p:spPr>
        <p:txBody>
          <a:bodyPr wrap="square" lIns="0" tIns="0" rIns="0" bIns="0" rtlCol="0" anchor="ctr"/>
          <a:lstStyle/>
          <a:p>
            <a:pPr indent="0" marL="0">
              <a:buNone/>
            </a:pPr>
            <a:r>
              <a:rPr lang="en-US" sz="1400" b="1" dirty="0">
                <a:solidFill>
                  <a:srgbClr val="3B7A5A"/>
                </a:solidFill>
                <a:latin typeface="Malgun Gothic" pitchFamily="34" charset="0"/>
                <a:ea typeface="Malgun Gothic" pitchFamily="34" charset="-122"/>
                <a:cs typeface="Malgun Gothic" pitchFamily="34" charset="-120"/>
              </a:rPr>
              <a:t>연구가 뒷받침하는 것</a:t>
            </a:r>
            <a:endParaRPr lang="en-US" sz="1400" dirty="0"/>
          </a:p>
        </p:txBody>
      </p:sp>
      <p:sp>
        <p:nvSpPr>
          <p:cNvPr id="15" name="Text 13"/>
          <p:cNvSpPr/>
          <p:nvPr/>
        </p:nvSpPr>
        <p:spPr>
          <a:xfrm>
            <a:off x="7735824" y="2048256"/>
            <a:ext cx="3703320" cy="3749040"/>
          </a:xfrm>
          <a:prstGeom prst="rect">
            <a:avLst/>
          </a:prstGeom>
          <a:noFill/>
          <a:ln/>
        </p:spPr>
        <p:txBody>
          <a:bodyPr wrap="square" lIns="0" tIns="0" rIns="0" bIns="0" rtlCol="0" anchor="t"/>
          <a:lstStyle/>
          <a:p>
            <a:pPr algn="l" marL="203200" indent="-203200">
              <a:lnSpc>
                <a:spcPct val="104000"/>
              </a:lnSpc>
              <a:spcAft>
                <a:spcPts val="8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딥러닝 자세추정으로 움직임에 피드백을 주는 연구는 45편 이상 축적(Heliyon, 2024 리뷰).</a:t>
            </a:r>
            <a:endParaRPr lang="en-US" sz="1200" dirty="0"/>
          </a:p>
          <a:p>
            <a:pPr algn="l" marL="203200" indent="-203200">
              <a:lnSpc>
                <a:spcPct val="104000"/>
              </a:lnSpc>
              <a:spcAft>
                <a:spcPts val="8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교육부(2024)는 AI 동작인식 기반 실시간 피드백을 맞춤형 체력관리에 도입.</a:t>
            </a:r>
            <a:endParaRPr lang="en-US" sz="1200" dirty="0"/>
          </a:p>
          <a:p>
            <a:pPr algn="l" marL="203200" indent="-203200">
              <a:lnSpc>
                <a:spcPct val="104000"/>
              </a:lnSpc>
              <a:spcAft>
                <a:spcPts val="6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환류로: 야외·다인수 환경의 측정 오차를 전제하고, 원자료와 교차 확인 후 활용한다.</a:t>
            </a:r>
            <a:endParaRPr lang="en-US" sz="1200" dirty="0"/>
          </a:p>
        </p:txBody>
      </p:sp>
      <p:sp>
        <p:nvSpPr>
          <p:cNvPr id="16" name="Text 14"/>
          <p:cNvSpPr/>
          <p:nvPr/>
        </p:nvSpPr>
        <p:spPr>
          <a:xfrm>
            <a:off x="566928" y="6053328"/>
            <a:ext cx="11064240" cy="310896"/>
          </a:xfrm>
          <a:prstGeom prst="rect">
            <a:avLst/>
          </a:prstGeom>
          <a:noFill/>
          <a:ln/>
        </p:spPr>
        <p:txBody>
          <a:bodyPr wrap="square" lIns="0" tIns="0" rIns="0" bIns="0" rtlCol="0" anchor="ctr"/>
          <a:lstStyle/>
          <a:p>
            <a:pPr indent="0" marL="0">
              <a:buNone/>
            </a:pPr>
            <a:r>
              <a:rPr lang="en-US" sz="900" b="1" dirty="0">
                <a:solidFill>
                  <a:srgbClr val="59607A"/>
                </a:solidFill>
                <a:latin typeface="Malgun Gothic" pitchFamily="34" charset="0"/>
                <a:ea typeface="Malgun Gothic" pitchFamily="34" charset="-122"/>
                <a:cs typeface="Malgun Gothic" pitchFamily="34" charset="-120"/>
              </a:rPr>
              <a:t>출처 · </a:t>
            </a:r>
            <a:pPr indent="0" marL="0">
              <a:buNone/>
            </a:pPr>
            <a:r>
              <a:rPr lang="en-US" sz="900" u="sng" dirty="0">
                <a:solidFill>
                  <a:srgbClr val="2E4A85"/>
                </a:solidFill>
                <a:latin typeface="Malgun Gothic" pitchFamily="34" charset="0"/>
                <a:ea typeface="Malgun Gothic" pitchFamily="34" charset="-122"/>
                <a:cs typeface="Malgun Gothic" pitchFamily="34" charset="-120"/>
                <a:hlinkClick r:id="rId1" invalidUrl="" action="" tgtFrame="" tooltip="" history="1" highlightClick="0" endSnd="0">
                  <a:extLst>
                    <a:ext uri="{A12FA001-AC4F-418D-AE19-62706E023703}">
                      <ahyp:hlinkClr xmlns:ahyp="http://schemas.microsoft.com/office/drawing/2018/hyperlinkcolor" val="tx"/>
                    </a:ext>
                  </a:extLst>
                </a:hlinkClick>
              </a:rPr>
              <a:t>현장 사례: 「스마트 체육 탐구」</a:t>
            </a:r>
            <a:pPr indent="0" marL="0">
              <a:buNone/>
            </a:pPr>
            <a:r>
              <a:rPr lang="en-US" sz="900" dirty="0">
                <a:solidFill>
                  <a:srgbClr val="59607A"/>
                </a:solidFill>
                <a:latin typeface="Malgun Gothic" pitchFamily="34" charset="0"/>
                <a:ea typeface="Malgun Gothic" pitchFamily="34" charset="-122"/>
                <a:cs typeface="Malgun Gothic" pitchFamily="34" charset="-120"/>
              </a:rPr>
              <a:t>  ·  </a:t>
            </a:r>
            <a:pPr indent="0" marL="0">
              <a:buNone/>
            </a:pPr>
            <a:r>
              <a:rPr lang="en-US" sz="900" u="sng" dirty="0">
                <a:solidFill>
                  <a:srgbClr val="2E4A85"/>
                </a:solidFill>
                <a:latin typeface="Malgun Gothic" pitchFamily="34" charset="0"/>
                <a:ea typeface="Malgun Gothic" pitchFamily="34" charset="-122"/>
                <a:cs typeface="Malgun Goth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리뷰: PMC11401083</a:t>
            </a:r>
            <a:pPr indent="0" marL="0">
              <a:buNone/>
            </a:pPr>
            <a:r>
              <a:rPr lang="en-US" sz="900" dirty="0">
                <a:solidFill>
                  <a:srgbClr val="59607A"/>
                </a:solidFill>
                <a:latin typeface="Malgun Gothic" pitchFamily="34" charset="0"/>
                <a:ea typeface="Malgun Gothic" pitchFamily="34" charset="-122"/>
                <a:cs typeface="Malgun Gothic" pitchFamily="34" charset="-120"/>
              </a:rPr>
              <a:t>  ·  </a:t>
            </a:r>
            <a:pPr indent="0" marL="0">
              <a:buNone/>
            </a:pPr>
            <a:r>
              <a:rPr lang="en-US" sz="900" dirty="0">
                <a:solidFill>
                  <a:srgbClr val="59607A"/>
                </a:solidFill>
                <a:latin typeface="Malgun Gothic" pitchFamily="34" charset="0"/>
                <a:ea typeface="Malgun Gothic" pitchFamily="34" charset="-122"/>
                <a:cs typeface="Malgun Gothic" pitchFamily="34" charset="-120"/>
              </a:rPr>
              <a:t>교육부(2024)</a:t>
            </a:r>
            <a:endParaRPr lang="en-US" sz="900" dirty="0"/>
          </a:p>
        </p:txBody>
      </p:sp>
      <p:sp>
        <p:nvSpPr>
          <p:cNvPr id="17" name="Text 15"/>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18" name="Text 16"/>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5B4C9E"/>
                </a:solidFill>
                <a:latin typeface="Malgun Gothic" pitchFamily="34" charset="0"/>
                <a:ea typeface="Malgun Gothic" pitchFamily="34" charset="-122"/>
                <a:cs typeface="Malgun Gothic" pitchFamily="34" charset="-120"/>
              </a:rPr>
              <a:t>PART 2 · 소결</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세 교과 사례의 공통점과 시사점</a:t>
            </a:r>
            <a:endParaRPr lang="en-US" sz="2400" dirty="0"/>
          </a:p>
        </p:txBody>
      </p:sp>
      <p:sp>
        <p:nvSpPr>
          <p:cNvPr id="4" name="Shape 2"/>
          <p:cNvSpPr/>
          <p:nvPr/>
        </p:nvSpPr>
        <p:spPr>
          <a:xfrm>
            <a:off x="566928" y="1463040"/>
            <a:ext cx="3566160" cy="1645920"/>
          </a:xfrm>
          <a:prstGeom prst="roundRect">
            <a:avLst>
              <a:gd name="adj" fmla="val 5556"/>
            </a:avLst>
          </a:prstGeom>
          <a:solidFill>
            <a:srgbClr val="ECE8F8"/>
          </a:solidFill>
          <a:ln/>
          <a:effectLst>
            <a:outerShdw sx="100000" sy="100000" kx="0" ky="0" algn="bl" rotWithShape="0" blurRad="114300" dist="25400" dir="5400000">
              <a:srgbClr val="9AA2B8">
                <a:alpha val="20000"/>
              </a:srgbClr>
            </a:outerShdw>
          </a:effectLst>
        </p:spPr>
      </p:sp>
      <p:sp>
        <p:nvSpPr>
          <p:cNvPr id="5" name="Shape 3"/>
          <p:cNvSpPr/>
          <p:nvPr/>
        </p:nvSpPr>
        <p:spPr>
          <a:xfrm>
            <a:off x="768096" y="1591056"/>
            <a:ext cx="402336" cy="402336"/>
          </a:xfrm>
          <a:prstGeom prst="ellipse">
            <a:avLst/>
          </a:prstGeom>
          <a:solidFill>
            <a:srgbClr val="FFFFFF"/>
          </a:solidFill>
          <a:ln/>
        </p:spPr>
      </p:sp>
      <p:pic>
        <p:nvPicPr>
          <p:cNvPr id="6" name="Image 0" descr="/tmp/build/icons/music.png">    </p:cNvPr>
          <p:cNvPicPr>
            <a:picLocks noChangeAspect="1"/>
          </p:cNvPicPr>
          <p:nvPr/>
        </p:nvPicPr>
        <p:blipFill>
          <a:blip r:embed="rId1"/>
          <a:stretch>
            <a:fillRect/>
          </a:stretch>
        </p:blipFill>
        <p:spPr>
          <a:xfrm>
            <a:off x="864657" y="1687617"/>
            <a:ext cx="209215" cy="209215"/>
          </a:xfrm>
          <a:prstGeom prst="rect">
            <a:avLst/>
          </a:prstGeom>
        </p:spPr>
      </p:pic>
      <p:sp>
        <p:nvSpPr>
          <p:cNvPr id="7" name="Text 4"/>
          <p:cNvSpPr/>
          <p:nvPr/>
        </p:nvSpPr>
        <p:spPr>
          <a:xfrm>
            <a:off x="1261872" y="1609344"/>
            <a:ext cx="2651760" cy="365760"/>
          </a:xfrm>
          <a:prstGeom prst="rect">
            <a:avLst/>
          </a:prstGeom>
          <a:noFill/>
          <a:ln/>
        </p:spPr>
        <p:txBody>
          <a:bodyPr wrap="square" lIns="0" tIns="0" rIns="0" bIns="0" rtlCol="0" anchor="ctr"/>
          <a:lstStyle/>
          <a:p>
            <a:pPr indent="0" marL="0">
              <a:buNone/>
            </a:pPr>
            <a:r>
              <a:rPr lang="en-US" sz="1500" b="1" dirty="0">
                <a:solidFill>
                  <a:srgbClr val="5B4C9E"/>
                </a:solidFill>
                <a:latin typeface="Malgun Gothic" pitchFamily="34" charset="0"/>
                <a:ea typeface="Malgun Gothic" pitchFamily="34" charset="-122"/>
                <a:cs typeface="Malgun Gothic" pitchFamily="34" charset="-120"/>
              </a:rPr>
              <a:t>음악</a:t>
            </a:r>
            <a:endParaRPr lang="en-US" sz="1500" dirty="0"/>
          </a:p>
        </p:txBody>
      </p:sp>
      <p:sp>
        <p:nvSpPr>
          <p:cNvPr id="8" name="Text 5"/>
          <p:cNvSpPr/>
          <p:nvPr/>
        </p:nvSpPr>
        <p:spPr>
          <a:xfrm>
            <a:off x="786384" y="2084832"/>
            <a:ext cx="3154680" cy="914400"/>
          </a:xfrm>
          <a:prstGeom prst="rect">
            <a:avLst/>
          </a:prstGeom>
          <a:noFill/>
          <a:ln/>
        </p:spPr>
        <p:txBody>
          <a:bodyPr wrap="square" lIns="0" tIns="0" rIns="0" bIns="0" rtlCol="0" anchor="t"/>
          <a:lstStyle/>
          <a:p>
            <a:pPr indent="0" marL="0">
              <a:lnSpc>
                <a:spcPct val="108000"/>
              </a:lnSpc>
              <a:buNone/>
            </a:pPr>
            <a:r>
              <a:rPr lang="en-US" sz="1250" dirty="0">
                <a:solidFill>
                  <a:srgbClr val="343A4D"/>
                </a:solidFill>
                <a:latin typeface="Malgun Gothic" pitchFamily="34" charset="0"/>
                <a:ea typeface="Malgun Gothic" pitchFamily="34" charset="-122"/>
                <a:cs typeface="Malgun Gothic" pitchFamily="34" charset="-120"/>
              </a:rPr>
              <a:t>AI가 화성을 줘도, 귀로 확인하고 고치는 건 학생</a:t>
            </a:r>
            <a:endParaRPr lang="en-US" sz="1250" dirty="0"/>
          </a:p>
        </p:txBody>
      </p:sp>
      <p:sp>
        <p:nvSpPr>
          <p:cNvPr id="9" name="Shape 6"/>
          <p:cNvSpPr/>
          <p:nvPr/>
        </p:nvSpPr>
        <p:spPr>
          <a:xfrm>
            <a:off x="4242816" y="1463040"/>
            <a:ext cx="3566160" cy="1645920"/>
          </a:xfrm>
          <a:prstGeom prst="roundRect">
            <a:avLst>
              <a:gd name="adj" fmla="val 5556"/>
            </a:avLst>
          </a:prstGeom>
          <a:solidFill>
            <a:srgbClr val="FAE8E3"/>
          </a:solidFill>
          <a:ln/>
          <a:effectLst>
            <a:outerShdw sx="100000" sy="100000" kx="0" ky="0" algn="bl" rotWithShape="0" blurRad="114300" dist="25400" dir="5400000">
              <a:srgbClr val="9AA2B8">
                <a:alpha val="20000"/>
              </a:srgbClr>
            </a:outerShdw>
          </a:effectLst>
        </p:spPr>
      </p:sp>
      <p:sp>
        <p:nvSpPr>
          <p:cNvPr id="10" name="Shape 7"/>
          <p:cNvSpPr/>
          <p:nvPr/>
        </p:nvSpPr>
        <p:spPr>
          <a:xfrm>
            <a:off x="4443984" y="1591056"/>
            <a:ext cx="402336" cy="402336"/>
          </a:xfrm>
          <a:prstGeom prst="ellipse">
            <a:avLst/>
          </a:prstGeom>
          <a:solidFill>
            <a:srgbClr val="FFFFFF"/>
          </a:solidFill>
          <a:ln/>
        </p:spPr>
      </p:sp>
      <p:pic>
        <p:nvPicPr>
          <p:cNvPr id="11" name="Image 1" descr="/tmp/build/icons/palette.png">    </p:cNvPr>
          <p:cNvPicPr>
            <a:picLocks noChangeAspect="1"/>
          </p:cNvPicPr>
          <p:nvPr/>
        </p:nvPicPr>
        <p:blipFill>
          <a:blip r:embed="rId2"/>
          <a:stretch>
            <a:fillRect/>
          </a:stretch>
        </p:blipFill>
        <p:spPr>
          <a:xfrm>
            <a:off x="4540545" y="1687617"/>
            <a:ext cx="209215" cy="209215"/>
          </a:xfrm>
          <a:prstGeom prst="rect">
            <a:avLst/>
          </a:prstGeom>
        </p:spPr>
      </p:pic>
      <p:sp>
        <p:nvSpPr>
          <p:cNvPr id="12" name="Text 8"/>
          <p:cNvSpPr/>
          <p:nvPr/>
        </p:nvSpPr>
        <p:spPr>
          <a:xfrm>
            <a:off x="4937760" y="1609344"/>
            <a:ext cx="2651760" cy="365760"/>
          </a:xfrm>
          <a:prstGeom prst="rect">
            <a:avLst/>
          </a:prstGeom>
          <a:noFill/>
          <a:ln/>
        </p:spPr>
        <p:txBody>
          <a:bodyPr wrap="square" lIns="0" tIns="0" rIns="0" bIns="0" rtlCol="0" anchor="ctr"/>
          <a:lstStyle/>
          <a:p>
            <a:pPr indent="0" marL="0">
              <a:buNone/>
            </a:pPr>
            <a:r>
              <a:rPr lang="en-US" sz="1500" b="1" dirty="0">
                <a:solidFill>
                  <a:srgbClr val="B15C45"/>
                </a:solidFill>
                <a:latin typeface="Malgun Gothic" pitchFamily="34" charset="0"/>
                <a:ea typeface="Malgun Gothic" pitchFamily="34" charset="-122"/>
                <a:cs typeface="Malgun Gothic" pitchFamily="34" charset="-120"/>
              </a:rPr>
              <a:t>미술</a:t>
            </a:r>
            <a:endParaRPr lang="en-US" sz="1500" dirty="0"/>
          </a:p>
        </p:txBody>
      </p:sp>
      <p:sp>
        <p:nvSpPr>
          <p:cNvPr id="13" name="Text 9"/>
          <p:cNvSpPr/>
          <p:nvPr/>
        </p:nvSpPr>
        <p:spPr>
          <a:xfrm>
            <a:off x="4462272" y="2084832"/>
            <a:ext cx="3154680" cy="914400"/>
          </a:xfrm>
          <a:prstGeom prst="rect">
            <a:avLst/>
          </a:prstGeom>
          <a:noFill/>
          <a:ln/>
        </p:spPr>
        <p:txBody>
          <a:bodyPr wrap="square" lIns="0" tIns="0" rIns="0" bIns="0" rtlCol="0" anchor="t"/>
          <a:lstStyle/>
          <a:p>
            <a:pPr indent="0" marL="0">
              <a:lnSpc>
                <a:spcPct val="108000"/>
              </a:lnSpc>
              <a:buNone/>
            </a:pPr>
            <a:r>
              <a:rPr lang="en-US" sz="1250" dirty="0">
                <a:solidFill>
                  <a:srgbClr val="343A4D"/>
                </a:solidFill>
                <a:latin typeface="Malgun Gothic" pitchFamily="34" charset="0"/>
                <a:ea typeface="Malgun Gothic" pitchFamily="34" charset="-122"/>
                <a:cs typeface="Malgun Gothic" pitchFamily="34" charset="-120"/>
              </a:rPr>
              <a:t>AI가 그려도, 무엇을 고르고 버릴지는 사람의 판단</a:t>
            </a:r>
            <a:endParaRPr lang="en-US" sz="1250" dirty="0"/>
          </a:p>
        </p:txBody>
      </p:sp>
      <p:sp>
        <p:nvSpPr>
          <p:cNvPr id="14" name="Shape 10"/>
          <p:cNvSpPr/>
          <p:nvPr/>
        </p:nvSpPr>
        <p:spPr>
          <a:xfrm>
            <a:off x="7918704" y="1463040"/>
            <a:ext cx="3566160" cy="1645920"/>
          </a:xfrm>
          <a:prstGeom prst="roundRect">
            <a:avLst>
              <a:gd name="adj" fmla="val 5556"/>
            </a:avLst>
          </a:prstGeom>
          <a:solidFill>
            <a:srgbClr val="E2F0E8"/>
          </a:solidFill>
          <a:ln/>
          <a:effectLst>
            <a:outerShdw sx="100000" sy="100000" kx="0" ky="0" algn="bl" rotWithShape="0" blurRad="114300" dist="25400" dir="5400000">
              <a:srgbClr val="9AA2B8">
                <a:alpha val="20000"/>
              </a:srgbClr>
            </a:outerShdw>
          </a:effectLst>
        </p:spPr>
      </p:sp>
      <p:sp>
        <p:nvSpPr>
          <p:cNvPr id="15" name="Shape 11"/>
          <p:cNvSpPr/>
          <p:nvPr/>
        </p:nvSpPr>
        <p:spPr>
          <a:xfrm>
            <a:off x="8119872" y="1591056"/>
            <a:ext cx="402336" cy="402336"/>
          </a:xfrm>
          <a:prstGeom prst="ellipse">
            <a:avLst/>
          </a:prstGeom>
          <a:solidFill>
            <a:srgbClr val="FFFFFF"/>
          </a:solidFill>
          <a:ln/>
        </p:spPr>
      </p:sp>
      <p:pic>
        <p:nvPicPr>
          <p:cNvPr id="16" name="Image 2" descr="/tmp/build/icons/running.png">    </p:cNvPr>
          <p:cNvPicPr>
            <a:picLocks noChangeAspect="1"/>
          </p:cNvPicPr>
          <p:nvPr/>
        </p:nvPicPr>
        <p:blipFill>
          <a:blip r:embed="rId3"/>
          <a:stretch>
            <a:fillRect/>
          </a:stretch>
        </p:blipFill>
        <p:spPr>
          <a:xfrm>
            <a:off x="8216433" y="1687617"/>
            <a:ext cx="209215" cy="209215"/>
          </a:xfrm>
          <a:prstGeom prst="rect">
            <a:avLst/>
          </a:prstGeom>
        </p:spPr>
      </p:pic>
      <p:sp>
        <p:nvSpPr>
          <p:cNvPr id="17" name="Text 12"/>
          <p:cNvSpPr/>
          <p:nvPr/>
        </p:nvSpPr>
        <p:spPr>
          <a:xfrm>
            <a:off x="8613648" y="1609344"/>
            <a:ext cx="2651760" cy="365760"/>
          </a:xfrm>
          <a:prstGeom prst="rect">
            <a:avLst/>
          </a:prstGeom>
          <a:noFill/>
          <a:ln/>
        </p:spPr>
        <p:txBody>
          <a:bodyPr wrap="square" lIns="0" tIns="0" rIns="0" bIns="0" rtlCol="0" anchor="ctr"/>
          <a:lstStyle/>
          <a:p>
            <a:pPr indent="0" marL="0">
              <a:buNone/>
            </a:pPr>
            <a:r>
              <a:rPr lang="en-US" sz="1500" b="1" dirty="0">
                <a:solidFill>
                  <a:srgbClr val="3B7A5A"/>
                </a:solidFill>
                <a:latin typeface="Malgun Gothic" pitchFamily="34" charset="0"/>
                <a:ea typeface="Malgun Gothic" pitchFamily="34" charset="-122"/>
                <a:cs typeface="Malgun Gothic" pitchFamily="34" charset="-120"/>
              </a:rPr>
              <a:t>체육</a:t>
            </a:r>
            <a:endParaRPr lang="en-US" sz="1500" dirty="0"/>
          </a:p>
        </p:txBody>
      </p:sp>
      <p:sp>
        <p:nvSpPr>
          <p:cNvPr id="18" name="Text 13"/>
          <p:cNvSpPr/>
          <p:nvPr/>
        </p:nvSpPr>
        <p:spPr>
          <a:xfrm>
            <a:off x="8138160" y="2084832"/>
            <a:ext cx="3154680" cy="914400"/>
          </a:xfrm>
          <a:prstGeom prst="rect">
            <a:avLst/>
          </a:prstGeom>
          <a:noFill/>
          <a:ln/>
        </p:spPr>
        <p:txBody>
          <a:bodyPr wrap="square" lIns="0" tIns="0" rIns="0" bIns="0" rtlCol="0" anchor="t"/>
          <a:lstStyle/>
          <a:p>
            <a:pPr indent="0" marL="0">
              <a:lnSpc>
                <a:spcPct val="108000"/>
              </a:lnSpc>
              <a:buNone/>
            </a:pPr>
            <a:r>
              <a:rPr lang="en-US" sz="1250" dirty="0">
                <a:solidFill>
                  <a:srgbClr val="343A4D"/>
                </a:solidFill>
                <a:latin typeface="Malgun Gothic" pitchFamily="34" charset="0"/>
                <a:ea typeface="Malgun Gothic" pitchFamily="34" charset="-122"/>
                <a:cs typeface="Malgun Gothic" pitchFamily="34" charset="-120"/>
              </a:rPr>
              <a:t>AI가 자세를 재도, 오래 움직이게 하는 건 동기와 격려</a:t>
            </a:r>
            <a:endParaRPr lang="en-US" sz="1250" dirty="0"/>
          </a:p>
        </p:txBody>
      </p:sp>
      <p:sp>
        <p:nvSpPr>
          <p:cNvPr id="19" name="Shape 14"/>
          <p:cNvSpPr/>
          <p:nvPr/>
        </p:nvSpPr>
        <p:spPr>
          <a:xfrm>
            <a:off x="566928" y="3310128"/>
            <a:ext cx="11064240" cy="1051560"/>
          </a:xfrm>
          <a:prstGeom prst="roundRect">
            <a:avLst>
              <a:gd name="adj" fmla="val 8696"/>
            </a:avLst>
          </a:prstGeom>
          <a:solidFill>
            <a:srgbClr val="FFFFFF"/>
          </a:solidFill>
          <a:ln/>
          <a:effectLst>
            <a:outerShdw sx="100000" sy="100000" kx="0" ky="0" algn="bl" rotWithShape="0" blurRad="114300" dist="25400" dir="5400000">
              <a:srgbClr val="9AA2B8">
                <a:alpha val="20000"/>
              </a:srgbClr>
            </a:outerShdw>
          </a:effectLst>
        </p:spPr>
      </p:sp>
      <p:sp>
        <p:nvSpPr>
          <p:cNvPr id="20" name="Text 15"/>
          <p:cNvSpPr/>
          <p:nvPr/>
        </p:nvSpPr>
        <p:spPr>
          <a:xfrm>
            <a:off x="822960" y="3438144"/>
            <a:ext cx="4572000" cy="310896"/>
          </a:xfrm>
          <a:prstGeom prst="rect">
            <a:avLst/>
          </a:prstGeom>
          <a:noFill/>
          <a:ln/>
        </p:spPr>
        <p:txBody>
          <a:bodyPr wrap="square" lIns="0" tIns="0" rIns="0" bIns="0" rtlCol="0" anchor="ctr"/>
          <a:lstStyle/>
          <a:p>
            <a:pPr indent="0" marL="0">
              <a:buNone/>
            </a:pPr>
            <a:r>
              <a:rPr lang="en-US" sz="1350" b="1" dirty="0">
                <a:solidFill>
                  <a:srgbClr val="1E3560"/>
                </a:solidFill>
                <a:latin typeface="Malgun Gothic" pitchFamily="34" charset="0"/>
                <a:ea typeface="Malgun Gothic" pitchFamily="34" charset="-122"/>
                <a:cs typeface="Malgun Gothic" pitchFamily="34" charset="-120"/>
              </a:rPr>
              <a:t>세 사례의 공통 구조</a:t>
            </a:r>
            <a:endParaRPr lang="en-US" sz="1350" dirty="0"/>
          </a:p>
        </p:txBody>
      </p:sp>
      <p:sp>
        <p:nvSpPr>
          <p:cNvPr id="21" name="Text 16"/>
          <p:cNvSpPr/>
          <p:nvPr/>
        </p:nvSpPr>
        <p:spPr>
          <a:xfrm>
            <a:off x="822960" y="3767328"/>
            <a:ext cx="10607040" cy="548640"/>
          </a:xfrm>
          <a:prstGeom prst="rect">
            <a:avLst/>
          </a:prstGeom>
          <a:noFill/>
          <a:ln/>
        </p:spPr>
        <p:txBody>
          <a:bodyPr wrap="square" lIns="0" tIns="0" rIns="0" bIns="0" rtlCol="0" anchor="t"/>
          <a:lstStyle/>
          <a:p>
            <a:pPr indent="0" marL="0">
              <a:lnSpc>
                <a:spcPct val="106000"/>
              </a:lnSpc>
              <a:buNone/>
            </a:pPr>
            <a:r>
              <a:rPr lang="en-US" sz="1250" dirty="0">
                <a:solidFill>
                  <a:srgbClr val="59607A"/>
                </a:solidFill>
                <a:latin typeface="Malgun Gothic" pitchFamily="34" charset="0"/>
                <a:ea typeface="Malgun Gothic" pitchFamily="34" charset="-122"/>
                <a:cs typeface="Malgun Gothic" pitchFamily="34" charset="-120"/>
              </a:rPr>
              <a:t>AI는 실행의 비용을 낮춘다. 그만큼 교사의 일은 실행 감독에서 발상·판단·정서의 촉진으로 옮겨 간다. 환류는 데이터를 받아, 옮겨 간 이 자리에서 다음 수업을 다시 설계하는 작업이다.</a:t>
            </a:r>
            <a:endParaRPr lang="en-US" sz="1250" dirty="0"/>
          </a:p>
        </p:txBody>
      </p:sp>
      <p:sp>
        <p:nvSpPr>
          <p:cNvPr id="22" name="Shape 17"/>
          <p:cNvSpPr/>
          <p:nvPr/>
        </p:nvSpPr>
        <p:spPr>
          <a:xfrm>
            <a:off x="566928" y="4526280"/>
            <a:ext cx="11064240" cy="1371600"/>
          </a:xfrm>
          <a:prstGeom prst="roundRect">
            <a:avLst>
              <a:gd name="adj" fmla="val 6667"/>
            </a:avLst>
          </a:prstGeom>
          <a:solidFill>
            <a:srgbClr val="ECE8F8"/>
          </a:solidFill>
          <a:ln/>
          <a:effectLst>
            <a:outerShdw sx="100000" sy="100000" kx="0" ky="0" algn="bl" rotWithShape="0" blurRad="114300" dist="25400" dir="5400000">
              <a:srgbClr val="9AA2B8">
                <a:alpha val="20000"/>
              </a:srgbClr>
            </a:outerShdw>
          </a:effectLst>
        </p:spPr>
      </p:sp>
      <p:sp>
        <p:nvSpPr>
          <p:cNvPr id="23" name="Text 18"/>
          <p:cNvSpPr/>
          <p:nvPr/>
        </p:nvSpPr>
        <p:spPr>
          <a:xfrm>
            <a:off x="841248" y="4663440"/>
            <a:ext cx="5486400" cy="310896"/>
          </a:xfrm>
          <a:prstGeom prst="rect">
            <a:avLst/>
          </a:prstGeom>
          <a:noFill/>
          <a:ln/>
        </p:spPr>
        <p:txBody>
          <a:bodyPr wrap="square" lIns="0" tIns="0" rIns="0" bIns="0" rtlCol="0" anchor="ctr"/>
          <a:lstStyle/>
          <a:p>
            <a:pPr indent="0" marL="0">
              <a:buNone/>
            </a:pPr>
            <a:r>
              <a:rPr lang="en-US" sz="1400" b="1" dirty="0">
                <a:solidFill>
                  <a:srgbClr val="5B4C9E"/>
                </a:solidFill>
                <a:latin typeface="Malgun Gothic" pitchFamily="34" charset="0"/>
                <a:ea typeface="Malgun Gothic" pitchFamily="34" charset="-122"/>
                <a:cs typeface="Malgun Gothic" pitchFamily="34" charset="-120"/>
              </a:rPr>
              <a:t>잠깐, 스몰토크</a:t>
            </a:r>
            <a:endParaRPr lang="en-US" sz="1400" dirty="0"/>
          </a:p>
        </p:txBody>
      </p:sp>
      <p:sp>
        <p:nvSpPr>
          <p:cNvPr id="24" name="Text 19"/>
          <p:cNvSpPr/>
          <p:nvPr/>
        </p:nvSpPr>
        <p:spPr>
          <a:xfrm>
            <a:off x="841248" y="5029200"/>
            <a:ext cx="10515600" cy="822960"/>
          </a:xfrm>
          <a:prstGeom prst="rect">
            <a:avLst/>
          </a:prstGeom>
          <a:noFill/>
          <a:ln/>
        </p:spPr>
        <p:txBody>
          <a:bodyPr wrap="square" lIns="0" tIns="0" rIns="0" bIns="0" rtlCol="0" anchor="t"/>
          <a:lstStyle/>
          <a:p>
            <a:pPr algn="l" indent="0" marL="0">
              <a:lnSpc>
                <a:spcPct val="104000"/>
              </a:lnSpc>
              <a:spcAft>
                <a:spcPts val="600"/>
              </a:spcAft>
              <a:buNone/>
            </a:pPr>
            <a:r>
              <a:rPr lang="en-US" sz="1300" i="1" dirty="0">
                <a:solidFill>
                  <a:srgbClr val="343A4D"/>
                </a:solidFill>
                <a:latin typeface="Malgun Gothic" pitchFamily="34" charset="0"/>
                <a:ea typeface="Malgun Gothic" pitchFamily="34" charset="-122"/>
                <a:cs typeface="Malgun Gothic" pitchFamily="34" charset="-120"/>
              </a:rPr>
              <a:t>“방금 세 교과 사례 중, 우리 반 상황과 가장 닮은 장면이 있었나요? 그 장면에서 나라면 데이터를 보고 무엇부터 바꿔 볼까요?” 옆 선생님과 한 문장씩 나눠 봅니다.</a:t>
            </a:r>
            <a:endParaRPr lang="en-US" sz="1300" dirty="0"/>
          </a:p>
        </p:txBody>
      </p:sp>
      <p:sp>
        <p:nvSpPr>
          <p:cNvPr id="25" name="Text 20"/>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26" name="Text 21"/>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B"/>
        </a:solidFill>
      </p:bgPr>
    </p:bg>
    <p:spTree>
      <p:nvGrpSpPr>
        <p:cNvPr id="1" name=""/>
        <p:cNvGrpSpPr/>
        <p:nvPr/>
      </p:nvGrpSpPr>
      <p:grpSpPr>
        <a:xfrm>
          <a:off x="0" y="0"/>
          <a:ext cx="0" cy="0"/>
          <a:chOff x="0" y="0"/>
          <a:chExt cx="0" cy="0"/>
        </a:xfrm>
      </p:grpSpPr>
      <p:sp>
        <p:nvSpPr>
          <p:cNvPr id="2" name="Shape 0"/>
          <p:cNvSpPr/>
          <p:nvPr/>
        </p:nvSpPr>
        <p:spPr>
          <a:xfrm>
            <a:off x="8869680" y="-1188720"/>
            <a:ext cx="5120640" cy="5120640"/>
          </a:xfrm>
          <a:prstGeom prst="ellipse">
            <a:avLst/>
          </a:prstGeom>
          <a:solidFill>
            <a:srgbClr val="FAE8E3"/>
          </a:solidFill>
          <a:ln/>
        </p:spPr>
      </p:sp>
      <p:sp>
        <p:nvSpPr>
          <p:cNvPr id="3" name="Shape 1"/>
          <p:cNvSpPr/>
          <p:nvPr/>
        </p:nvSpPr>
        <p:spPr>
          <a:xfrm>
            <a:off x="10241280" y="3291840"/>
            <a:ext cx="2926080" cy="2926080"/>
          </a:xfrm>
          <a:prstGeom prst="ellipse">
            <a:avLst/>
          </a:prstGeom>
          <a:solidFill>
            <a:srgbClr val="FAE8E3"/>
          </a:solidFill>
          <a:ln/>
        </p:spPr>
      </p:sp>
      <p:sp>
        <p:nvSpPr>
          <p:cNvPr id="4" name="Text 2"/>
          <p:cNvSpPr/>
          <p:nvPr/>
        </p:nvSpPr>
        <p:spPr>
          <a:xfrm>
            <a:off x="566928" y="2148840"/>
            <a:ext cx="7315200" cy="457200"/>
          </a:xfrm>
          <a:prstGeom prst="rect">
            <a:avLst/>
          </a:prstGeom>
          <a:noFill/>
          <a:ln/>
        </p:spPr>
        <p:txBody>
          <a:bodyPr wrap="square" lIns="0" tIns="0" rIns="0" bIns="0" rtlCol="0" anchor="ctr"/>
          <a:lstStyle/>
          <a:p>
            <a:pPr indent="0" marL="0">
              <a:buNone/>
            </a:pPr>
            <a:r>
              <a:rPr lang="en-US" sz="1500" b="1" spc="200" kern="0" dirty="0">
                <a:solidFill>
                  <a:srgbClr val="B15C45"/>
                </a:solidFill>
                <a:latin typeface="Malgun Gothic" pitchFamily="34" charset="0"/>
                <a:ea typeface="Malgun Gothic" pitchFamily="34" charset="-122"/>
                <a:cs typeface="Malgun Gothic" pitchFamily="34" charset="-120"/>
              </a:rPr>
              <a:t>PART 3</a:t>
            </a:r>
            <a:endParaRPr lang="en-US" sz="1500" dirty="0"/>
          </a:p>
        </p:txBody>
      </p:sp>
      <p:sp>
        <p:nvSpPr>
          <p:cNvPr id="5" name="Text 3"/>
          <p:cNvSpPr/>
          <p:nvPr/>
        </p:nvSpPr>
        <p:spPr>
          <a:xfrm>
            <a:off x="566928" y="2606040"/>
            <a:ext cx="7863840" cy="1097280"/>
          </a:xfrm>
          <a:prstGeom prst="rect">
            <a:avLst/>
          </a:prstGeom>
          <a:noFill/>
          <a:ln/>
        </p:spPr>
        <p:txBody>
          <a:bodyPr wrap="square" lIns="0" tIns="0" rIns="0" bIns="0" rtlCol="0" anchor="ctr"/>
          <a:lstStyle/>
          <a:p>
            <a:pPr indent="0" marL="0">
              <a:buNone/>
            </a:pPr>
            <a:r>
              <a:rPr lang="en-US" sz="3400" b="1" dirty="0">
                <a:solidFill>
                  <a:srgbClr val="1E3560"/>
                </a:solidFill>
                <a:latin typeface="Malgun Gothic" pitchFamily="34" charset="0"/>
                <a:ea typeface="Malgun Gothic" pitchFamily="34" charset="-122"/>
                <a:cs typeface="Malgun Gothic" pitchFamily="34" charset="-120"/>
              </a:rPr>
              <a:t>데이터 기반 환류 실습</a:t>
            </a:r>
            <a:endParaRPr lang="en-US" sz="3400" dirty="0"/>
          </a:p>
        </p:txBody>
      </p:sp>
      <p:sp>
        <p:nvSpPr>
          <p:cNvPr id="6" name="Text 4"/>
          <p:cNvSpPr/>
          <p:nvPr/>
        </p:nvSpPr>
        <p:spPr>
          <a:xfrm>
            <a:off x="566928" y="3794760"/>
            <a:ext cx="7680960" cy="822960"/>
          </a:xfrm>
          <a:prstGeom prst="rect">
            <a:avLst/>
          </a:prstGeom>
          <a:noFill/>
          <a:ln/>
        </p:spPr>
        <p:txBody>
          <a:bodyPr wrap="square" lIns="0" tIns="0" rIns="0" bIns="0" rtlCol="0" anchor="t"/>
          <a:lstStyle/>
          <a:p>
            <a:pPr indent="0" marL="0">
              <a:lnSpc>
                <a:spcPct val="110000"/>
              </a:lnSpc>
              <a:buNone/>
            </a:pPr>
            <a:r>
              <a:rPr lang="en-US" sz="1400" dirty="0">
                <a:solidFill>
                  <a:srgbClr val="59607A"/>
                </a:solidFill>
                <a:latin typeface="Malgun Gothic" pitchFamily="34" charset="0"/>
                <a:ea typeface="Malgun Gothic" pitchFamily="34" charset="-122"/>
                <a:cs typeface="Malgun Gothic" pitchFamily="34" charset="-120"/>
              </a:rPr>
              <a:t>⑩ 실행 · ⑪ 분석에서 만든 내 데이터를, 오늘 함께 성장의 근거로 되돌린다</a:t>
            </a:r>
            <a:endParaRPr lang="en-US" sz="1400" dirty="0"/>
          </a:p>
        </p:txBody>
      </p:sp>
      <p:sp>
        <p:nvSpPr>
          <p:cNvPr id="7" name="Text 5"/>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8" name="Text 6"/>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B15C45"/>
                </a:solidFill>
                <a:latin typeface="Malgun Gothic" pitchFamily="34" charset="0"/>
                <a:ea typeface="Malgun Gothic" pitchFamily="34" charset="-122"/>
                <a:cs typeface="Malgun Gothic" pitchFamily="34" charset="-120"/>
              </a:rPr>
              <a:t>PART 3 · 흐름</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실습 흐름과 지난 세션 데이터 활용</a:t>
            </a:r>
            <a:endParaRPr lang="en-US" sz="2400" dirty="0"/>
          </a:p>
        </p:txBody>
      </p:sp>
      <p:sp>
        <p:nvSpPr>
          <p:cNvPr id="4" name="Shape 2"/>
          <p:cNvSpPr/>
          <p:nvPr/>
        </p:nvSpPr>
        <p:spPr>
          <a:xfrm>
            <a:off x="566928" y="1417320"/>
            <a:ext cx="11064240" cy="1234440"/>
          </a:xfrm>
          <a:prstGeom prst="roundRect">
            <a:avLst>
              <a:gd name="adj" fmla="val 7407"/>
            </a:avLst>
          </a:prstGeom>
          <a:solidFill>
            <a:srgbClr val="EAEEF8"/>
          </a:solidFill>
          <a:ln/>
          <a:effectLst>
            <a:outerShdw sx="100000" sy="100000" kx="0" ky="0" algn="bl" rotWithShape="0" blurRad="114300" dist="25400" dir="5400000">
              <a:srgbClr val="9AA2B8">
                <a:alpha val="20000"/>
              </a:srgbClr>
            </a:outerShdw>
          </a:effectLst>
        </p:spPr>
      </p:sp>
      <p:sp>
        <p:nvSpPr>
          <p:cNvPr id="5" name="Text 3"/>
          <p:cNvSpPr/>
          <p:nvPr/>
        </p:nvSpPr>
        <p:spPr>
          <a:xfrm>
            <a:off x="822960" y="1536192"/>
            <a:ext cx="5486400" cy="310896"/>
          </a:xfrm>
          <a:prstGeom prst="rect">
            <a:avLst/>
          </a:prstGeom>
          <a:noFill/>
          <a:ln/>
        </p:spPr>
        <p:txBody>
          <a:bodyPr wrap="square" lIns="0" tIns="0" rIns="0" bIns="0" rtlCol="0" anchor="ctr"/>
          <a:lstStyle/>
          <a:p>
            <a:pPr indent="0" marL="0">
              <a:buNone/>
            </a:pPr>
            <a:r>
              <a:rPr lang="en-US" sz="1300" b="1" dirty="0">
                <a:solidFill>
                  <a:srgbClr val="2E4A85"/>
                </a:solidFill>
                <a:latin typeface="Malgun Gothic" pitchFamily="34" charset="0"/>
                <a:ea typeface="Malgun Gothic" pitchFamily="34" charset="-122"/>
                <a:cs typeface="Malgun Gothic" pitchFamily="34" charset="-120"/>
              </a:rPr>
              <a:t>입력: 지난 세션 산출물</a:t>
            </a:r>
            <a:endParaRPr lang="en-US" sz="1300" dirty="0"/>
          </a:p>
        </p:txBody>
      </p:sp>
      <p:sp>
        <p:nvSpPr>
          <p:cNvPr id="6" name="Shape 4"/>
          <p:cNvSpPr/>
          <p:nvPr/>
        </p:nvSpPr>
        <p:spPr>
          <a:xfrm>
            <a:off x="841248" y="1883664"/>
            <a:ext cx="5212080" cy="621792"/>
          </a:xfrm>
          <a:prstGeom prst="roundRect">
            <a:avLst>
              <a:gd name="adj" fmla="val 11765"/>
            </a:avLst>
          </a:prstGeom>
          <a:solidFill>
            <a:srgbClr val="FFFFFF"/>
          </a:solidFill>
          <a:ln/>
        </p:spPr>
      </p:sp>
      <p:sp>
        <p:nvSpPr>
          <p:cNvPr id="7" name="Text 5"/>
          <p:cNvSpPr/>
          <p:nvPr/>
        </p:nvSpPr>
        <p:spPr>
          <a:xfrm>
            <a:off x="987552" y="1883664"/>
            <a:ext cx="640080" cy="621792"/>
          </a:xfrm>
          <a:prstGeom prst="rect">
            <a:avLst/>
          </a:prstGeom>
          <a:noFill/>
          <a:ln/>
        </p:spPr>
        <p:txBody>
          <a:bodyPr wrap="square" lIns="0" tIns="0" rIns="0" bIns="0" rtlCol="0" anchor="ctr"/>
          <a:lstStyle/>
          <a:p>
            <a:pPr algn="ctr" indent="0" marL="0">
              <a:buNone/>
            </a:pPr>
            <a:r>
              <a:rPr lang="en-US" sz="1600" b="1" dirty="0">
                <a:solidFill>
                  <a:srgbClr val="2E4A85"/>
                </a:solidFill>
                <a:latin typeface="Malgun Gothic" pitchFamily="34" charset="0"/>
                <a:ea typeface="Malgun Gothic" pitchFamily="34" charset="-122"/>
                <a:cs typeface="Malgun Gothic" pitchFamily="34" charset="-120"/>
              </a:rPr>
              <a:t>⑩</a:t>
            </a:r>
            <a:endParaRPr lang="en-US" sz="1600" dirty="0"/>
          </a:p>
        </p:txBody>
      </p:sp>
      <p:sp>
        <p:nvSpPr>
          <p:cNvPr id="8" name="Text 6"/>
          <p:cNvSpPr/>
          <p:nvPr/>
        </p:nvSpPr>
        <p:spPr>
          <a:xfrm>
            <a:off x="1664208" y="1883664"/>
            <a:ext cx="4297680" cy="621792"/>
          </a:xfrm>
          <a:prstGeom prst="rect">
            <a:avLst/>
          </a:prstGeom>
          <a:noFill/>
          <a:ln/>
        </p:spPr>
        <p:txBody>
          <a:bodyPr wrap="square" lIns="0" tIns="0" rIns="0" bIns="0" rtlCol="0" anchor="ctr"/>
          <a:lstStyle/>
          <a:p>
            <a:pPr indent="0" marL="0">
              <a:buNone/>
            </a:pPr>
            <a:r>
              <a:rPr lang="en-US" sz="1250" dirty="0">
                <a:solidFill>
                  <a:srgbClr val="343A4D"/>
                </a:solidFill>
                <a:latin typeface="Malgun Gothic" pitchFamily="34" charset="0"/>
                <a:ea typeface="Malgun Gothic" pitchFamily="34" charset="-122"/>
                <a:cs typeface="Malgun Gothic" pitchFamily="34" charset="-120"/>
              </a:rPr>
              <a:t>마이크로티칭 실행 기록·산출물</a:t>
            </a:r>
            <a:endParaRPr lang="en-US" sz="1250" dirty="0"/>
          </a:p>
        </p:txBody>
      </p:sp>
      <p:sp>
        <p:nvSpPr>
          <p:cNvPr id="9" name="Shape 7"/>
          <p:cNvSpPr/>
          <p:nvPr/>
        </p:nvSpPr>
        <p:spPr>
          <a:xfrm>
            <a:off x="6281928" y="1883664"/>
            <a:ext cx="5212080" cy="621792"/>
          </a:xfrm>
          <a:prstGeom prst="roundRect">
            <a:avLst>
              <a:gd name="adj" fmla="val 11765"/>
            </a:avLst>
          </a:prstGeom>
          <a:solidFill>
            <a:srgbClr val="FFFFFF"/>
          </a:solidFill>
          <a:ln/>
        </p:spPr>
      </p:sp>
      <p:sp>
        <p:nvSpPr>
          <p:cNvPr id="10" name="Text 8"/>
          <p:cNvSpPr/>
          <p:nvPr/>
        </p:nvSpPr>
        <p:spPr>
          <a:xfrm>
            <a:off x="6428232" y="1883664"/>
            <a:ext cx="640080" cy="621792"/>
          </a:xfrm>
          <a:prstGeom prst="rect">
            <a:avLst/>
          </a:prstGeom>
          <a:noFill/>
          <a:ln/>
        </p:spPr>
        <p:txBody>
          <a:bodyPr wrap="square" lIns="0" tIns="0" rIns="0" bIns="0" rtlCol="0" anchor="ctr"/>
          <a:lstStyle/>
          <a:p>
            <a:pPr algn="ctr" indent="0" marL="0">
              <a:buNone/>
            </a:pPr>
            <a:r>
              <a:rPr lang="en-US" sz="1600" b="1" dirty="0">
                <a:solidFill>
                  <a:srgbClr val="2E4A85"/>
                </a:solidFill>
                <a:latin typeface="Malgun Gothic" pitchFamily="34" charset="0"/>
                <a:ea typeface="Malgun Gothic" pitchFamily="34" charset="-122"/>
                <a:cs typeface="Malgun Gothic" pitchFamily="34" charset="-120"/>
              </a:rPr>
              <a:t>⑪</a:t>
            </a:r>
            <a:endParaRPr lang="en-US" sz="1600" dirty="0"/>
          </a:p>
        </p:txBody>
      </p:sp>
      <p:sp>
        <p:nvSpPr>
          <p:cNvPr id="11" name="Text 9"/>
          <p:cNvSpPr/>
          <p:nvPr/>
        </p:nvSpPr>
        <p:spPr>
          <a:xfrm>
            <a:off x="7104888" y="1883664"/>
            <a:ext cx="4297680" cy="621792"/>
          </a:xfrm>
          <a:prstGeom prst="rect">
            <a:avLst/>
          </a:prstGeom>
          <a:noFill/>
          <a:ln/>
        </p:spPr>
        <p:txBody>
          <a:bodyPr wrap="square" lIns="0" tIns="0" rIns="0" bIns="0" rtlCol="0" anchor="ctr"/>
          <a:lstStyle/>
          <a:p>
            <a:pPr indent="0" marL="0">
              <a:buNone/>
            </a:pPr>
            <a:r>
              <a:rPr lang="en-US" sz="1250" dirty="0">
                <a:solidFill>
                  <a:srgbClr val="343A4D"/>
                </a:solidFill>
                <a:latin typeface="Malgun Gothic" pitchFamily="34" charset="0"/>
                <a:ea typeface="Malgun Gothic" pitchFamily="34" charset="-122"/>
                <a:cs typeface="Malgun Gothic" pitchFamily="34" charset="-120"/>
              </a:rPr>
              <a:t>실기·수행 데이터 분석 결과</a:t>
            </a:r>
            <a:endParaRPr lang="en-US" sz="1250" dirty="0"/>
          </a:p>
        </p:txBody>
      </p:sp>
      <p:sp>
        <p:nvSpPr>
          <p:cNvPr id="12" name="Shape 10"/>
          <p:cNvSpPr/>
          <p:nvPr/>
        </p:nvSpPr>
        <p:spPr>
          <a:xfrm>
            <a:off x="566928" y="2971800"/>
            <a:ext cx="3566160" cy="2331720"/>
          </a:xfrm>
          <a:prstGeom prst="roundRect">
            <a:avLst>
              <a:gd name="adj" fmla="val 3922"/>
            </a:avLst>
          </a:prstGeom>
          <a:solidFill>
            <a:srgbClr val="FFFFFF"/>
          </a:solidFill>
          <a:ln/>
          <a:effectLst>
            <a:outerShdw sx="100000" sy="100000" kx="0" ky="0" algn="bl" rotWithShape="0" blurRad="114300" dist="25400" dir="5400000">
              <a:srgbClr val="9AA2B8">
                <a:alpha val="20000"/>
              </a:srgbClr>
            </a:outerShdw>
          </a:effectLst>
        </p:spPr>
      </p:sp>
      <p:sp>
        <p:nvSpPr>
          <p:cNvPr id="13" name="Shape 11"/>
          <p:cNvSpPr/>
          <p:nvPr/>
        </p:nvSpPr>
        <p:spPr>
          <a:xfrm>
            <a:off x="566928" y="2971800"/>
            <a:ext cx="3566160" cy="548640"/>
          </a:xfrm>
          <a:prstGeom prst="roundRect">
            <a:avLst>
              <a:gd name="adj" fmla="val 13333"/>
            </a:avLst>
          </a:prstGeom>
          <a:solidFill>
            <a:srgbClr val="FAE8E3"/>
          </a:solidFill>
          <a:ln/>
        </p:spPr>
      </p:sp>
      <p:sp>
        <p:nvSpPr>
          <p:cNvPr id="14" name="Text 12"/>
          <p:cNvSpPr/>
          <p:nvPr/>
        </p:nvSpPr>
        <p:spPr>
          <a:xfrm>
            <a:off x="786384" y="2971800"/>
            <a:ext cx="3200400" cy="548640"/>
          </a:xfrm>
          <a:prstGeom prst="rect">
            <a:avLst/>
          </a:prstGeom>
          <a:noFill/>
          <a:ln/>
        </p:spPr>
        <p:txBody>
          <a:bodyPr wrap="square" lIns="0" tIns="0" rIns="0" bIns="0" rtlCol="0" anchor="ctr"/>
          <a:lstStyle/>
          <a:p>
            <a:pPr indent="0" marL="0">
              <a:buNone/>
            </a:pPr>
            <a:r>
              <a:rPr lang="en-US" sz="1350" b="1" dirty="0">
                <a:solidFill>
                  <a:srgbClr val="B15C45"/>
                </a:solidFill>
                <a:latin typeface="Malgun Gothic" pitchFamily="34" charset="0"/>
                <a:ea typeface="Malgun Gothic" pitchFamily="34" charset="-122"/>
                <a:cs typeface="Malgun Gothic" pitchFamily="34" charset="-120"/>
              </a:rPr>
              <a:t>활동 1 · 결과 공유</a:t>
            </a:r>
            <a:endParaRPr lang="en-US" sz="1350" dirty="0"/>
          </a:p>
        </p:txBody>
      </p:sp>
      <p:sp>
        <p:nvSpPr>
          <p:cNvPr id="15" name="Text 13"/>
          <p:cNvSpPr/>
          <p:nvPr/>
        </p:nvSpPr>
        <p:spPr>
          <a:xfrm>
            <a:off x="786384" y="3675888"/>
            <a:ext cx="3154680" cy="1508760"/>
          </a:xfrm>
          <a:prstGeom prst="rect">
            <a:avLst/>
          </a:prstGeom>
          <a:noFill/>
          <a:ln/>
        </p:spPr>
        <p:txBody>
          <a:bodyPr wrap="square" lIns="0" tIns="0" rIns="0" bIns="0" rtlCol="0" anchor="t"/>
          <a:lstStyle/>
          <a:p>
            <a:pPr indent="0" marL="0">
              <a:lnSpc>
                <a:spcPct val="110000"/>
              </a:lnSpc>
              <a:buNone/>
            </a:pPr>
            <a:r>
              <a:rPr lang="en-US" sz="1250" dirty="0">
                <a:solidFill>
                  <a:srgbClr val="343A4D"/>
                </a:solidFill>
                <a:latin typeface="Malgun Gothic" pitchFamily="34" charset="0"/>
                <a:ea typeface="Malgun Gothic" pitchFamily="34" charset="-122"/>
                <a:cs typeface="Malgun Gothic" pitchFamily="34" charset="-120"/>
              </a:rPr>
              <a:t>갤러리 워크로 교과별 분석 산출물을 전시·관람하며 타당성 상호 점검</a:t>
            </a:r>
            <a:endParaRPr lang="en-US" sz="1250" dirty="0"/>
          </a:p>
        </p:txBody>
      </p:sp>
      <p:sp>
        <p:nvSpPr>
          <p:cNvPr id="16" name="Shape 14"/>
          <p:cNvSpPr/>
          <p:nvPr/>
        </p:nvSpPr>
        <p:spPr>
          <a:xfrm>
            <a:off x="4242816" y="2971800"/>
            <a:ext cx="3566160" cy="2331720"/>
          </a:xfrm>
          <a:prstGeom prst="roundRect">
            <a:avLst>
              <a:gd name="adj" fmla="val 3922"/>
            </a:avLst>
          </a:prstGeom>
          <a:solidFill>
            <a:srgbClr val="FFFFFF"/>
          </a:solidFill>
          <a:ln/>
          <a:effectLst>
            <a:outerShdw sx="100000" sy="100000" kx="0" ky="0" algn="bl" rotWithShape="0" blurRad="114300" dist="25400" dir="5400000">
              <a:srgbClr val="9AA2B8">
                <a:alpha val="20000"/>
              </a:srgbClr>
            </a:outerShdw>
          </a:effectLst>
        </p:spPr>
      </p:sp>
      <p:sp>
        <p:nvSpPr>
          <p:cNvPr id="17" name="Shape 15"/>
          <p:cNvSpPr/>
          <p:nvPr/>
        </p:nvSpPr>
        <p:spPr>
          <a:xfrm>
            <a:off x="4242816" y="2971800"/>
            <a:ext cx="3566160" cy="548640"/>
          </a:xfrm>
          <a:prstGeom prst="roundRect">
            <a:avLst>
              <a:gd name="adj" fmla="val 13333"/>
            </a:avLst>
          </a:prstGeom>
          <a:solidFill>
            <a:srgbClr val="ECE8F8"/>
          </a:solidFill>
          <a:ln/>
        </p:spPr>
      </p:sp>
      <p:sp>
        <p:nvSpPr>
          <p:cNvPr id="18" name="Text 16"/>
          <p:cNvSpPr/>
          <p:nvPr/>
        </p:nvSpPr>
        <p:spPr>
          <a:xfrm>
            <a:off x="4462272" y="2971800"/>
            <a:ext cx="3200400" cy="548640"/>
          </a:xfrm>
          <a:prstGeom prst="rect">
            <a:avLst/>
          </a:prstGeom>
          <a:noFill/>
          <a:ln/>
        </p:spPr>
        <p:txBody>
          <a:bodyPr wrap="square" lIns="0" tIns="0" rIns="0" bIns="0" rtlCol="0" anchor="ctr"/>
          <a:lstStyle/>
          <a:p>
            <a:pPr indent="0" marL="0">
              <a:buNone/>
            </a:pPr>
            <a:r>
              <a:rPr lang="en-US" sz="1350" b="1" dirty="0">
                <a:solidFill>
                  <a:srgbClr val="5B4C9E"/>
                </a:solidFill>
                <a:latin typeface="Malgun Gothic" pitchFamily="34" charset="0"/>
                <a:ea typeface="Malgun Gothic" pitchFamily="34" charset="-122"/>
                <a:cs typeface="Malgun Gothic" pitchFamily="34" charset="-120"/>
              </a:rPr>
              <a:t>활동 2 · 비판적 성찰</a:t>
            </a:r>
            <a:endParaRPr lang="en-US" sz="1350" dirty="0"/>
          </a:p>
        </p:txBody>
      </p:sp>
      <p:sp>
        <p:nvSpPr>
          <p:cNvPr id="19" name="Text 17"/>
          <p:cNvSpPr/>
          <p:nvPr/>
        </p:nvSpPr>
        <p:spPr>
          <a:xfrm>
            <a:off x="4462272" y="3675888"/>
            <a:ext cx="3154680" cy="1508760"/>
          </a:xfrm>
          <a:prstGeom prst="rect">
            <a:avLst/>
          </a:prstGeom>
          <a:noFill/>
          <a:ln/>
        </p:spPr>
        <p:txBody>
          <a:bodyPr wrap="square" lIns="0" tIns="0" rIns="0" bIns="0" rtlCol="0" anchor="t"/>
          <a:lstStyle/>
          <a:p>
            <a:pPr indent="0" marL="0">
              <a:lnSpc>
                <a:spcPct val="110000"/>
              </a:lnSpc>
              <a:buNone/>
            </a:pPr>
            <a:r>
              <a:rPr lang="en-US" sz="1250" dirty="0">
                <a:solidFill>
                  <a:srgbClr val="343A4D"/>
                </a:solidFill>
                <a:latin typeface="Malgun Gothic" pitchFamily="34" charset="0"/>
                <a:ea typeface="Malgun Gothic" pitchFamily="34" charset="-122"/>
                <a:cs typeface="Malgun Gothic" pitchFamily="34" charset="-120"/>
              </a:rPr>
              <a:t>데이터가 못 읽는 맥락을 짚고, AI와 교사의 역할을 구분해 토의</a:t>
            </a:r>
            <a:endParaRPr lang="en-US" sz="1250" dirty="0"/>
          </a:p>
        </p:txBody>
      </p:sp>
      <p:sp>
        <p:nvSpPr>
          <p:cNvPr id="20" name="Shape 18"/>
          <p:cNvSpPr/>
          <p:nvPr/>
        </p:nvSpPr>
        <p:spPr>
          <a:xfrm>
            <a:off x="7918704" y="2971800"/>
            <a:ext cx="3566160" cy="2331720"/>
          </a:xfrm>
          <a:prstGeom prst="roundRect">
            <a:avLst>
              <a:gd name="adj" fmla="val 3922"/>
            </a:avLst>
          </a:prstGeom>
          <a:solidFill>
            <a:srgbClr val="FFFFFF"/>
          </a:solidFill>
          <a:ln/>
          <a:effectLst>
            <a:outerShdw sx="100000" sy="100000" kx="0" ky="0" algn="bl" rotWithShape="0" blurRad="114300" dist="25400" dir="5400000">
              <a:srgbClr val="9AA2B8">
                <a:alpha val="20000"/>
              </a:srgbClr>
            </a:outerShdw>
          </a:effectLst>
        </p:spPr>
      </p:sp>
      <p:sp>
        <p:nvSpPr>
          <p:cNvPr id="21" name="Shape 19"/>
          <p:cNvSpPr/>
          <p:nvPr/>
        </p:nvSpPr>
        <p:spPr>
          <a:xfrm>
            <a:off x="7918704" y="2971800"/>
            <a:ext cx="3566160" cy="548640"/>
          </a:xfrm>
          <a:prstGeom prst="roundRect">
            <a:avLst>
              <a:gd name="adj" fmla="val 13333"/>
            </a:avLst>
          </a:prstGeom>
          <a:solidFill>
            <a:srgbClr val="E2F0E8"/>
          </a:solidFill>
          <a:ln/>
        </p:spPr>
      </p:sp>
      <p:sp>
        <p:nvSpPr>
          <p:cNvPr id="22" name="Text 20"/>
          <p:cNvSpPr/>
          <p:nvPr/>
        </p:nvSpPr>
        <p:spPr>
          <a:xfrm>
            <a:off x="8138160" y="2971800"/>
            <a:ext cx="3200400" cy="548640"/>
          </a:xfrm>
          <a:prstGeom prst="rect">
            <a:avLst/>
          </a:prstGeom>
          <a:noFill/>
          <a:ln/>
        </p:spPr>
        <p:txBody>
          <a:bodyPr wrap="square" lIns="0" tIns="0" rIns="0" bIns="0" rtlCol="0" anchor="ctr"/>
          <a:lstStyle/>
          <a:p>
            <a:pPr indent="0" marL="0">
              <a:buNone/>
            </a:pPr>
            <a:r>
              <a:rPr lang="en-US" sz="1350" b="1" dirty="0">
                <a:solidFill>
                  <a:srgbClr val="3B7A5A"/>
                </a:solidFill>
                <a:latin typeface="Malgun Gothic" pitchFamily="34" charset="0"/>
                <a:ea typeface="Malgun Gothic" pitchFamily="34" charset="-122"/>
                <a:cs typeface="Malgun Gothic" pitchFamily="34" charset="-120"/>
              </a:rPr>
              <a:t>활동 3 · 현장 적용</a:t>
            </a:r>
            <a:endParaRPr lang="en-US" sz="1350" dirty="0"/>
          </a:p>
        </p:txBody>
      </p:sp>
      <p:sp>
        <p:nvSpPr>
          <p:cNvPr id="23" name="Text 21"/>
          <p:cNvSpPr/>
          <p:nvPr/>
        </p:nvSpPr>
        <p:spPr>
          <a:xfrm>
            <a:off x="8138160" y="3675888"/>
            <a:ext cx="3154680" cy="1508760"/>
          </a:xfrm>
          <a:prstGeom prst="rect">
            <a:avLst/>
          </a:prstGeom>
          <a:noFill/>
          <a:ln/>
        </p:spPr>
        <p:txBody>
          <a:bodyPr wrap="square" lIns="0" tIns="0" rIns="0" bIns="0" rtlCol="0" anchor="t"/>
          <a:lstStyle/>
          <a:p>
            <a:pPr indent="0" marL="0">
              <a:lnSpc>
                <a:spcPct val="110000"/>
              </a:lnSpc>
              <a:buNone/>
            </a:pPr>
            <a:r>
              <a:rPr lang="en-US" sz="1250" dirty="0">
                <a:solidFill>
                  <a:srgbClr val="343A4D"/>
                </a:solidFill>
                <a:latin typeface="Malgun Gothic" pitchFamily="34" charset="0"/>
                <a:ea typeface="Malgun Gothic" pitchFamily="34" charset="-122"/>
                <a:cs typeface="Malgun Gothic" pitchFamily="34" charset="-120"/>
              </a:rPr>
              <a:t>학교 환경에 맞춘 데이터 기반 ‘최소 실행 단위’ 수립·발표</a:t>
            </a:r>
            <a:endParaRPr lang="en-US" sz="1250" dirty="0"/>
          </a:p>
        </p:txBody>
      </p:sp>
      <p:sp>
        <p:nvSpPr>
          <p:cNvPr id="24" name="Text 22"/>
          <p:cNvSpPr/>
          <p:nvPr/>
        </p:nvSpPr>
        <p:spPr>
          <a:xfrm>
            <a:off x="566928" y="5486400"/>
            <a:ext cx="11064240" cy="365760"/>
          </a:xfrm>
          <a:prstGeom prst="rect">
            <a:avLst/>
          </a:prstGeom>
          <a:noFill/>
          <a:ln/>
        </p:spPr>
        <p:txBody>
          <a:bodyPr wrap="square" lIns="0" tIns="0" rIns="0" bIns="0" rtlCol="0" anchor="ctr"/>
          <a:lstStyle/>
          <a:p>
            <a:pPr indent="0" marL="0">
              <a:buNone/>
            </a:pPr>
            <a:r>
              <a:rPr lang="en-US" sz="1100" i="1" dirty="0">
                <a:solidFill>
                  <a:srgbClr val="59607A"/>
                </a:solidFill>
                <a:latin typeface="Malgun Gothic" pitchFamily="34" charset="0"/>
                <a:ea typeface="Malgun Gothic" pitchFamily="34" charset="-122"/>
                <a:cs typeface="Malgun Gothic" pitchFamily="34" charset="-120"/>
              </a:rPr>
              <a:t>※ 데이터가 없거나 보강이 필요한 모둠은 핵심 3분만 선택적으로 재현합니다(설계안 일부만 시연).</a:t>
            </a:r>
            <a:endParaRPr lang="en-US" sz="1100" dirty="0"/>
          </a:p>
        </p:txBody>
      </p:sp>
      <p:sp>
        <p:nvSpPr>
          <p:cNvPr id="25" name="Text 23"/>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26" name="Text 24"/>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21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B15C45"/>
                </a:solidFill>
                <a:latin typeface="Malgun Gothic" pitchFamily="34" charset="0"/>
                <a:ea typeface="Malgun Gothic" pitchFamily="34" charset="-122"/>
                <a:cs typeface="Malgun Gothic" pitchFamily="34" charset="-120"/>
              </a:rPr>
              <a:t>PART 3 · 활동 1</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산출물 공유: 갤러리 워크</a:t>
            </a:r>
            <a:endParaRPr lang="en-US" sz="2400" dirty="0"/>
          </a:p>
        </p:txBody>
      </p:sp>
      <p:sp>
        <p:nvSpPr>
          <p:cNvPr id="4" name="Shape 2"/>
          <p:cNvSpPr/>
          <p:nvPr/>
        </p:nvSpPr>
        <p:spPr>
          <a:xfrm>
            <a:off x="566928" y="1463040"/>
            <a:ext cx="5440680" cy="4480560"/>
          </a:xfrm>
          <a:prstGeom prst="roundRect">
            <a:avLst>
              <a:gd name="adj" fmla="val 2041"/>
            </a:avLst>
          </a:prstGeom>
          <a:solidFill>
            <a:srgbClr val="FFFFFF"/>
          </a:solidFill>
          <a:ln/>
          <a:effectLst>
            <a:outerShdw sx="100000" sy="100000" kx="0" ky="0" algn="bl" rotWithShape="0" blurRad="114300" dist="25400" dir="5400000">
              <a:srgbClr val="9AA2B8">
                <a:alpha val="20000"/>
              </a:srgbClr>
            </a:outerShdw>
          </a:effectLst>
        </p:spPr>
      </p:sp>
      <p:sp>
        <p:nvSpPr>
          <p:cNvPr id="5" name="Text 3"/>
          <p:cNvSpPr/>
          <p:nvPr/>
        </p:nvSpPr>
        <p:spPr>
          <a:xfrm>
            <a:off x="822960" y="1609344"/>
            <a:ext cx="4572000" cy="329184"/>
          </a:xfrm>
          <a:prstGeom prst="rect">
            <a:avLst/>
          </a:prstGeom>
          <a:noFill/>
          <a:ln/>
        </p:spPr>
        <p:txBody>
          <a:bodyPr wrap="square" lIns="0" tIns="0" rIns="0" bIns="0" rtlCol="0" anchor="ctr"/>
          <a:lstStyle/>
          <a:p>
            <a:pPr indent="0" marL="0">
              <a:buNone/>
            </a:pPr>
            <a:r>
              <a:rPr lang="en-US" sz="1400" b="1" dirty="0">
                <a:solidFill>
                  <a:srgbClr val="B15C45"/>
                </a:solidFill>
                <a:latin typeface="Malgun Gothic" pitchFamily="34" charset="0"/>
                <a:ea typeface="Malgun Gothic" pitchFamily="34" charset="-122"/>
                <a:cs typeface="Malgun Gothic" pitchFamily="34" charset="-120"/>
              </a:rPr>
              <a:t>진행 순서</a:t>
            </a:r>
            <a:endParaRPr lang="en-US" sz="1400" dirty="0"/>
          </a:p>
        </p:txBody>
      </p:sp>
      <p:sp>
        <p:nvSpPr>
          <p:cNvPr id="6" name="Text 4"/>
          <p:cNvSpPr/>
          <p:nvPr/>
        </p:nvSpPr>
        <p:spPr>
          <a:xfrm>
            <a:off x="822960" y="2048256"/>
            <a:ext cx="5029200" cy="3749040"/>
          </a:xfrm>
          <a:prstGeom prst="rect">
            <a:avLst/>
          </a:prstGeom>
          <a:noFill/>
          <a:ln/>
        </p:spPr>
        <p:txBody>
          <a:bodyPr wrap="square" lIns="0" tIns="0" rIns="0" bIns="0" rtlCol="0" anchor="t"/>
          <a:lstStyle/>
          <a:p>
            <a:pPr algn="l" indent="0" marL="0">
              <a:lnSpc>
                <a:spcPct val="104000"/>
              </a:lnSpc>
              <a:spcAft>
                <a:spcPts val="300"/>
              </a:spcAft>
              <a:buNone/>
            </a:pPr>
            <a:r>
              <a:rPr lang="en-US" sz="1300" b="1" dirty="0">
                <a:solidFill>
                  <a:srgbClr val="1E3560"/>
                </a:solidFill>
                <a:latin typeface="Malgun Gothic" pitchFamily="34" charset="0"/>
                <a:ea typeface="Malgun Gothic" pitchFamily="34" charset="-122"/>
                <a:cs typeface="Malgun Gothic" pitchFamily="34" charset="-120"/>
              </a:rPr>
              <a:t>전시</a:t>
            </a:r>
            <a:endParaRPr lang="en-US" sz="1300" dirty="0"/>
          </a:p>
          <a:p>
            <a:pPr algn="l" indent="0" marL="0">
              <a:lnSpc>
                <a:spcPct val="104000"/>
              </a:lnSpc>
              <a:spcAft>
                <a:spcPts val="1000"/>
              </a:spcAft>
              <a:buNone/>
            </a:pPr>
            <a:r>
              <a:rPr lang="en-US" sz="1200" dirty="0">
                <a:solidFill>
                  <a:srgbClr val="343A4D"/>
                </a:solidFill>
                <a:latin typeface="Malgun Gothic" pitchFamily="34" charset="0"/>
                <a:ea typeface="Malgun Gothic" pitchFamily="34" charset="-122"/>
                <a:cs typeface="Malgun Gothic" pitchFamily="34" charset="-120"/>
              </a:rPr>
              <a:t>온라인 게시판(패들렛 등)에 모둠별 ‘교수학습·평가 통합 자료’를 올린다.</a:t>
            </a:r>
            <a:endParaRPr lang="en-US" sz="1300" dirty="0"/>
          </a:p>
          <a:p>
            <a:pPr algn="l" indent="0" marL="0">
              <a:lnSpc>
                <a:spcPct val="104000"/>
              </a:lnSpc>
              <a:spcAft>
                <a:spcPts val="300"/>
              </a:spcAft>
              <a:buNone/>
            </a:pPr>
            <a:r>
              <a:rPr lang="en-US" sz="1300" b="1" dirty="0">
                <a:solidFill>
                  <a:srgbClr val="1E3560"/>
                </a:solidFill>
                <a:latin typeface="Malgun Gothic" pitchFamily="34" charset="0"/>
                <a:ea typeface="Malgun Gothic" pitchFamily="34" charset="-122"/>
                <a:cs typeface="Malgun Gothic" pitchFamily="34" charset="-120"/>
              </a:rPr>
              <a:t>관람</a:t>
            </a:r>
            <a:endParaRPr lang="en-US" sz="1300" dirty="0"/>
          </a:p>
          <a:p>
            <a:pPr algn="l" indent="0" marL="0">
              <a:lnSpc>
                <a:spcPct val="104000"/>
              </a:lnSpc>
              <a:spcAft>
                <a:spcPts val="1000"/>
              </a:spcAft>
              <a:buNone/>
            </a:pPr>
            <a:r>
              <a:rPr lang="en-US" sz="1200" dirty="0">
                <a:solidFill>
                  <a:srgbClr val="343A4D"/>
                </a:solidFill>
                <a:latin typeface="Malgun Gothic" pitchFamily="34" charset="0"/>
                <a:ea typeface="Malgun Gothic" pitchFamily="34" charset="-122"/>
                <a:cs typeface="Malgun Gothic" pitchFamily="34" charset="-120"/>
              </a:rPr>
              <a:t>박물관을 돌듯 타 교과·타 종목의 산출물을 자유롭게 순회하며 탐색한다.</a:t>
            </a:r>
            <a:endParaRPr lang="en-US" sz="1300" dirty="0"/>
          </a:p>
          <a:p>
            <a:pPr algn="l" indent="0" marL="0">
              <a:lnSpc>
                <a:spcPct val="104000"/>
              </a:lnSpc>
              <a:spcAft>
                <a:spcPts val="300"/>
              </a:spcAft>
              <a:buNone/>
            </a:pPr>
            <a:r>
              <a:rPr lang="en-US" sz="1300" b="1" dirty="0">
                <a:solidFill>
                  <a:srgbClr val="1E3560"/>
                </a:solidFill>
                <a:latin typeface="Malgun Gothic" pitchFamily="34" charset="0"/>
                <a:ea typeface="Malgun Gothic" pitchFamily="34" charset="-122"/>
                <a:cs typeface="Malgun Gothic" pitchFamily="34" charset="-120"/>
              </a:rPr>
              <a:t>피드백</a:t>
            </a:r>
            <a:endParaRPr lang="en-US" sz="1300" dirty="0"/>
          </a:p>
          <a:p>
            <a:pPr algn="l" indent="0" marL="0">
              <a:lnSpc>
                <a:spcPct val="104000"/>
              </a:lnSpc>
              <a:spcAft>
                <a:spcPts val="1000"/>
              </a:spcAft>
              <a:buNone/>
            </a:pPr>
            <a:r>
              <a:rPr lang="en-US" sz="1200" dirty="0">
                <a:solidFill>
                  <a:srgbClr val="343A4D"/>
                </a:solidFill>
                <a:latin typeface="Malgun Gothic" pitchFamily="34" charset="0"/>
                <a:ea typeface="Malgun Gothic" pitchFamily="34" charset="-122"/>
                <a:cs typeface="Malgun Gothic" pitchFamily="34" charset="-120"/>
              </a:rPr>
              <a:t>단순 칭찬을 넘어, 구조화된 기준(다음 장)으로 건설적 피드백을 남긴다.</a:t>
            </a:r>
            <a:endParaRPr lang="en-US" sz="1300" dirty="0"/>
          </a:p>
          <a:p>
            <a:pPr algn="l" indent="0" marL="0">
              <a:lnSpc>
                <a:spcPct val="104000"/>
              </a:lnSpc>
              <a:spcAft>
                <a:spcPts val="300"/>
              </a:spcAft>
              <a:buNone/>
            </a:pPr>
            <a:r>
              <a:rPr lang="en-US" sz="1300" b="1" dirty="0">
                <a:solidFill>
                  <a:srgbClr val="1E3560"/>
                </a:solidFill>
                <a:latin typeface="Malgun Gothic" pitchFamily="34" charset="0"/>
                <a:ea typeface="Malgun Gothic" pitchFamily="34" charset="-122"/>
                <a:cs typeface="Malgun Gothic" pitchFamily="34" charset="-120"/>
              </a:rPr>
              <a:t>벤치마킹</a:t>
            </a:r>
            <a:endParaRPr lang="en-US" sz="1300" dirty="0"/>
          </a:p>
          <a:p>
            <a:pPr algn="l" indent="0" marL="0">
              <a:lnSpc>
                <a:spcPct val="104000"/>
              </a:lnSpc>
              <a:spcAft>
                <a:spcPts val="600"/>
              </a:spcAft>
              <a:buNone/>
            </a:pPr>
            <a:r>
              <a:rPr lang="en-US" sz="1200" dirty="0">
                <a:solidFill>
                  <a:srgbClr val="343A4D"/>
                </a:solidFill>
                <a:latin typeface="Malgun Gothic" pitchFamily="34" charset="0"/>
                <a:ea typeface="Malgun Gothic" pitchFamily="34" charset="-122"/>
                <a:cs typeface="Malgun Gothic" pitchFamily="34" charset="-120"/>
              </a:rPr>
              <a:t>내 수업에 접목할 모델을 한 가지 이상 메모한다.</a:t>
            </a:r>
            <a:endParaRPr lang="en-US" sz="1300" dirty="0"/>
          </a:p>
        </p:txBody>
      </p:sp>
      <p:sp>
        <p:nvSpPr>
          <p:cNvPr id="7" name="Shape 5"/>
          <p:cNvSpPr/>
          <p:nvPr/>
        </p:nvSpPr>
        <p:spPr>
          <a:xfrm>
            <a:off x="6199632" y="1463040"/>
            <a:ext cx="5440680" cy="4480560"/>
          </a:xfrm>
          <a:prstGeom prst="roundRect">
            <a:avLst>
              <a:gd name="adj" fmla="val 2041"/>
            </a:avLst>
          </a:prstGeom>
          <a:solidFill>
            <a:srgbClr val="FAE8E3"/>
          </a:solidFill>
          <a:ln/>
          <a:effectLst>
            <a:outerShdw sx="100000" sy="100000" kx="0" ky="0" algn="bl" rotWithShape="0" blurRad="114300" dist="25400" dir="5400000">
              <a:srgbClr val="9AA2B8">
                <a:alpha val="20000"/>
              </a:srgbClr>
            </a:outerShdw>
          </a:effectLst>
        </p:spPr>
      </p:sp>
      <p:sp>
        <p:nvSpPr>
          <p:cNvPr id="8" name="Text 6"/>
          <p:cNvSpPr/>
          <p:nvPr/>
        </p:nvSpPr>
        <p:spPr>
          <a:xfrm>
            <a:off x="6455664" y="1609344"/>
            <a:ext cx="4572000" cy="329184"/>
          </a:xfrm>
          <a:prstGeom prst="rect">
            <a:avLst/>
          </a:prstGeom>
          <a:noFill/>
          <a:ln/>
        </p:spPr>
        <p:txBody>
          <a:bodyPr wrap="square" lIns="0" tIns="0" rIns="0" bIns="0" rtlCol="0" anchor="ctr"/>
          <a:lstStyle/>
          <a:p>
            <a:pPr indent="0" marL="0">
              <a:buNone/>
            </a:pPr>
            <a:r>
              <a:rPr lang="en-US" sz="1400" b="1" dirty="0">
                <a:solidFill>
                  <a:srgbClr val="B15C45"/>
                </a:solidFill>
                <a:latin typeface="Malgun Gothic" pitchFamily="34" charset="0"/>
                <a:ea typeface="Malgun Gothic" pitchFamily="34" charset="-122"/>
                <a:cs typeface="Malgun Gothic" pitchFamily="34" charset="-120"/>
              </a:rPr>
              <a:t>갤러리 워크의 목적</a:t>
            </a:r>
            <a:endParaRPr lang="en-US" sz="1400" dirty="0"/>
          </a:p>
        </p:txBody>
      </p:sp>
      <p:sp>
        <p:nvSpPr>
          <p:cNvPr id="9" name="Text 7"/>
          <p:cNvSpPr/>
          <p:nvPr/>
        </p:nvSpPr>
        <p:spPr>
          <a:xfrm>
            <a:off x="6455664" y="2048256"/>
            <a:ext cx="5029200" cy="3749040"/>
          </a:xfrm>
          <a:prstGeom prst="rect">
            <a:avLst/>
          </a:prstGeom>
          <a:noFill/>
          <a:ln/>
        </p:spPr>
        <p:txBody>
          <a:bodyPr wrap="square" lIns="0" tIns="0" rIns="0" bIns="0" rtlCol="0" anchor="t"/>
          <a:lstStyle/>
          <a:p>
            <a:pPr algn="l" indent="0" marL="0">
              <a:lnSpc>
                <a:spcPct val="104000"/>
              </a:lnSpc>
              <a:spcAft>
                <a:spcPts val="1000"/>
              </a:spcAft>
              <a:buNone/>
            </a:pPr>
            <a:r>
              <a:rPr lang="en-US" sz="1250" dirty="0">
                <a:solidFill>
                  <a:srgbClr val="343A4D"/>
                </a:solidFill>
                <a:latin typeface="Malgun Gothic" pitchFamily="34" charset="0"/>
                <a:ea typeface="Malgun Gothic" pitchFamily="34" charset="-122"/>
                <a:cs typeface="Malgun Gothic" pitchFamily="34" charset="-120"/>
              </a:rPr>
              <a:t>교과가 다르면 데이터도 다르지만, ‘타당성을 어떻게 확보했는가’라는 질문은 같다. 서로의 방식을 보며 내 기준이 넓어진다.</a:t>
            </a:r>
            <a:endParaRPr lang="en-US" sz="1250" dirty="0"/>
          </a:p>
          <a:p>
            <a:pPr algn="l" indent="0" marL="0">
              <a:lnSpc>
                <a:spcPct val="104000"/>
              </a:lnSpc>
              <a:spcAft>
                <a:spcPts val="1000"/>
              </a:spcAft>
              <a:buNone/>
            </a:pPr>
            <a:r>
              <a:rPr lang="en-US" sz="1250" dirty="0">
                <a:solidFill>
                  <a:srgbClr val="343A4D"/>
                </a:solidFill>
                <a:latin typeface="Malgun Gothic" pitchFamily="34" charset="0"/>
                <a:ea typeface="Malgun Gothic" pitchFamily="34" charset="-122"/>
                <a:cs typeface="Malgun Gothic" pitchFamily="34" charset="-120"/>
              </a:rPr>
              <a:t>전원 참여형이라 발표자 한 명에게 몰리지 않고, 모두가 관람자이자 평가자가 된다.</a:t>
            </a:r>
            <a:endParaRPr lang="en-US" sz="1250" dirty="0"/>
          </a:p>
          <a:p>
            <a:pPr algn="l" indent="0" marL="0">
              <a:lnSpc>
                <a:spcPct val="104000"/>
              </a:lnSpc>
              <a:spcAft>
                <a:spcPts val="400"/>
              </a:spcAft>
              <a:buNone/>
            </a:pPr>
            <a:r>
              <a:rPr lang="en-US" sz="1250" b="1" dirty="0">
                <a:solidFill>
                  <a:srgbClr val="B15C45"/>
                </a:solidFill>
                <a:latin typeface="Malgun Gothic" pitchFamily="34" charset="0"/>
                <a:ea typeface="Malgun Gothic" pitchFamily="34" charset="-122"/>
                <a:cs typeface="Malgun Gothic" pitchFamily="34" charset="-120"/>
              </a:rPr>
              <a:t>교차 교과 관람의 힘</a:t>
            </a:r>
            <a:endParaRPr lang="en-US" sz="1250" dirty="0"/>
          </a:p>
          <a:p>
            <a:pPr algn="l" marL="203200" indent="-203200">
              <a:lnSpc>
                <a:spcPct val="104000"/>
              </a:lnSpc>
              <a:spcAft>
                <a:spcPts val="600"/>
              </a:spcAft>
              <a:buSzPct val="100000"/>
              <a:buChar char="–"/>
            </a:pPr>
            <a:r>
              <a:rPr lang="en-US" sz="1250" dirty="0">
                <a:solidFill>
                  <a:srgbClr val="343A4D"/>
                </a:solidFill>
                <a:latin typeface="Malgun Gothic" pitchFamily="34" charset="0"/>
                <a:ea typeface="Malgun Gothic" pitchFamily="34" charset="-122"/>
                <a:cs typeface="Malgun Gothic" pitchFamily="34" charset="-120"/>
              </a:rPr>
              <a:t>음악의 ‘연습 로그 읽기’, 미술의 ‘시안 선별’, 체육의 ‘참여 지속 보기’가 서로에게 새 아이디어가 된다.</a:t>
            </a:r>
            <a:endParaRPr lang="en-US" sz="1250" dirty="0"/>
          </a:p>
        </p:txBody>
      </p:sp>
      <p:sp>
        <p:nvSpPr>
          <p:cNvPr id="10" name="Text 8"/>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11" name="Text 9"/>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22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B15C45"/>
                </a:solidFill>
                <a:latin typeface="Malgun Gothic" pitchFamily="34" charset="0"/>
                <a:ea typeface="Malgun Gothic" pitchFamily="34" charset="-122"/>
                <a:cs typeface="Malgun Gothic" pitchFamily="34" charset="-120"/>
              </a:rPr>
              <a:t>PART 3 · 활동 1</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상호 점검 체크리스트와 피드백 기준</a:t>
            </a:r>
            <a:endParaRPr lang="en-US" sz="2400" dirty="0"/>
          </a:p>
        </p:txBody>
      </p:sp>
      <p:sp>
        <p:nvSpPr>
          <p:cNvPr id="4" name="Shape 2"/>
          <p:cNvSpPr/>
          <p:nvPr/>
        </p:nvSpPr>
        <p:spPr>
          <a:xfrm>
            <a:off x="566928" y="1463040"/>
            <a:ext cx="3566160" cy="1828800"/>
          </a:xfrm>
          <a:prstGeom prst="roundRect">
            <a:avLst>
              <a:gd name="adj" fmla="val 5000"/>
            </a:avLst>
          </a:prstGeom>
          <a:solidFill>
            <a:srgbClr val="FFFFFF"/>
          </a:solidFill>
          <a:ln/>
          <a:effectLst>
            <a:outerShdw sx="100000" sy="100000" kx="0" ky="0" algn="bl" rotWithShape="0" blurRad="114300" dist="25400" dir="5400000">
              <a:srgbClr val="9AA2B8">
                <a:alpha val="20000"/>
              </a:srgbClr>
            </a:outerShdw>
          </a:effectLst>
        </p:spPr>
      </p:sp>
      <p:sp>
        <p:nvSpPr>
          <p:cNvPr id="5" name="Shape 3"/>
          <p:cNvSpPr/>
          <p:nvPr/>
        </p:nvSpPr>
        <p:spPr>
          <a:xfrm>
            <a:off x="566928" y="1463040"/>
            <a:ext cx="3566160" cy="512064"/>
          </a:xfrm>
          <a:prstGeom prst="roundRect">
            <a:avLst>
              <a:gd name="adj" fmla="val 14286"/>
            </a:avLst>
          </a:prstGeom>
          <a:solidFill>
            <a:srgbClr val="EAEEF8"/>
          </a:solidFill>
          <a:ln/>
        </p:spPr>
      </p:sp>
      <p:sp>
        <p:nvSpPr>
          <p:cNvPr id="6" name="Text 4"/>
          <p:cNvSpPr/>
          <p:nvPr/>
        </p:nvSpPr>
        <p:spPr>
          <a:xfrm>
            <a:off x="786384" y="1463040"/>
            <a:ext cx="3200400" cy="512064"/>
          </a:xfrm>
          <a:prstGeom prst="rect">
            <a:avLst/>
          </a:prstGeom>
          <a:noFill/>
          <a:ln/>
        </p:spPr>
        <p:txBody>
          <a:bodyPr wrap="square" lIns="0" tIns="0" rIns="0" bIns="0" rtlCol="0" anchor="ctr"/>
          <a:lstStyle/>
          <a:p>
            <a:pPr indent="0" marL="0">
              <a:buNone/>
            </a:pPr>
            <a:r>
              <a:rPr lang="en-US" sz="1400" b="1" dirty="0">
                <a:solidFill>
                  <a:srgbClr val="2E4A85"/>
                </a:solidFill>
                <a:latin typeface="Malgun Gothic" pitchFamily="34" charset="0"/>
                <a:ea typeface="Malgun Gothic" pitchFamily="34" charset="-122"/>
                <a:cs typeface="Malgun Gothic" pitchFamily="34" charset="-120"/>
              </a:rPr>
              <a:t>타당성</a:t>
            </a:r>
            <a:endParaRPr lang="en-US" sz="1400" dirty="0"/>
          </a:p>
        </p:txBody>
      </p:sp>
      <p:sp>
        <p:nvSpPr>
          <p:cNvPr id="7" name="Text 5"/>
          <p:cNvSpPr/>
          <p:nvPr/>
        </p:nvSpPr>
        <p:spPr>
          <a:xfrm>
            <a:off x="786384" y="2121408"/>
            <a:ext cx="3154680" cy="1051560"/>
          </a:xfrm>
          <a:prstGeom prst="rect">
            <a:avLst/>
          </a:prstGeom>
          <a:noFill/>
          <a:ln/>
        </p:spPr>
        <p:txBody>
          <a:bodyPr wrap="square" lIns="0" tIns="0" rIns="0" bIns="0" rtlCol="0" anchor="t"/>
          <a:lstStyle/>
          <a:p>
            <a:pPr indent="0" marL="0">
              <a:lnSpc>
                <a:spcPct val="110000"/>
              </a:lnSpc>
              <a:buNone/>
            </a:pPr>
            <a:r>
              <a:rPr lang="en-US" sz="1200" dirty="0">
                <a:solidFill>
                  <a:srgbClr val="343A4D"/>
                </a:solidFill>
                <a:latin typeface="Malgun Gothic" pitchFamily="34" charset="0"/>
                <a:ea typeface="Malgun Gothic" pitchFamily="34" charset="-122"/>
                <a:cs typeface="Malgun Gothic" pitchFamily="34" charset="-120"/>
              </a:rPr>
              <a:t>교육과정–수업–평가가 하나로 맞물리는가? 성취기준 도달에 기여하는가?</a:t>
            </a:r>
            <a:endParaRPr lang="en-US" sz="1200" dirty="0"/>
          </a:p>
        </p:txBody>
      </p:sp>
      <p:sp>
        <p:nvSpPr>
          <p:cNvPr id="8" name="Shape 6"/>
          <p:cNvSpPr/>
          <p:nvPr/>
        </p:nvSpPr>
        <p:spPr>
          <a:xfrm>
            <a:off x="4242816" y="1463040"/>
            <a:ext cx="3566160" cy="1828800"/>
          </a:xfrm>
          <a:prstGeom prst="roundRect">
            <a:avLst>
              <a:gd name="adj" fmla="val 5000"/>
            </a:avLst>
          </a:prstGeom>
          <a:solidFill>
            <a:srgbClr val="FFFFFF"/>
          </a:solidFill>
          <a:ln/>
          <a:effectLst>
            <a:outerShdw sx="100000" sy="100000" kx="0" ky="0" algn="bl" rotWithShape="0" blurRad="114300" dist="25400" dir="5400000">
              <a:srgbClr val="9AA2B8">
                <a:alpha val="20000"/>
              </a:srgbClr>
            </a:outerShdw>
          </a:effectLst>
        </p:spPr>
      </p:sp>
      <p:sp>
        <p:nvSpPr>
          <p:cNvPr id="9" name="Shape 7"/>
          <p:cNvSpPr/>
          <p:nvPr/>
        </p:nvSpPr>
        <p:spPr>
          <a:xfrm>
            <a:off x="4242816" y="1463040"/>
            <a:ext cx="3566160" cy="512064"/>
          </a:xfrm>
          <a:prstGeom prst="roundRect">
            <a:avLst>
              <a:gd name="adj" fmla="val 14286"/>
            </a:avLst>
          </a:prstGeom>
          <a:solidFill>
            <a:srgbClr val="ECE8F8"/>
          </a:solidFill>
          <a:ln/>
        </p:spPr>
      </p:sp>
      <p:sp>
        <p:nvSpPr>
          <p:cNvPr id="10" name="Text 8"/>
          <p:cNvSpPr/>
          <p:nvPr/>
        </p:nvSpPr>
        <p:spPr>
          <a:xfrm>
            <a:off x="4462272" y="1463040"/>
            <a:ext cx="3200400" cy="512064"/>
          </a:xfrm>
          <a:prstGeom prst="rect">
            <a:avLst/>
          </a:prstGeom>
          <a:noFill/>
          <a:ln/>
        </p:spPr>
        <p:txBody>
          <a:bodyPr wrap="square" lIns="0" tIns="0" rIns="0" bIns="0" rtlCol="0" anchor="ctr"/>
          <a:lstStyle/>
          <a:p>
            <a:pPr indent="0" marL="0">
              <a:buNone/>
            </a:pPr>
            <a:r>
              <a:rPr lang="en-US" sz="1400" b="1" dirty="0">
                <a:solidFill>
                  <a:srgbClr val="5B4C9E"/>
                </a:solidFill>
                <a:latin typeface="Malgun Gothic" pitchFamily="34" charset="0"/>
                <a:ea typeface="Malgun Gothic" pitchFamily="34" charset="-122"/>
                <a:cs typeface="Malgun Gothic" pitchFamily="34" charset="-120"/>
              </a:rPr>
              <a:t>적절성</a:t>
            </a:r>
            <a:endParaRPr lang="en-US" sz="1400" dirty="0"/>
          </a:p>
        </p:txBody>
      </p:sp>
      <p:sp>
        <p:nvSpPr>
          <p:cNvPr id="11" name="Text 9"/>
          <p:cNvSpPr/>
          <p:nvPr/>
        </p:nvSpPr>
        <p:spPr>
          <a:xfrm>
            <a:off x="4462272" y="2121408"/>
            <a:ext cx="3154680" cy="1051560"/>
          </a:xfrm>
          <a:prstGeom prst="rect">
            <a:avLst/>
          </a:prstGeom>
          <a:noFill/>
          <a:ln/>
        </p:spPr>
        <p:txBody>
          <a:bodyPr wrap="square" lIns="0" tIns="0" rIns="0" bIns="0" rtlCol="0" anchor="t"/>
          <a:lstStyle/>
          <a:p>
            <a:pPr indent="0" marL="0">
              <a:lnSpc>
                <a:spcPct val="110000"/>
              </a:lnSpc>
              <a:buNone/>
            </a:pPr>
            <a:r>
              <a:rPr lang="en-US" sz="1200" dirty="0">
                <a:solidFill>
                  <a:srgbClr val="343A4D"/>
                </a:solidFill>
                <a:latin typeface="Malgun Gothic" pitchFamily="34" charset="0"/>
                <a:ea typeface="Malgun Gothic" pitchFamily="34" charset="-122"/>
                <a:cs typeface="Malgun Gothic" pitchFamily="34" charset="-120"/>
              </a:rPr>
              <a:t>AI·디지털 도구 활용이 교육적으로 효과적인가? 도구가 목적을 앞서지 않는가?</a:t>
            </a:r>
            <a:endParaRPr lang="en-US" sz="1200" dirty="0"/>
          </a:p>
        </p:txBody>
      </p:sp>
      <p:sp>
        <p:nvSpPr>
          <p:cNvPr id="12" name="Shape 10"/>
          <p:cNvSpPr/>
          <p:nvPr/>
        </p:nvSpPr>
        <p:spPr>
          <a:xfrm>
            <a:off x="7918704" y="1463040"/>
            <a:ext cx="3566160" cy="1828800"/>
          </a:xfrm>
          <a:prstGeom prst="roundRect">
            <a:avLst>
              <a:gd name="adj" fmla="val 5000"/>
            </a:avLst>
          </a:prstGeom>
          <a:solidFill>
            <a:srgbClr val="FFFFFF"/>
          </a:solidFill>
          <a:ln/>
          <a:effectLst>
            <a:outerShdw sx="100000" sy="100000" kx="0" ky="0" algn="bl" rotWithShape="0" blurRad="114300" dist="25400" dir="5400000">
              <a:srgbClr val="9AA2B8">
                <a:alpha val="20000"/>
              </a:srgbClr>
            </a:outerShdw>
          </a:effectLst>
        </p:spPr>
      </p:sp>
      <p:sp>
        <p:nvSpPr>
          <p:cNvPr id="13" name="Shape 11"/>
          <p:cNvSpPr/>
          <p:nvPr/>
        </p:nvSpPr>
        <p:spPr>
          <a:xfrm>
            <a:off x="7918704" y="1463040"/>
            <a:ext cx="3566160" cy="512064"/>
          </a:xfrm>
          <a:prstGeom prst="roundRect">
            <a:avLst>
              <a:gd name="adj" fmla="val 14286"/>
            </a:avLst>
          </a:prstGeom>
          <a:solidFill>
            <a:srgbClr val="E2F0E8"/>
          </a:solidFill>
          <a:ln/>
        </p:spPr>
      </p:sp>
      <p:sp>
        <p:nvSpPr>
          <p:cNvPr id="14" name="Text 12"/>
          <p:cNvSpPr/>
          <p:nvPr/>
        </p:nvSpPr>
        <p:spPr>
          <a:xfrm>
            <a:off x="8138160" y="1463040"/>
            <a:ext cx="3200400" cy="512064"/>
          </a:xfrm>
          <a:prstGeom prst="rect">
            <a:avLst/>
          </a:prstGeom>
          <a:noFill/>
          <a:ln/>
        </p:spPr>
        <p:txBody>
          <a:bodyPr wrap="square" lIns="0" tIns="0" rIns="0" bIns="0" rtlCol="0" anchor="ctr"/>
          <a:lstStyle/>
          <a:p>
            <a:pPr indent="0" marL="0">
              <a:buNone/>
            </a:pPr>
            <a:r>
              <a:rPr lang="en-US" sz="1400" b="1" dirty="0">
                <a:solidFill>
                  <a:srgbClr val="3B7A5A"/>
                </a:solidFill>
                <a:latin typeface="Malgun Gothic" pitchFamily="34" charset="0"/>
                <a:ea typeface="Malgun Gothic" pitchFamily="34" charset="-122"/>
                <a:cs typeface="Malgun Gothic" pitchFamily="34" charset="-120"/>
              </a:rPr>
              <a:t>실현 가능성</a:t>
            </a:r>
            <a:endParaRPr lang="en-US" sz="1400" dirty="0"/>
          </a:p>
        </p:txBody>
      </p:sp>
      <p:sp>
        <p:nvSpPr>
          <p:cNvPr id="15" name="Text 13"/>
          <p:cNvSpPr/>
          <p:nvPr/>
        </p:nvSpPr>
        <p:spPr>
          <a:xfrm>
            <a:off x="8138160" y="2121408"/>
            <a:ext cx="3154680" cy="1051560"/>
          </a:xfrm>
          <a:prstGeom prst="rect">
            <a:avLst/>
          </a:prstGeom>
          <a:noFill/>
          <a:ln/>
        </p:spPr>
        <p:txBody>
          <a:bodyPr wrap="square" lIns="0" tIns="0" rIns="0" bIns="0" rtlCol="0" anchor="t"/>
          <a:lstStyle/>
          <a:p>
            <a:pPr indent="0" marL="0">
              <a:lnSpc>
                <a:spcPct val="110000"/>
              </a:lnSpc>
              <a:buNone/>
            </a:pPr>
            <a:r>
              <a:rPr lang="en-US" sz="1200" dirty="0">
                <a:solidFill>
                  <a:srgbClr val="343A4D"/>
                </a:solidFill>
                <a:latin typeface="Malgun Gothic" pitchFamily="34" charset="0"/>
                <a:ea typeface="Malgun Gothic" pitchFamily="34" charset="-122"/>
                <a:cs typeface="Malgun Gothic" pitchFamily="34" charset="-120"/>
              </a:rPr>
              <a:t>다인수 학급과 실제 실기 환경(체육관·음악실·미술실)에서 운영 가능한가?</a:t>
            </a:r>
            <a:endParaRPr lang="en-US" sz="1200" dirty="0"/>
          </a:p>
        </p:txBody>
      </p:sp>
      <p:sp>
        <p:nvSpPr>
          <p:cNvPr id="16" name="Shape 14"/>
          <p:cNvSpPr/>
          <p:nvPr/>
        </p:nvSpPr>
        <p:spPr>
          <a:xfrm>
            <a:off x="566928" y="3520440"/>
            <a:ext cx="11064240" cy="2377440"/>
          </a:xfrm>
          <a:prstGeom prst="roundRect">
            <a:avLst>
              <a:gd name="adj" fmla="val 3846"/>
            </a:avLst>
          </a:prstGeom>
          <a:solidFill>
            <a:srgbClr val="FFFFFF"/>
          </a:solidFill>
          <a:ln/>
          <a:effectLst>
            <a:outerShdw sx="100000" sy="100000" kx="0" ky="0" algn="bl" rotWithShape="0" blurRad="114300" dist="25400" dir="5400000">
              <a:srgbClr val="9AA2B8">
                <a:alpha val="20000"/>
              </a:srgbClr>
            </a:outerShdw>
          </a:effectLst>
        </p:spPr>
      </p:sp>
      <p:sp>
        <p:nvSpPr>
          <p:cNvPr id="17" name="Text 15"/>
          <p:cNvSpPr/>
          <p:nvPr/>
        </p:nvSpPr>
        <p:spPr>
          <a:xfrm>
            <a:off x="822960" y="3657600"/>
            <a:ext cx="10515600" cy="329184"/>
          </a:xfrm>
          <a:prstGeom prst="rect">
            <a:avLst/>
          </a:prstGeom>
          <a:noFill/>
          <a:ln/>
        </p:spPr>
        <p:txBody>
          <a:bodyPr wrap="square" lIns="0" tIns="0" rIns="0" bIns="0" rtlCol="0" anchor="ctr"/>
          <a:lstStyle/>
          <a:p>
            <a:pPr indent="0" marL="0">
              <a:buNone/>
            </a:pPr>
            <a:r>
              <a:rPr lang="en-US" sz="1300" b="1" dirty="0">
                <a:solidFill>
                  <a:srgbClr val="1E3560"/>
                </a:solidFill>
                <a:latin typeface="Malgun Gothic" pitchFamily="34" charset="0"/>
                <a:ea typeface="Malgun Gothic" pitchFamily="34" charset="-122"/>
                <a:cs typeface="Malgun Gothic" pitchFamily="34" charset="-120"/>
              </a:rPr>
              <a:t>교과별 데이터 관찰 지점 예시: 점검 시 함께 확인</a:t>
            </a:r>
            <a:endParaRPr lang="en-US" sz="1300" dirty="0"/>
          </a:p>
        </p:txBody>
      </p:sp>
      <p:sp>
        <p:nvSpPr>
          <p:cNvPr id="18" name="Shape 16"/>
          <p:cNvSpPr/>
          <p:nvPr/>
        </p:nvSpPr>
        <p:spPr>
          <a:xfrm>
            <a:off x="841248" y="4096512"/>
            <a:ext cx="146304" cy="146304"/>
          </a:xfrm>
          <a:prstGeom prst="ellipse">
            <a:avLst/>
          </a:prstGeom>
          <a:solidFill>
            <a:srgbClr val="5B4C9E"/>
          </a:solidFill>
          <a:ln/>
        </p:spPr>
      </p:sp>
      <p:sp>
        <p:nvSpPr>
          <p:cNvPr id="19" name="Text 17"/>
          <p:cNvSpPr/>
          <p:nvPr/>
        </p:nvSpPr>
        <p:spPr>
          <a:xfrm>
            <a:off x="1078992" y="4005072"/>
            <a:ext cx="1097280" cy="329184"/>
          </a:xfrm>
          <a:prstGeom prst="rect">
            <a:avLst/>
          </a:prstGeom>
          <a:noFill/>
          <a:ln/>
        </p:spPr>
        <p:txBody>
          <a:bodyPr wrap="square" lIns="0" tIns="0" rIns="0" bIns="0" rtlCol="0" anchor="ctr"/>
          <a:lstStyle/>
          <a:p>
            <a:pPr indent="0" marL="0">
              <a:buNone/>
            </a:pPr>
            <a:r>
              <a:rPr lang="en-US" sz="1250" b="1" dirty="0">
                <a:solidFill>
                  <a:srgbClr val="5B4C9E"/>
                </a:solidFill>
                <a:latin typeface="Malgun Gothic" pitchFamily="34" charset="0"/>
                <a:ea typeface="Malgun Gothic" pitchFamily="34" charset="-122"/>
                <a:cs typeface="Malgun Gothic" pitchFamily="34" charset="-120"/>
              </a:rPr>
              <a:t>음악</a:t>
            </a:r>
            <a:endParaRPr lang="en-US" sz="1250" dirty="0"/>
          </a:p>
        </p:txBody>
      </p:sp>
      <p:sp>
        <p:nvSpPr>
          <p:cNvPr id="20" name="Text 18"/>
          <p:cNvSpPr/>
          <p:nvPr/>
        </p:nvSpPr>
        <p:spPr>
          <a:xfrm>
            <a:off x="2121408" y="4005072"/>
            <a:ext cx="9326880" cy="329184"/>
          </a:xfrm>
          <a:prstGeom prst="rect">
            <a:avLst/>
          </a:prstGeom>
          <a:noFill/>
          <a:ln/>
        </p:spPr>
        <p:txBody>
          <a:bodyPr wrap="square" lIns="0" tIns="0" rIns="0" bIns="0" rtlCol="0" anchor="ctr"/>
          <a:lstStyle/>
          <a:p>
            <a:pPr indent="0" marL="0">
              <a:buNone/>
            </a:pPr>
            <a:r>
              <a:rPr lang="en-US" sz="1200" dirty="0">
                <a:solidFill>
                  <a:srgbClr val="343A4D"/>
                </a:solidFill>
                <a:latin typeface="Malgun Gothic" pitchFamily="34" charset="0"/>
                <a:ea typeface="Malgun Gothic" pitchFamily="34" charset="-122"/>
                <a:cs typeface="Malgun Gothic" pitchFamily="34" charset="-120"/>
              </a:rPr>
              <a:t>음정·박자 정확도, 구간 반복·수정 이력, 자기평가 녹음</a:t>
            </a:r>
            <a:endParaRPr lang="en-US" sz="1200" dirty="0"/>
          </a:p>
        </p:txBody>
      </p:sp>
      <p:sp>
        <p:nvSpPr>
          <p:cNvPr id="21" name="Shape 19"/>
          <p:cNvSpPr/>
          <p:nvPr/>
        </p:nvSpPr>
        <p:spPr>
          <a:xfrm>
            <a:off x="841248" y="4663440"/>
            <a:ext cx="146304" cy="146304"/>
          </a:xfrm>
          <a:prstGeom prst="ellipse">
            <a:avLst/>
          </a:prstGeom>
          <a:solidFill>
            <a:srgbClr val="B15C45"/>
          </a:solidFill>
          <a:ln/>
        </p:spPr>
      </p:sp>
      <p:sp>
        <p:nvSpPr>
          <p:cNvPr id="22" name="Text 20"/>
          <p:cNvSpPr/>
          <p:nvPr/>
        </p:nvSpPr>
        <p:spPr>
          <a:xfrm>
            <a:off x="1078992" y="4572000"/>
            <a:ext cx="1097280" cy="329184"/>
          </a:xfrm>
          <a:prstGeom prst="rect">
            <a:avLst/>
          </a:prstGeom>
          <a:noFill/>
          <a:ln/>
        </p:spPr>
        <p:txBody>
          <a:bodyPr wrap="square" lIns="0" tIns="0" rIns="0" bIns="0" rtlCol="0" anchor="ctr"/>
          <a:lstStyle/>
          <a:p>
            <a:pPr indent="0" marL="0">
              <a:buNone/>
            </a:pPr>
            <a:r>
              <a:rPr lang="en-US" sz="1250" b="1" dirty="0">
                <a:solidFill>
                  <a:srgbClr val="B15C45"/>
                </a:solidFill>
                <a:latin typeface="Malgun Gothic" pitchFamily="34" charset="0"/>
                <a:ea typeface="Malgun Gothic" pitchFamily="34" charset="-122"/>
                <a:cs typeface="Malgun Gothic" pitchFamily="34" charset="-120"/>
              </a:rPr>
              <a:t>미술</a:t>
            </a:r>
            <a:endParaRPr lang="en-US" sz="1250" dirty="0"/>
          </a:p>
        </p:txBody>
      </p:sp>
      <p:sp>
        <p:nvSpPr>
          <p:cNvPr id="23" name="Text 21"/>
          <p:cNvSpPr/>
          <p:nvPr/>
        </p:nvSpPr>
        <p:spPr>
          <a:xfrm>
            <a:off x="2121408" y="4572000"/>
            <a:ext cx="9326880" cy="329184"/>
          </a:xfrm>
          <a:prstGeom prst="rect">
            <a:avLst/>
          </a:prstGeom>
          <a:noFill/>
          <a:ln/>
        </p:spPr>
        <p:txBody>
          <a:bodyPr wrap="square" lIns="0" tIns="0" rIns="0" bIns="0" rtlCol="0" anchor="ctr"/>
          <a:lstStyle/>
          <a:p>
            <a:pPr indent="0" marL="0">
              <a:buNone/>
            </a:pPr>
            <a:r>
              <a:rPr lang="en-US" sz="1200" dirty="0">
                <a:solidFill>
                  <a:srgbClr val="343A4D"/>
                </a:solidFill>
                <a:latin typeface="Malgun Gothic" pitchFamily="34" charset="0"/>
                <a:ea typeface="Malgun Gothic" pitchFamily="34" charset="-122"/>
                <a:cs typeface="Malgun Gothic" pitchFamily="34" charset="-120"/>
              </a:rPr>
              <a:t>프롬프트 수정 이력, 채택·기각 시안, 작가노트·동료 코멘트</a:t>
            </a:r>
            <a:endParaRPr lang="en-US" sz="1200" dirty="0"/>
          </a:p>
        </p:txBody>
      </p:sp>
      <p:sp>
        <p:nvSpPr>
          <p:cNvPr id="24" name="Shape 22"/>
          <p:cNvSpPr/>
          <p:nvPr/>
        </p:nvSpPr>
        <p:spPr>
          <a:xfrm>
            <a:off x="841248" y="5230368"/>
            <a:ext cx="146304" cy="146304"/>
          </a:xfrm>
          <a:prstGeom prst="ellipse">
            <a:avLst/>
          </a:prstGeom>
          <a:solidFill>
            <a:srgbClr val="3B7A5A"/>
          </a:solidFill>
          <a:ln/>
        </p:spPr>
      </p:sp>
      <p:sp>
        <p:nvSpPr>
          <p:cNvPr id="25" name="Text 23"/>
          <p:cNvSpPr/>
          <p:nvPr/>
        </p:nvSpPr>
        <p:spPr>
          <a:xfrm>
            <a:off x="1078992" y="5138928"/>
            <a:ext cx="1097280" cy="329184"/>
          </a:xfrm>
          <a:prstGeom prst="rect">
            <a:avLst/>
          </a:prstGeom>
          <a:noFill/>
          <a:ln/>
        </p:spPr>
        <p:txBody>
          <a:bodyPr wrap="square" lIns="0" tIns="0" rIns="0" bIns="0" rtlCol="0" anchor="ctr"/>
          <a:lstStyle/>
          <a:p>
            <a:pPr indent="0" marL="0">
              <a:buNone/>
            </a:pPr>
            <a:r>
              <a:rPr lang="en-US" sz="1250" b="1" dirty="0">
                <a:solidFill>
                  <a:srgbClr val="3B7A5A"/>
                </a:solidFill>
                <a:latin typeface="Malgun Gothic" pitchFamily="34" charset="0"/>
                <a:ea typeface="Malgun Gothic" pitchFamily="34" charset="-122"/>
                <a:cs typeface="Malgun Gothic" pitchFamily="34" charset="-120"/>
              </a:rPr>
              <a:t>체육</a:t>
            </a:r>
            <a:endParaRPr lang="en-US" sz="1250" dirty="0"/>
          </a:p>
        </p:txBody>
      </p:sp>
      <p:sp>
        <p:nvSpPr>
          <p:cNvPr id="26" name="Text 24"/>
          <p:cNvSpPr/>
          <p:nvPr/>
        </p:nvSpPr>
        <p:spPr>
          <a:xfrm>
            <a:off x="2121408" y="5138928"/>
            <a:ext cx="9326880" cy="329184"/>
          </a:xfrm>
          <a:prstGeom prst="rect">
            <a:avLst/>
          </a:prstGeom>
          <a:noFill/>
          <a:ln/>
        </p:spPr>
        <p:txBody>
          <a:bodyPr wrap="square" lIns="0" tIns="0" rIns="0" bIns="0" rtlCol="0" anchor="ctr"/>
          <a:lstStyle/>
          <a:p>
            <a:pPr indent="0" marL="0">
              <a:buNone/>
            </a:pPr>
            <a:r>
              <a:rPr lang="en-US" sz="1200" dirty="0">
                <a:solidFill>
                  <a:srgbClr val="343A4D"/>
                </a:solidFill>
                <a:latin typeface="Malgun Gothic" pitchFamily="34" charset="0"/>
                <a:ea typeface="Malgun Gothic" pitchFamily="34" charset="-122"/>
                <a:cs typeface="Malgun Gothic" pitchFamily="34" charset="-120"/>
              </a:rPr>
              <a:t>관절 각도·자세 정확도, 활동량·재시도 횟수, 참여 지속</a:t>
            </a:r>
            <a:endParaRPr lang="en-US" sz="1200" dirty="0"/>
          </a:p>
        </p:txBody>
      </p:sp>
      <p:sp>
        <p:nvSpPr>
          <p:cNvPr id="27" name="Text 25"/>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28" name="Text 26"/>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23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5B4C9E"/>
                </a:solidFill>
                <a:latin typeface="Malgun Gothic" pitchFamily="34" charset="0"/>
                <a:ea typeface="Malgun Gothic" pitchFamily="34" charset="-122"/>
                <a:cs typeface="Malgun Gothic" pitchFamily="34" charset="-120"/>
              </a:rPr>
              <a:t>PART 3 · 활동 2</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데이터 해석의 네 가지 원칙</a:t>
            </a:r>
            <a:endParaRPr lang="en-US" sz="2400" dirty="0"/>
          </a:p>
        </p:txBody>
      </p:sp>
      <p:sp>
        <p:nvSpPr>
          <p:cNvPr id="4" name="Shape 2"/>
          <p:cNvSpPr/>
          <p:nvPr/>
        </p:nvSpPr>
        <p:spPr>
          <a:xfrm>
            <a:off x="566928" y="1463040"/>
            <a:ext cx="5440680" cy="1133856"/>
          </a:xfrm>
          <a:prstGeom prst="roundRect">
            <a:avLst>
              <a:gd name="adj" fmla="val 8065"/>
            </a:avLst>
          </a:prstGeom>
          <a:solidFill>
            <a:srgbClr val="FFFFFF"/>
          </a:solidFill>
          <a:ln/>
          <a:effectLst>
            <a:outerShdw sx="100000" sy="100000" kx="0" ky="0" algn="bl" rotWithShape="0" blurRad="114300" dist="25400" dir="5400000">
              <a:srgbClr val="9AA2B8">
                <a:alpha val="20000"/>
              </a:srgbClr>
            </a:outerShdw>
          </a:effectLst>
        </p:spPr>
      </p:sp>
      <p:sp>
        <p:nvSpPr>
          <p:cNvPr id="5" name="Text 3"/>
          <p:cNvSpPr/>
          <p:nvPr/>
        </p:nvSpPr>
        <p:spPr>
          <a:xfrm>
            <a:off x="804672" y="1591056"/>
            <a:ext cx="4937760" cy="310896"/>
          </a:xfrm>
          <a:prstGeom prst="rect">
            <a:avLst/>
          </a:prstGeom>
          <a:noFill/>
          <a:ln/>
        </p:spPr>
        <p:txBody>
          <a:bodyPr wrap="square" lIns="0" tIns="0" rIns="0" bIns="0" rtlCol="0" anchor="ctr"/>
          <a:lstStyle/>
          <a:p>
            <a:pPr indent="0" marL="0">
              <a:buNone/>
            </a:pPr>
            <a:r>
              <a:rPr lang="en-US" sz="1350" b="1" dirty="0">
                <a:solidFill>
                  <a:srgbClr val="5B4C9E"/>
                </a:solidFill>
                <a:latin typeface="Malgun Gothic" pitchFamily="34" charset="0"/>
                <a:ea typeface="Malgun Gothic" pitchFamily="34" charset="-122"/>
                <a:cs typeface="Malgun Gothic" pitchFamily="34" charset="-120"/>
              </a:rPr>
              <a:t>지원 대상을 찾는 해석</a:t>
            </a:r>
            <a:endParaRPr lang="en-US" sz="1350" dirty="0"/>
          </a:p>
        </p:txBody>
      </p:sp>
      <p:sp>
        <p:nvSpPr>
          <p:cNvPr id="6" name="Text 4"/>
          <p:cNvSpPr/>
          <p:nvPr/>
        </p:nvSpPr>
        <p:spPr>
          <a:xfrm>
            <a:off x="804672" y="1920240"/>
            <a:ext cx="4983480" cy="603504"/>
          </a:xfrm>
          <a:prstGeom prst="rect">
            <a:avLst/>
          </a:prstGeom>
          <a:noFill/>
          <a:ln/>
        </p:spPr>
        <p:txBody>
          <a:bodyPr wrap="square" lIns="0" tIns="0" rIns="0" bIns="0" rtlCol="0" anchor="t"/>
          <a:lstStyle/>
          <a:p>
            <a:pPr indent="0" marL="0">
              <a:lnSpc>
                <a:spcPct val="108000"/>
              </a:lnSpc>
              <a:buNone/>
            </a:pPr>
            <a:r>
              <a:rPr lang="en-US" sz="1200" dirty="0">
                <a:solidFill>
                  <a:srgbClr val="59607A"/>
                </a:solidFill>
                <a:latin typeface="Malgun Gothic" pitchFamily="34" charset="0"/>
                <a:ea typeface="Malgun Gothic" pitchFamily="34" charset="-122"/>
                <a:cs typeface="Malgun Gothic" pitchFamily="34" charset="-120"/>
              </a:rPr>
              <a:t>수치는 지원이 필요한 학생과 지점을 찾는 단서로 쓴다. 우열을 가리는 등수로 다루지 않는다.</a:t>
            </a:r>
            <a:endParaRPr lang="en-US" sz="1200" dirty="0"/>
          </a:p>
        </p:txBody>
      </p:sp>
      <p:sp>
        <p:nvSpPr>
          <p:cNvPr id="7" name="Shape 5"/>
          <p:cNvSpPr/>
          <p:nvPr/>
        </p:nvSpPr>
        <p:spPr>
          <a:xfrm>
            <a:off x="6199632" y="1463040"/>
            <a:ext cx="5440680" cy="1133856"/>
          </a:xfrm>
          <a:prstGeom prst="roundRect">
            <a:avLst>
              <a:gd name="adj" fmla="val 8065"/>
            </a:avLst>
          </a:prstGeom>
          <a:solidFill>
            <a:srgbClr val="FFFFFF"/>
          </a:solidFill>
          <a:ln/>
          <a:effectLst>
            <a:outerShdw sx="100000" sy="100000" kx="0" ky="0" algn="bl" rotWithShape="0" blurRad="114300" dist="25400" dir="5400000">
              <a:srgbClr val="9AA2B8">
                <a:alpha val="20000"/>
              </a:srgbClr>
            </a:outerShdw>
          </a:effectLst>
        </p:spPr>
      </p:sp>
      <p:sp>
        <p:nvSpPr>
          <p:cNvPr id="8" name="Text 6"/>
          <p:cNvSpPr/>
          <p:nvPr/>
        </p:nvSpPr>
        <p:spPr>
          <a:xfrm>
            <a:off x="6437376" y="1591056"/>
            <a:ext cx="4937760" cy="310896"/>
          </a:xfrm>
          <a:prstGeom prst="rect">
            <a:avLst/>
          </a:prstGeom>
          <a:noFill/>
          <a:ln/>
        </p:spPr>
        <p:txBody>
          <a:bodyPr wrap="square" lIns="0" tIns="0" rIns="0" bIns="0" rtlCol="0" anchor="ctr"/>
          <a:lstStyle/>
          <a:p>
            <a:pPr indent="0" marL="0">
              <a:buNone/>
            </a:pPr>
            <a:r>
              <a:rPr lang="en-US" sz="1350" b="1" dirty="0">
                <a:solidFill>
                  <a:srgbClr val="5B4C9E"/>
                </a:solidFill>
                <a:latin typeface="Malgun Gothic" pitchFamily="34" charset="0"/>
                <a:ea typeface="Malgun Gothic" pitchFamily="34" charset="-122"/>
                <a:cs typeface="Malgun Gothic" pitchFamily="34" charset="-120"/>
              </a:rPr>
              <a:t>개인 vs 학급 구분</a:t>
            </a:r>
            <a:endParaRPr lang="en-US" sz="1350" dirty="0"/>
          </a:p>
        </p:txBody>
      </p:sp>
      <p:sp>
        <p:nvSpPr>
          <p:cNvPr id="9" name="Text 7"/>
          <p:cNvSpPr/>
          <p:nvPr/>
        </p:nvSpPr>
        <p:spPr>
          <a:xfrm>
            <a:off x="6437376" y="1920240"/>
            <a:ext cx="4983480" cy="603504"/>
          </a:xfrm>
          <a:prstGeom prst="rect">
            <a:avLst/>
          </a:prstGeom>
          <a:noFill/>
          <a:ln/>
        </p:spPr>
        <p:txBody>
          <a:bodyPr wrap="square" lIns="0" tIns="0" rIns="0" bIns="0" rtlCol="0" anchor="t"/>
          <a:lstStyle/>
          <a:p>
            <a:pPr indent="0" marL="0">
              <a:lnSpc>
                <a:spcPct val="108000"/>
              </a:lnSpc>
              <a:buNone/>
            </a:pPr>
            <a:r>
              <a:rPr lang="en-US" sz="1200" dirty="0">
                <a:solidFill>
                  <a:srgbClr val="59607A"/>
                </a:solidFill>
                <a:latin typeface="Malgun Gothic" pitchFamily="34" charset="0"/>
                <a:ea typeface="Malgun Gothic" pitchFamily="34" charset="-122"/>
                <a:cs typeface="Malgun Gothic" pitchFamily="34" charset="-120"/>
              </a:rPr>
              <a:t>개인별로 지원할 지점과, 학급 전체 수업을 조정할 지점을 나눠 해석한다.</a:t>
            </a:r>
            <a:endParaRPr lang="en-US" sz="1200" dirty="0"/>
          </a:p>
        </p:txBody>
      </p:sp>
      <p:sp>
        <p:nvSpPr>
          <p:cNvPr id="10" name="Shape 8"/>
          <p:cNvSpPr/>
          <p:nvPr/>
        </p:nvSpPr>
        <p:spPr>
          <a:xfrm>
            <a:off x="566928" y="2724912"/>
            <a:ext cx="5440680" cy="1133856"/>
          </a:xfrm>
          <a:prstGeom prst="roundRect">
            <a:avLst>
              <a:gd name="adj" fmla="val 8065"/>
            </a:avLst>
          </a:prstGeom>
          <a:solidFill>
            <a:srgbClr val="FFFFFF"/>
          </a:solidFill>
          <a:ln/>
          <a:effectLst>
            <a:outerShdw sx="100000" sy="100000" kx="0" ky="0" algn="bl" rotWithShape="0" blurRad="114300" dist="25400" dir="5400000">
              <a:srgbClr val="9AA2B8">
                <a:alpha val="20000"/>
              </a:srgbClr>
            </a:outerShdw>
          </a:effectLst>
        </p:spPr>
      </p:sp>
      <p:sp>
        <p:nvSpPr>
          <p:cNvPr id="11" name="Text 9"/>
          <p:cNvSpPr/>
          <p:nvPr/>
        </p:nvSpPr>
        <p:spPr>
          <a:xfrm>
            <a:off x="804672" y="2852928"/>
            <a:ext cx="4937760" cy="310896"/>
          </a:xfrm>
          <a:prstGeom prst="rect">
            <a:avLst/>
          </a:prstGeom>
          <a:noFill/>
          <a:ln/>
        </p:spPr>
        <p:txBody>
          <a:bodyPr wrap="square" lIns="0" tIns="0" rIns="0" bIns="0" rtlCol="0" anchor="ctr"/>
          <a:lstStyle/>
          <a:p>
            <a:pPr indent="0" marL="0">
              <a:buNone/>
            </a:pPr>
            <a:r>
              <a:rPr lang="en-US" sz="1350" b="1" dirty="0">
                <a:solidFill>
                  <a:srgbClr val="5B4C9E"/>
                </a:solidFill>
                <a:latin typeface="Malgun Gothic" pitchFamily="34" charset="0"/>
                <a:ea typeface="Malgun Gothic" pitchFamily="34" charset="-122"/>
                <a:cs typeface="Malgun Gothic" pitchFamily="34" charset="-120"/>
              </a:rPr>
              <a:t>원자료와 교차 확인</a:t>
            </a:r>
            <a:endParaRPr lang="en-US" sz="1350" dirty="0"/>
          </a:p>
        </p:txBody>
      </p:sp>
      <p:sp>
        <p:nvSpPr>
          <p:cNvPr id="12" name="Text 10"/>
          <p:cNvSpPr/>
          <p:nvPr/>
        </p:nvSpPr>
        <p:spPr>
          <a:xfrm>
            <a:off x="804672" y="3182112"/>
            <a:ext cx="4983480" cy="603504"/>
          </a:xfrm>
          <a:prstGeom prst="rect">
            <a:avLst/>
          </a:prstGeom>
          <a:noFill/>
          <a:ln/>
        </p:spPr>
        <p:txBody>
          <a:bodyPr wrap="square" lIns="0" tIns="0" rIns="0" bIns="0" rtlCol="0" anchor="t"/>
          <a:lstStyle/>
          <a:p>
            <a:pPr indent="0" marL="0">
              <a:lnSpc>
                <a:spcPct val="108000"/>
              </a:lnSpc>
              <a:buNone/>
            </a:pPr>
            <a:r>
              <a:rPr lang="en-US" sz="1200" dirty="0">
                <a:solidFill>
                  <a:srgbClr val="59607A"/>
                </a:solidFill>
                <a:latin typeface="Malgun Gothic" pitchFamily="34" charset="0"/>
                <a:ea typeface="Malgun Gothic" pitchFamily="34" charset="-122"/>
                <a:cs typeface="Malgun Gothic" pitchFamily="34" charset="-120"/>
              </a:rPr>
              <a:t>자동 산출된 비율·횟수는 오차가 섞인 경향성 참고값이다. 원문·영상과 대조한 뒤 사용한다.</a:t>
            </a:r>
            <a:endParaRPr lang="en-US" sz="1200" dirty="0"/>
          </a:p>
        </p:txBody>
      </p:sp>
      <p:sp>
        <p:nvSpPr>
          <p:cNvPr id="13" name="Shape 11"/>
          <p:cNvSpPr/>
          <p:nvPr/>
        </p:nvSpPr>
        <p:spPr>
          <a:xfrm>
            <a:off x="6199632" y="2724912"/>
            <a:ext cx="5440680" cy="1133856"/>
          </a:xfrm>
          <a:prstGeom prst="roundRect">
            <a:avLst>
              <a:gd name="adj" fmla="val 8065"/>
            </a:avLst>
          </a:prstGeom>
          <a:solidFill>
            <a:srgbClr val="FFFFFF"/>
          </a:solidFill>
          <a:ln/>
          <a:effectLst>
            <a:outerShdw sx="100000" sy="100000" kx="0" ky="0" algn="bl" rotWithShape="0" blurRad="114300" dist="25400" dir="5400000">
              <a:srgbClr val="9AA2B8">
                <a:alpha val="20000"/>
              </a:srgbClr>
            </a:outerShdw>
          </a:effectLst>
        </p:spPr>
      </p:sp>
      <p:sp>
        <p:nvSpPr>
          <p:cNvPr id="14" name="Text 12"/>
          <p:cNvSpPr/>
          <p:nvPr/>
        </p:nvSpPr>
        <p:spPr>
          <a:xfrm>
            <a:off x="6437376" y="2852928"/>
            <a:ext cx="4937760" cy="310896"/>
          </a:xfrm>
          <a:prstGeom prst="rect">
            <a:avLst/>
          </a:prstGeom>
          <a:noFill/>
          <a:ln/>
        </p:spPr>
        <p:txBody>
          <a:bodyPr wrap="square" lIns="0" tIns="0" rIns="0" bIns="0" rtlCol="0" anchor="ctr"/>
          <a:lstStyle/>
          <a:p>
            <a:pPr indent="0" marL="0">
              <a:buNone/>
            </a:pPr>
            <a:r>
              <a:rPr lang="en-US" sz="1350" b="1" dirty="0">
                <a:solidFill>
                  <a:srgbClr val="5B4C9E"/>
                </a:solidFill>
                <a:latin typeface="Malgun Gothic" pitchFamily="34" charset="0"/>
                <a:ea typeface="Malgun Gothic" pitchFamily="34" charset="-122"/>
                <a:cs typeface="Malgun Gothic" pitchFamily="34" charset="-120"/>
              </a:rPr>
              <a:t>윤리적 해석 태도</a:t>
            </a:r>
            <a:endParaRPr lang="en-US" sz="1350" dirty="0"/>
          </a:p>
        </p:txBody>
      </p:sp>
      <p:sp>
        <p:nvSpPr>
          <p:cNvPr id="15" name="Text 13"/>
          <p:cNvSpPr/>
          <p:nvPr/>
        </p:nvSpPr>
        <p:spPr>
          <a:xfrm>
            <a:off x="6437376" y="3182112"/>
            <a:ext cx="4983480" cy="603504"/>
          </a:xfrm>
          <a:prstGeom prst="rect">
            <a:avLst/>
          </a:prstGeom>
          <a:noFill/>
          <a:ln/>
        </p:spPr>
        <p:txBody>
          <a:bodyPr wrap="square" lIns="0" tIns="0" rIns="0" bIns="0" rtlCol="0" anchor="t"/>
          <a:lstStyle/>
          <a:p>
            <a:pPr indent="0" marL="0">
              <a:lnSpc>
                <a:spcPct val="108000"/>
              </a:lnSpc>
              <a:buNone/>
            </a:pPr>
            <a:r>
              <a:rPr lang="en-US" sz="1200" dirty="0">
                <a:solidFill>
                  <a:srgbClr val="59607A"/>
                </a:solidFill>
                <a:latin typeface="Malgun Gothic" pitchFamily="34" charset="0"/>
                <a:ea typeface="Malgun Gothic" pitchFamily="34" charset="-122"/>
                <a:cs typeface="Malgun Gothic" pitchFamily="34" charset="-120"/>
              </a:rPr>
              <a:t>소외를 드러내되 낙인찍지 않는다. 데이터는 학생을 규정하지 않고 다음 발문을 연다.</a:t>
            </a:r>
            <a:endParaRPr lang="en-US" sz="1200" dirty="0"/>
          </a:p>
        </p:txBody>
      </p:sp>
      <p:sp>
        <p:nvSpPr>
          <p:cNvPr id="16" name="Shape 14"/>
          <p:cNvSpPr/>
          <p:nvPr/>
        </p:nvSpPr>
        <p:spPr>
          <a:xfrm>
            <a:off x="566928" y="4023360"/>
            <a:ext cx="11064240" cy="1874520"/>
          </a:xfrm>
          <a:prstGeom prst="roundRect">
            <a:avLst>
              <a:gd name="adj" fmla="val 4878"/>
            </a:avLst>
          </a:prstGeom>
          <a:solidFill>
            <a:srgbClr val="FBF1DC"/>
          </a:solidFill>
          <a:ln/>
          <a:effectLst>
            <a:outerShdw sx="100000" sy="100000" kx="0" ky="0" algn="bl" rotWithShape="0" blurRad="114300" dist="25400" dir="5400000">
              <a:srgbClr val="9AA2B8">
                <a:alpha val="20000"/>
              </a:srgbClr>
            </a:outerShdw>
          </a:effectLst>
        </p:spPr>
      </p:sp>
      <p:sp>
        <p:nvSpPr>
          <p:cNvPr id="17" name="Text 15"/>
          <p:cNvSpPr/>
          <p:nvPr/>
        </p:nvSpPr>
        <p:spPr>
          <a:xfrm>
            <a:off x="841248" y="4169664"/>
            <a:ext cx="5486400" cy="329184"/>
          </a:xfrm>
          <a:prstGeom prst="rect">
            <a:avLst/>
          </a:prstGeom>
          <a:noFill/>
          <a:ln/>
        </p:spPr>
        <p:txBody>
          <a:bodyPr wrap="square" lIns="0" tIns="0" rIns="0" bIns="0" rtlCol="0" anchor="ctr"/>
          <a:lstStyle/>
          <a:p>
            <a:pPr indent="0" marL="0">
              <a:buNone/>
            </a:pPr>
            <a:r>
              <a:rPr lang="en-US" sz="1350" b="1" dirty="0">
                <a:solidFill>
                  <a:srgbClr val="B8801F"/>
                </a:solidFill>
                <a:latin typeface="Malgun Gothic" pitchFamily="34" charset="0"/>
                <a:ea typeface="Malgun Gothic" pitchFamily="34" charset="-122"/>
                <a:cs typeface="Malgun Gothic" pitchFamily="34" charset="-120"/>
              </a:rPr>
              <a:t>비유: 자동 자막</a:t>
            </a:r>
            <a:endParaRPr lang="en-US" sz="1350" dirty="0"/>
          </a:p>
        </p:txBody>
      </p:sp>
      <p:sp>
        <p:nvSpPr>
          <p:cNvPr id="18" name="Text 16"/>
          <p:cNvSpPr/>
          <p:nvPr/>
        </p:nvSpPr>
        <p:spPr>
          <a:xfrm>
            <a:off x="841248" y="4553712"/>
            <a:ext cx="10515600" cy="1280160"/>
          </a:xfrm>
          <a:prstGeom prst="rect">
            <a:avLst/>
          </a:prstGeom>
          <a:noFill/>
          <a:ln/>
        </p:spPr>
        <p:txBody>
          <a:bodyPr wrap="square" lIns="0" tIns="0" rIns="0" bIns="0" rtlCol="0" anchor="t"/>
          <a:lstStyle/>
          <a:p>
            <a:pPr algn="l" indent="0" marL="0">
              <a:lnSpc>
                <a:spcPct val="104000"/>
              </a:lnSpc>
              <a:spcAft>
                <a:spcPts val="600"/>
              </a:spcAft>
              <a:buNone/>
            </a:pPr>
            <a:r>
              <a:rPr lang="en-US" sz="1250" dirty="0">
                <a:solidFill>
                  <a:srgbClr val="343A4D"/>
                </a:solidFill>
                <a:latin typeface="Malgun Gothic" pitchFamily="34" charset="0"/>
                <a:ea typeface="Malgun Gothic" pitchFamily="34" charset="-122"/>
                <a:cs typeface="Malgun Gothic" pitchFamily="34" charset="-120"/>
              </a:rPr>
              <a:t>영상의 자동 자막은 전체 맥락은 대체로 맞지만, 고유명사나 발음이 뭉개진 단어는 틀린다. AI가 낸 발화 비율·자세 점수·음정 정확도도 같은 성질을 갖는다. 큰 경향은 믿되, 결정적 장면은 원문으로 확인한다.</a:t>
            </a:r>
            <a:endParaRPr lang="en-US" sz="1250" dirty="0"/>
          </a:p>
          <a:p>
            <a:pPr algn="l" indent="0" marL="0">
              <a:lnSpc>
                <a:spcPct val="104000"/>
              </a:lnSpc>
              <a:spcAft>
                <a:spcPts val="600"/>
              </a:spcAft>
              <a:buNone/>
            </a:pPr>
            <a:r>
              <a:rPr lang="en-US" sz="1200" dirty="0">
                <a:solidFill>
                  <a:srgbClr val="59607A"/>
                </a:solidFill>
                <a:latin typeface="Malgun Gothic" pitchFamily="34" charset="0"/>
                <a:ea typeface="Malgun Gothic" pitchFamily="34" charset="-122"/>
                <a:cs typeface="Malgun Gothic" pitchFamily="34" charset="-120"/>
              </a:rPr>
              <a:t>예: “기술 설명 80% : 미적 지도 20%”라는 수치를 받았다면, 그 20%가 정말 빈약했는지 스크립트에서 눈으로 확인한 뒤에 다음 수업의 발문 카드를 준비한다.</a:t>
            </a:r>
            <a:endParaRPr lang="en-US" sz="1250" dirty="0"/>
          </a:p>
        </p:txBody>
      </p:sp>
      <p:sp>
        <p:nvSpPr>
          <p:cNvPr id="19" name="Text 17"/>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20" name="Text 18"/>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24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3B7A5A"/>
                </a:solidFill>
                <a:latin typeface="Malgun Gothic" pitchFamily="34" charset="0"/>
                <a:ea typeface="Malgun Gothic" pitchFamily="34" charset="-122"/>
                <a:cs typeface="Malgun Gothic" pitchFamily="34" charset="-120"/>
              </a:rPr>
              <a:t>PART 3 · 활동 2</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AI와 교사의 역할 구분 (심화)</a:t>
            </a:r>
            <a:endParaRPr lang="en-US" sz="2400" dirty="0"/>
          </a:p>
        </p:txBody>
      </p:sp>
      <p:sp>
        <p:nvSpPr>
          <p:cNvPr id="4" name="Shape 2"/>
          <p:cNvSpPr/>
          <p:nvPr/>
        </p:nvSpPr>
        <p:spPr>
          <a:xfrm>
            <a:off x="566928" y="1463040"/>
            <a:ext cx="5440680" cy="2834640"/>
          </a:xfrm>
          <a:prstGeom prst="roundRect">
            <a:avLst>
              <a:gd name="adj" fmla="val 3226"/>
            </a:avLst>
          </a:prstGeom>
          <a:solidFill>
            <a:srgbClr val="EAEEF8"/>
          </a:solidFill>
          <a:ln/>
          <a:effectLst>
            <a:outerShdw sx="100000" sy="100000" kx="0" ky="0" algn="bl" rotWithShape="0" blurRad="114300" dist="25400" dir="5400000">
              <a:srgbClr val="9AA2B8">
                <a:alpha val="20000"/>
              </a:srgbClr>
            </a:outerShdw>
          </a:effectLst>
        </p:spPr>
      </p:sp>
      <p:sp>
        <p:nvSpPr>
          <p:cNvPr id="5" name="Text 3"/>
          <p:cNvSpPr/>
          <p:nvPr/>
        </p:nvSpPr>
        <p:spPr>
          <a:xfrm>
            <a:off x="822960" y="1627632"/>
            <a:ext cx="4937760" cy="365760"/>
          </a:xfrm>
          <a:prstGeom prst="rect">
            <a:avLst/>
          </a:prstGeom>
          <a:noFill/>
          <a:ln/>
        </p:spPr>
        <p:txBody>
          <a:bodyPr wrap="square" lIns="0" tIns="0" rIns="0" bIns="0" rtlCol="0" anchor="ctr"/>
          <a:lstStyle/>
          <a:p>
            <a:pPr indent="0" marL="0">
              <a:buNone/>
            </a:pPr>
            <a:r>
              <a:rPr lang="en-US" sz="1500" b="1" dirty="0">
                <a:solidFill>
                  <a:srgbClr val="2E4A85"/>
                </a:solidFill>
                <a:latin typeface="Malgun Gothic" pitchFamily="34" charset="0"/>
                <a:ea typeface="Malgun Gothic" pitchFamily="34" charset="-122"/>
                <a:cs typeface="Malgun Gothic" pitchFamily="34" charset="-120"/>
              </a:rPr>
              <a:t>AI의 역할: 보조자</a:t>
            </a:r>
            <a:endParaRPr lang="en-US" sz="1500" dirty="0"/>
          </a:p>
        </p:txBody>
      </p:sp>
      <p:sp>
        <p:nvSpPr>
          <p:cNvPr id="6" name="Text 4"/>
          <p:cNvSpPr/>
          <p:nvPr/>
        </p:nvSpPr>
        <p:spPr>
          <a:xfrm>
            <a:off x="822960" y="2048256"/>
            <a:ext cx="5029200" cy="2194560"/>
          </a:xfrm>
          <a:prstGeom prst="rect">
            <a:avLst/>
          </a:prstGeom>
          <a:noFill/>
          <a:ln/>
        </p:spPr>
        <p:txBody>
          <a:bodyPr wrap="square" lIns="0" tIns="0" rIns="0" bIns="0" rtlCol="0" anchor="t"/>
          <a:lstStyle/>
          <a:p>
            <a:pPr algn="l" marL="203200" indent="-203200">
              <a:lnSpc>
                <a:spcPct val="104000"/>
              </a:lnSpc>
              <a:spcAft>
                <a:spcPts val="7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객관적 수행 데이터의 수집과 즉시 시각화</a:t>
            </a:r>
            <a:endParaRPr lang="en-US" sz="1200" dirty="0"/>
          </a:p>
          <a:p>
            <a:pPr algn="l" marL="203200" indent="-203200">
              <a:lnSpc>
                <a:spcPct val="104000"/>
              </a:lnSpc>
              <a:spcAft>
                <a:spcPts val="7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시공간 제약 없는 반복 피드백</a:t>
            </a:r>
            <a:endParaRPr lang="en-US" sz="1200" dirty="0"/>
          </a:p>
          <a:p>
            <a:pPr algn="l" marL="203200" indent="-203200">
              <a:lnSpc>
                <a:spcPct val="104000"/>
              </a:lnSpc>
              <a:spcAft>
                <a:spcPts val="6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사람이 놓치는 빈도·추이 패턴의 집계</a:t>
            </a:r>
            <a:endParaRPr lang="en-US" sz="1200" dirty="0"/>
          </a:p>
        </p:txBody>
      </p:sp>
      <p:sp>
        <p:nvSpPr>
          <p:cNvPr id="7" name="Shape 5"/>
          <p:cNvSpPr/>
          <p:nvPr/>
        </p:nvSpPr>
        <p:spPr>
          <a:xfrm>
            <a:off x="6199632" y="1463040"/>
            <a:ext cx="5440680" cy="2834640"/>
          </a:xfrm>
          <a:prstGeom prst="roundRect">
            <a:avLst>
              <a:gd name="adj" fmla="val 3226"/>
            </a:avLst>
          </a:prstGeom>
          <a:solidFill>
            <a:srgbClr val="E2F0E8"/>
          </a:solidFill>
          <a:ln/>
          <a:effectLst>
            <a:outerShdw sx="100000" sy="100000" kx="0" ky="0" algn="bl" rotWithShape="0" blurRad="114300" dist="25400" dir="5400000">
              <a:srgbClr val="9AA2B8">
                <a:alpha val="20000"/>
              </a:srgbClr>
            </a:outerShdw>
          </a:effectLst>
        </p:spPr>
      </p:sp>
      <p:sp>
        <p:nvSpPr>
          <p:cNvPr id="8" name="Text 6"/>
          <p:cNvSpPr/>
          <p:nvPr/>
        </p:nvSpPr>
        <p:spPr>
          <a:xfrm>
            <a:off x="6455664" y="1627632"/>
            <a:ext cx="4937760" cy="365760"/>
          </a:xfrm>
          <a:prstGeom prst="rect">
            <a:avLst/>
          </a:prstGeom>
          <a:noFill/>
          <a:ln/>
        </p:spPr>
        <p:txBody>
          <a:bodyPr wrap="square" lIns="0" tIns="0" rIns="0" bIns="0" rtlCol="0" anchor="ctr"/>
          <a:lstStyle/>
          <a:p>
            <a:pPr indent="0" marL="0">
              <a:buNone/>
            </a:pPr>
            <a:r>
              <a:rPr lang="en-US" sz="1500" b="1" dirty="0">
                <a:solidFill>
                  <a:srgbClr val="3B7A5A"/>
                </a:solidFill>
                <a:latin typeface="Malgun Gothic" pitchFamily="34" charset="0"/>
                <a:ea typeface="Malgun Gothic" pitchFamily="34" charset="-122"/>
                <a:cs typeface="Malgun Gothic" pitchFamily="34" charset="-120"/>
              </a:rPr>
              <a:t>교사의 역할: 설계자·촉진자</a:t>
            </a:r>
            <a:endParaRPr lang="en-US" sz="1500" dirty="0"/>
          </a:p>
        </p:txBody>
      </p:sp>
      <p:sp>
        <p:nvSpPr>
          <p:cNvPr id="9" name="Text 7"/>
          <p:cNvSpPr/>
          <p:nvPr/>
        </p:nvSpPr>
        <p:spPr>
          <a:xfrm>
            <a:off x="6455664" y="2048256"/>
            <a:ext cx="5029200" cy="2194560"/>
          </a:xfrm>
          <a:prstGeom prst="rect">
            <a:avLst/>
          </a:prstGeom>
          <a:noFill/>
          <a:ln/>
        </p:spPr>
        <p:txBody>
          <a:bodyPr wrap="square" lIns="0" tIns="0" rIns="0" bIns="0" rtlCol="0" anchor="t"/>
          <a:lstStyle/>
          <a:p>
            <a:pPr algn="l" marL="203200" indent="-203200">
              <a:lnSpc>
                <a:spcPct val="104000"/>
              </a:lnSpc>
              <a:spcAft>
                <a:spcPts val="7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데이터 이면의 노력과 맥락을 읽어 내는 눈</a:t>
            </a:r>
            <a:endParaRPr lang="en-US" sz="1200" dirty="0"/>
          </a:p>
          <a:p>
            <a:pPr algn="l" marL="203200" indent="-203200">
              <a:lnSpc>
                <a:spcPct val="104000"/>
              </a:lnSpc>
              <a:spcAft>
                <a:spcPts val="7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실패를 격려로 바꾸는 정서적 지지, 갈등 속 사회·정서적 성장 촉진</a:t>
            </a:r>
            <a:endParaRPr lang="en-US" sz="1200" dirty="0"/>
          </a:p>
          <a:p>
            <a:pPr algn="l" marL="203200" indent="-203200">
              <a:lnSpc>
                <a:spcPct val="104000"/>
              </a:lnSpc>
              <a:spcAft>
                <a:spcPts val="6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수치화되지 않는 표현 의도·태도의 판단</a:t>
            </a:r>
            <a:endParaRPr lang="en-US" sz="1200" dirty="0"/>
          </a:p>
        </p:txBody>
      </p:sp>
      <p:sp>
        <p:nvSpPr>
          <p:cNvPr id="10" name="Shape 8"/>
          <p:cNvSpPr/>
          <p:nvPr/>
        </p:nvSpPr>
        <p:spPr>
          <a:xfrm>
            <a:off x="566928" y="4480560"/>
            <a:ext cx="11064240" cy="1417320"/>
          </a:xfrm>
          <a:prstGeom prst="roundRect">
            <a:avLst>
              <a:gd name="adj" fmla="val 6452"/>
            </a:avLst>
          </a:prstGeom>
          <a:solidFill>
            <a:srgbClr val="FFFFFF"/>
          </a:solidFill>
          <a:ln/>
          <a:effectLst>
            <a:outerShdw sx="100000" sy="100000" kx="0" ky="0" algn="bl" rotWithShape="0" blurRad="114300" dist="25400" dir="5400000">
              <a:srgbClr val="9AA2B8">
                <a:alpha val="20000"/>
              </a:srgbClr>
            </a:outerShdw>
          </a:effectLst>
        </p:spPr>
      </p:sp>
      <p:sp>
        <p:nvSpPr>
          <p:cNvPr id="11" name="Text 9"/>
          <p:cNvSpPr/>
          <p:nvPr/>
        </p:nvSpPr>
        <p:spPr>
          <a:xfrm>
            <a:off x="822960" y="4608576"/>
            <a:ext cx="5486400" cy="310896"/>
          </a:xfrm>
          <a:prstGeom prst="rect">
            <a:avLst/>
          </a:prstGeom>
          <a:noFill/>
          <a:ln/>
        </p:spPr>
        <p:txBody>
          <a:bodyPr wrap="square" lIns="0" tIns="0" rIns="0" bIns="0" rtlCol="0" anchor="ctr"/>
          <a:lstStyle/>
          <a:p>
            <a:pPr indent="0" marL="0">
              <a:buNone/>
            </a:pPr>
            <a:r>
              <a:rPr lang="en-US" sz="1300" b="1" dirty="0">
                <a:solidFill>
                  <a:srgbClr val="1E3560"/>
                </a:solidFill>
                <a:latin typeface="Malgun Gothic" pitchFamily="34" charset="0"/>
                <a:ea typeface="Malgun Gothic" pitchFamily="34" charset="-122"/>
                <a:cs typeface="Malgun Gothic" pitchFamily="34" charset="-120"/>
              </a:rPr>
              <a:t>핵심 토의 (전체)</a:t>
            </a:r>
            <a:endParaRPr lang="en-US" sz="1300" dirty="0"/>
          </a:p>
        </p:txBody>
      </p:sp>
      <p:sp>
        <p:nvSpPr>
          <p:cNvPr id="12" name="Text 10"/>
          <p:cNvSpPr/>
          <p:nvPr/>
        </p:nvSpPr>
        <p:spPr>
          <a:xfrm>
            <a:off x="822960" y="4974336"/>
            <a:ext cx="10515600" cy="868680"/>
          </a:xfrm>
          <a:prstGeom prst="rect">
            <a:avLst/>
          </a:prstGeom>
          <a:noFill/>
          <a:ln/>
        </p:spPr>
        <p:txBody>
          <a:bodyPr wrap="square" lIns="0" tIns="0" rIns="0" bIns="0" rtlCol="0" anchor="t"/>
          <a:lstStyle/>
          <a:p>
            <a:pPr algn="l" marL="203200" indent="-203200">
              <a:lnSpc>
                <a:spcPct val="104000"/>
              </a:lnSpc>
              <a:spcAft>
                <a:spcPts val="500"/>
              </a:spcAft>
              <a:buSzPct val="100000"/>
              <a:buChar char="•"/>
            </a:pPr>
            <a:r>
              <a:rPr lang="en-US" sz="1250" dirty="0">
                <a:solidFill>
                  <a:srgbClr val="343A4D"/>
                </a:solidFill>
                <a:latin typeface="Malgun Gothic" pitchFamily="34" charset="0"/>
                <a:ea typeface="Malgun Gothic" pitchFamily="34" charset="-122"/>
                <a:cs typeface="Malgun Gothic" pitchFamily="34" charset="-120"/>
              </a:rPr>
              <a:t>Q1. 이번 산출물 제작에서 AI(데이터)가 해결해 준 가장 ‘속 시원한’ 부분은?</a:t>
            </a:r>
            <a:endParaRPr lang="en-US" sz="1250" dirty="0"/>
          </a:p>
          <a:p>
            <a:pPr algn="l" marL="203200" indent="-203200">
              <a:lnSpc>
                <a:spcPct val="104000"/>
              </a:lnSpc>
              <a:spcAft>
                <a:spcPts val="600"/>
              </a:spcAft>
              <a:buSzPct val="100000"/>
              <a:buChar char="•"/>
            </a:pPr>
            <a:r>
              <a:rPr lang="en-US" sz="1250" dirty="0">
                <a:solidFill>
                  <a:srgbClr val="343A4D"/>
                </a:solidFill>
                <a:latin typeface="Malgun Gothic" pitchFamily="34" charset="0"/>
                <a:ea typeface="Malgun Gothic" pitchFamily="34" charset="-122"/>
                <a:cs typeface="Malgun Gothic" pitchFamily="34" charset="-120"/>
              </a:rPr>
              <a:t>Q2. 반대로 데이터가 못 읽어 ‘교사인 내가 반드시 개입해야 했던’ 부분(정서·태도)은?</a:t>
            </a:r>
            <a:endParaRPr lang="en-US" sz="1250" dirty="0"/>
          </a:p>
        </p:txBody>
      </p:sp>
      <p:sp>
        <p:nvSpPr>
          <p:cNvPr id="13" name="Text 11"/>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14" name="Text 12"/>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25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3B7A5A"/>
                </a:solidFill>
                <a:latin typeface="Malgun Gothic" pitchFamily="34" charset="0"/>
                <a:ea typeface="Malgun Gothic" pitchFamily="34" charset="-122"/>
                <a:cs typeface="Malgun Gothic" pitchFamily="34" charset="-120"/>
              </a:rPr>
              <a:t>PART 3 · 활동 3</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현장 적용: ‘최소 실행 단위’ 액션 플랜 캔버스</a:t>
            </a:r>
            <a:endParaRPr lang="en-US" sz="2400" dirty="0"/>
          </a:p>
        </p:txBody>
      </p:sp>
      <p:sp>
        <p:nvSpPr>
          <p:cNvPr id="4" name="Text 2"/>
          <p:cNvSpPr/>
          <p:nvPr/>
        </p:nvSpPr>
        <p:spPr>
          <a:xfrm>
            <a:off x="566928" y="1371600"/>
            <a:ext cx="11064240" cy="365760"/>
          </a:xfrm>
          <a:prstGeom prst="rect">
            <a:avLst/>
          </a:prstGeom>
          <a:noFill/>
          <a:ln/>
        </p:spPr>
        <p:txBody>
          <a:bodyPr wrap="square" lIns="0" tIns="0" rIns="0" bIns="0" rtlCol="0" anchor="ctr"/>
          <a:lstStyle/>
          <a:p>
            <a:pPr indent="0" marL="0">
              <a:buNone/>
            </a:pPr>
            <a:r>
              <a:rPr lang="en-US" sz="1200" dirty="0">
                <a:solidFill>
                  <a:srgbClr val="59607A"/>
                </a:solidFill>
                <a:latin typeface="Malgun Gothic" pitchFamily="34" charset="0"/>
                <a:ea typeface="Malgun Gothic" pitchFamily="34" charset="-122"/>
                <a:cs typeface="Malgun Gothic" pitchFamily="34" charset="-120"/>
              </a:rPr>
              <a:t>거창한 학기 계획 대신, 연수 복귀 직후 당장 해 볼 수 있는 한 장면을 설계합니다. 예: “다음 주 O요일, O반 수업 15분”.</a:t>
            </a:r>
            <a:endParaRPr lang="en-US" sz="1200" dirty="0"/>
          </a:p>
        </p:txBody>
      </p:sp>
      <p:sp>
        <p:nvSpPr>
          <p:cNvPr id="5" name="Shape 3"/>
          <p:cNvSpPr/>
          <p:nvPr/>
        </p:nvSpPr>
        <p:spPr>
          <a:xfrm>
            <a:off x="566928" y="1847088"/>
            <a:ext cx="11064240" cy="1371600"/>
          </a:xfrm>
          <a:prstGeom prst="roundRect">
            <a:avLst>
              <a:gd name="adj" fmla="val 6667"/>
            </a:avLst>
          </a:prstGeom>
          <a:solidFill>
            <a:srgbClr val="FFFFFF"/>
          </a:solidFill>
          <a:ln/>
          <a:effectLst>
            <a:outerShdw sx="100000" sy="100000" kx="0" ky="0" algn="bl" rotWithShape="0" blurRad="114300" dist="25400" dir="5400000">
              <a:srgbClr val="9AA2B8">
                <a:alpha val="20000"/>
              </a:srgbClr>
            </a:outerShdw>
          </a:effectLst>
        </p:spPr>
      </p:sp>
      <p:sp>
        <p:nvSpPr>
          <p:cNvPr id="6" name="Shape 4"/>
          <p:cNvSpPr/>
          <p:nvPr/>
        </p:nvSpPr>
        <p:spPr>
          <a:xfrm>
            <a:off x="566928" y="1847088"/>
            <a:ext cx="2926080" cy="1371600"/>
          </a:xfrm>
          <a:prstGeom prst="roundRect">
            <a:avLst>
              <a:gd name="adj" fmla="val 6667"/>
            </a:avLst>
          </a:prstGeom>
          <a:solidFill>
            <a:srgbClr val="EAEEF8"/>
          </a:solidFill>
          <a:ln/>
        </p:spPr>
      </p:sp>
      <p:sp>
        <p:nvSpPr>
          <p:cNvPr id="7" name="Text 5"/>
          <p:cNvSpPr/>
          <p:nvPr/>
        </p:nvSpPr>
        <p:spPr>
          <a:xfrm>
            <a:off x="768096" y="1847088"/>
            <a:ext cx="2606040" cy="1371600"/>
          </a:xfrm>
          <a:prstGeom prst="rect">
            <a:avLst/>
          </a:prstGeom>
          <a:noFill/>
          <a:ln/>
        </p:spPr>
        <p:txBody>
          <a:bodyPr wrap="square" lIns="0" tIns="0" rIns="0" bIns="0" rtlCol="0" anchor="ctr"/>
          <a:lstStyle/>
          <a:p>
            <a:pPr indent="0" marL="0">
              <a:lnSpc>
                <a:spcPct val="105000"/>
              </a:lnSpc>
              <a:buNone/>
            </a:pPr>
            <a:r>
              <a:rPr lang="en-US" sz="1350" b="1" dirty="0">
                <a:solidFill>
                  <a:srgbClr val="2E4A85"/>
                </a:solidFill>
                <a:latin typeface="Malgun Gothic" pitchFamily="34" charset="0"/>
                <a:ea typeface="Malgun Gothic" pitchFamily="34" charset="-122"/>
                <a:cs typeface="Malgun Gothic" pitchFamily="34" charset="-120"/>
              </a:rPr>
              <a:t>① 나의 환경·타겟 분석</a:t>
            </a:r>
            <a:endParaRPr lang="en-US" sz="1350" dirty="0"/>
          </a:p>
        </p:txBody>
      </p:sp>
      <p:sp>
        <p:nvSpPr>
          <p:cNvPr id="8" name="Text 6"/>
          <p:cNvSpPr/>
          <p:nvPr/>
        </p:nvSpPr>
        <p:spPr>
          <a:xfrm>
            <a:off x="3767328" y="2066544"/>
            <a:ext cx="7680960" cy="1005840"/>
          </a:xfrm>
          <a:prstGeom prst="rect">
            <a:avLst/>
          </a:prstGeom>
          <a:noFill/>
          <a:ln/>
        </p:spPr>
        <p:txBody>
          <a:bodyPr wrap="square" lIns="0" tIns="0" rIns="0" bIns="0" rtlCol="0" anchor="t"/>
          <a:lstStyle/>
          <a:p>
            <a:pPr algn="l" marL="203200" indent="-203200">
              <a:lnSpc>
                <a:spcPct val="104000"/>
              </a:lnSpc>
              <a:spcAft>
                <a:spcPts val="8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디지털 인프라: 교사·학생 기기, 실기실 통신망, 활용 기자재</a:t>
            </a:r>
            <a:endParaRPr lang="en-US" sz="1200" dirty="0"/>
          </a:p>
          <a:p>
            <a:pPr algn="l" marL="203200" indent="-203200">
              <a:lnSpc>
                <a:spcPct val="104000"/>
              </a:lnSpc>
              <a:spcAft>
                <a:spcPts val="8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타겟: 학년·학급, 단원(종목/제재), 학생 디지털 리터러시 수준</a:t>
            </a:r>
            <a:endParaRPr lang="en-US" sz="1200" dirty="0"/>
          </a:p>
        </p:txBody>
      </p:sp>
      <p:sp>
        <p:nvSpPr>
          <p:cNvPr id="9" name="Shape 7"/>
          <p:cNvSpPr/>
          <p:nvPr/>
        </p:nvSpPr>
        <p:spPr>
          <a:xfrm>
            <a:off x="566928" y="3364992"/>
            <a:ext cx="11064240" cy="1371600"/>
          </a:xfrm>
          <a:prstGeom prst="roundRect">
            <a:avLst>
              <a:gd name="adj" fmla="val 6667"/>
            </a:avLst>
          </a:prstGeom>
          <a:solidFill>
            <a:srgbClr val="FFFFFF"/>
          </a:solidFill>
          <a:ln/>
          <a:effectLst>
            <a:outerShdw sx="100000" sy="100000" kx="0" ky="0" algn="bl" rotWithShape="0" blurRad="114300" dist="25400" dir="5400000">
              <a:srgbClr val="9AA2B8">
                <a:alpha val="20000"/>
              </a:srgbClr>
            </a:outerShdw>
          </a:effectLst>
        </p:spPr>
      </p:sp>
      <p:sp>
        <p:nvSpPr>
          <p:cNvPr id="10" name="Shape 8"/>
          <p:cNvSpPr/>
          <p:nvPr/>
        </p:nvSpPr>
        <p:spPr>
          <a:xfrm>
            <a:off x="566928" y="3364992"/>
            <a:ext cx="2926080" cy="1371600"/>
          </a:xfrm>
          <a:prstGeom prst="roundRect">
            <a:avLst>
              <a:gd name="adj" fmla="val 6667"/>
            </a:avLst>
          </a:prstGeom>
          <a:solidFill>
            <a:srgbClr val="FAE8E3"/>
          </a:solidFill>
          <a:ln/>
        </p:spPr>
      </p:sp>
      <p:sp>
        <p:nvSpPr>
          <p:cNvPr id="11" name="Text 9"/>
          <p:cNvSpPr/>
          <p:nvPr/>
        </p:nvSpPr>
        <p:spPr>
          <a:xfrm>
            <a:off x="768096" y="3364992"/>
            <a:ext cx="2606040" cy="1371600"/>
          </a:xfrm>
          <a:prstGeom prst="rect">
            <a:avLst/>
          </a:prstGeom>
          <a:noFill/>
          <a:ln/>
        </p:spPr>
        <p:txBody>
          <a:bodyPr wrap="square" lIns="0" tIns="0" rIns="0" bIns="0" rtlCol="0" anchor="ctr"/>
          <a:lstStyle/>
          <a:p>
            <a:pPr indent="0" marL="0">
              <a:lnSpc>
                <a:spcPct val="105000"/>
              </a:lnSpc>
              <a:buNone/>
            </a:pPr>
            <a:r>
              <a:rPr lang="en-US" sz="1350" b="1" dirty="0">
                <a:solidFill>
                  <a:srgbClr val="B15C45"/>
                </a:solidFill>
                <a:latin typeface="Malgun Gothic" pitchFamily="34" charset="0"/>
                <a:ea typeface="Malgun Gothic" pitchFamily="34" charset="-122"/>
                <a:cs typeface="Malgun Gothic" pitchFamily="34" charset="-120"/>
              </a:rPr>
              <a:t>② 첫 실행 시나리오</a:t>
            </a:r>
            <a:endParaRPr lang="en-US" sz="1350" dirty="0"/>
          </a:p>
        </p:txBody>
      </p:sp>
      <p:sp>
        <p:nvSpPr>
          <p:cNvPr id="12" name="Text 10"/>
          <p:cNvSpPr/>
          <p:nvPr/>
        </p:nvSpPr>
        <p:spPr>
          <a:xfrm>
            <a:off x="3767328" y="3584448"/>
            <a:ext cx="7680960" cy="1005840"/>
          </a:xfrm>
          <a:prstGeom prst="rect">
            <a:avLst/>
          </a:prstGeom>
          <a:noFill/>
          <a:ln/>
        </p:spPr>
        <p:txBody>
          <a:bodyPr wrap="square" lIns="0" tIns="0" rIns="0" bIns="0" rtlCol="0" anchor="t"/>
          <a:lstStyle/>
          <a:p>
            <a:pPr algn="l" marL="203200" indent="-203200">
              <a:lnSpc>
                <a:spcPct val="104000"/>
              </a:lnSpc>
              <a:spcAft>
                <a:spcPts val="8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활용 AI 도구 &amp; 수집 데이터: 어떤 도구로 무엇을(자세·음정·시안)</a:t>
            </a:r>
            <a:endParaRPr lang="en-US" sz="1200" dirty="0"/>
          </a:p>
          <a:p>
            <a:pPr algn="l" marL="203200" indent="-203200">
              <a:lnSpc>
                <a:spcPct val="104000"/>
              </a:lnSpc>
              <a:spcAft>
                <a:spcPts val="8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핵심 교수 활동: 어떤 피드백을 주고, 교사로서 어떤 정서적 지원을</a:t>
            </a:r>
            <a:endParaRPr lang="en-US" sz="1200" dirty="0"/>
          </a:p>
        </p:txBody>
      </p:sp>
      <p:sp>
        <p:nvSpPr>
          <p:cNvPr id="13" name="Shape 11"/>
          <p:cNvSpPr/>
          <p:nvPr/>
        </p:nvSpPr>
        <p:spPr>
          <a:xfrm>
            <a:off x="566928" y="4882896"/>
            <a:ext cx="11064240" cy="1060704"/>
          </a:xfrm>
          <a:prstGeom prst="roundRect">
            <a:avLst>
              <a:gd name="adj" fmla="val 8621"/>
            </a:avLst>
          </a:prstGeom>
          <a:solidFill>
            <a:srgbClr val="E2F0E8"/>
          </a:solidFill>
          <a:ln/>
          <a:effectLst>
            <a:outerShdw sx="100000" sy="100000" kx="0" ky="0" algn="bl" rotWithShape="0" blurRad="114300" dist="25400" dir="5400000">
              <a:srgbClr val="9AA2B8">
                <a:alpha val="20000"/>
              </a:srgbClr>
            </a:outerShdw>
          </a:effectLst>
        </p:spPr>
      </p:sp>
      <p:sp>
        <p:nvSpPr>
          <p:cNvPr id="14" name="Text 12"/>
          <p:cNvSpPr/>
          <p:nvPr/>
        </p:nvSpPr>
        <p:spPr>
          <a:xfrm>
            <a:off x="841248" y="4882896"/>
            <a:ext cx="10515600" cy="1060704"/>
          </a:xfrm>
          <a:prstGeom prst="rect">
            <a:avLst/>
          </a:prstGeom>
          <a:noFill/>
          <a:ln/>
        </p:spPr>
        <p:txBody>
          <a:bodyPr wrap="square" lIns="0" tIns="0" rIns="0" bIns="0" rtlCol="0" anchor="ctr"/>
          <a:lstStyle/>
          <a:p>
            <a:pPr indent="0" marL="0">
              <a:lnSpc>
                <a:spcPct val="105000"/>
              </a:lnSpc>
              <a:buNone/>
            </a:pPr>
            <a:r>
              <a:rPr lang="en-US" sz="1250" b="1" dirty="0">
                <a:solidFill>
                  <a:srgbClr val="3B7A5A"/>
                </a:solidFill>
                <a:latin typeface="Malgun Gothic" pitchFamily="34" charset="0"/>
                <a:ea typeface="Malgun Gothic" pitchFamily="34" charset="-122"/>
                <a:cs typeface="Malgun Gothic" pitchFamily="34" charset="-120"/>
              </a:rPr>
              <a:t>교과 맞춤 예시  </a:t>
            </a:r>
            <a:pPr indent="0" marL="0">
              <a:lnSpc>
                <a:spcPct val="105000"/>
              </a:lnSpc>
              <a:buNone/>
            </a:pPr>
            <a:r>
              <a:rPr lang="en-US" sz="1150" dirty="0">
                <a:solidFill>
                  <a:srgbClr val="59607A"/>
                </a:solidFill>
                <a:latin typeface="Malgun Gothic" pitchFamily="34" charset="0"/>
                <a:ea typeface="Malgun Gothic" pitchFamily="34" charset="-122"/>
                <a:cs typeface="Malgun Gothic" pitchFamily="34" charset="-120"/>
              </a:rPr>
              <a:t>음악=합주 3분 녹음 후 박자 로그로 개별 피드백 · 미술=시안 3개 중 선별 근거 작가노트 · 체육=준비운동 자세 촬영 후 각도 피드백. 동료 우수 사례(갤러리 워크)에서 얻은 아이디어를 내 맥락에 맞게 재구성해 적습니다.</a:t>
            </a:r>
            <a:endParaRPr lang="en-US" sz="1250" dirty="0"/>
          </a:p>
        </p:txBody>
      </p:sp>
      <p:sp>
        <p:nvSpPr>
          <p:cNvPr id="15" name="Text 13"/>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16" name="Text 14"/>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26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B"/>
        </a:solidFill>
      </p:bgPr>
    </p:bg>
    <p:spTree>
      <p:nvGrpSpPr>
        <p:cNvPr id="1" name=""/>
        <p:cNvGrpSpPr/>
        <p:nvPr/>
      </p:nvGrpSpPr>
      <p:grpSpPr>
        <a:xfrm>
          <a:off x="0" y="0"/>
          <a:ext cx="0" cy="0"/>
          <a:chOff x="0" y="0"/>
          <a:chExt cx="0" cy="0"/>
        </a:xfrm>
      </p:grpSpPr>
      <p:sp>
        <p:nvSpPr>
          <p:cNvPr id="2" name="Shape 0"/>
          <p:cNvSpPr/>
          <p:nvPr/>
        </p:nvSpPr>
        <p:spPr>
          <a:xfrm>
            <a:off x="8869680" y="-1188720"/>
            <a:ext cx="5120640" cy="5120640"/>
          </a:xfrm>
          <a:prstGeom prst="ellipse">
            <a:avLst/>
          </a:prstGeom>
          <a:solidFill>
            <a:srgbClr val="E2F0E8"/>
          </a:solidFill>
          <a:ln/>
        </p:spPr>
      </p:sp>
      <p:sp>
        <p:nvSpPr>
          <p:cNvPr id="3" name="Shape 1"/>
          <p:cNvSpPr/>
          <p:nvPr/>
        </p:nvSpPr>
        <p:spPr>
          <a:xfrm>
            <a:off x="10241280" y="3291840"/>
            <a:ext cx="2926080" cy="2926080"/>
          </a:xfrm>
          <a:prstGeom prst="ellipse">
            <a:avLst/>
          </a:prstGeom>
          <a:solidFill>
            <a:srgbClr val="E2F0E8"/>
          </a:solidFill>
          <a:ln/>
        </p:spPr>
      </p:sp>
      <p:sp>
        <p:nvSpPr>
          <p:cNvPr id="4" name="Text 2"/>
          <p:cNvSpPr/>
          <p:nvPr/>
        </p:nvSpPr>
        <p:spPr>
          <a:xfrm>
            <a:off x="566928" y="2148840"/>
            <a:ext cx="7315200" cy="457200"/>
          </a:xfrm>
          <a:prstGeom prst="rect">
            <a:avLst/>
          </a:prstGeom>
          <a:noFill/>
          <a:ln/>
        </p:spPr>
        <p:txBody>
          <a:bodyPr wrap="square" lIns="0" tIns="0" rIns="0" bIns="0" rtlCol="0" anchor="ctr"/>
          <a:lstStyle/>
          <a:p>
            <a:pPr indent="0" marL="0">
              <a:buNone/>
            </a:pPr>
            <a:r>
              <a:rPr lang="en-US" sz="1500" b="1" spc="200" kern="0" dirty="0">
                <a:solidFill>
                  <a:srgbClr val="3B7A5A"/>
                </a:solidFill>
                <a:latin typeface="Malgun Gothic" pitchFamily="34" charset="0"/>
                <a:ea typeface="Malgun Gothic" pitchFamily="34" charset="-122"/>
                <a:cs typeface="Malgun Gothic" pitchFamily="34" charset="-120"/>
              </a:rPr>
              <a:t>PART 4</a:t>
            </a:r>
            <a:endParaRPr lang="en-US" sz="1500" dirty="0"/>
          </a:p>
        </p:txBody>
      </p:sp>
      <p:sp>
        <p:nvSpPr>
          <p:cNvPr id="5" name="Text 3"/>
          <p:cNvSpPr/>
          <p:nvPr/>
        </p:nvSpPr>
        <p:spPr>
          <a:xfrm>
            <a:off x="566928" y="2606040"/>
            <a:ext cx="7863840" cy="1097280"/>
          </a:xfrm>
          <a:prstGeom prst="rect">
            <a:avLst/>
          </a:prstGeom>
          <a:noFill/>
          <a:ln/>
        </p:spPr>
        <p:txBody>
          <a:bodyPr wrap="square" lIns="0" tIns="0" rIns="0" bIns="0" rtlCol="0" anchor="ctr"/>
          <a:lstStyle/>
          <a:p>
            <a:pPr indent="0" marL="0">
              <a:buNone/>
            </a:pPr>
            <a:r>
              <a:rPr lang="en-US" sz="3400" b="1" dirty="0">
                <a:solidFill>
                  <a:srgbClr val="1E3560"/>
                </a:solidFill>
                <a:latin typeface="Malgun Gothic" pitchFamily="34" charset="0"/>
                <a:ea typeface="Malgun Gothic" pitchFamily="34" charset="-122"/>
                <a:cs typeface="Malgun Gothic" pitchFamily="34" charset="-120"/>
              </a:rPr>
              <a:t>발표 · 회고 · 마무리</a:t>
            </a:r>
            <a:endParaRPr lang="en-US" sz="3400" dirty="0"/>
          </a:p>
        </p:txBody>
      </p:sp>
      <p:sp>
        <p:nvSpPr>
          <p:cNvPr id="6" name="Text 4"/>
          <p:cNvSpPr/>
          <p:nvPr/>
        </p:nvSpPr>
        <p:spPr>
          <a:xfrm>
            <a:off x="566928" y="3794760"/>
            <a:ext cx="7680960" cy="822960"/>
          </a:xfrm>
          <a:prstGeom prst="rect">
            <a:avLst/>
          </a:prstGeom>
          <a:noFill/>
          <a:ln/>
        </p:spPr>
        <p:txBody>
          <a:bodyPr wrap="square" lIns="0" tIns="0" rIns="0" bIns="0" rtlCol="0" anchor="t"/>
          <a:lstStyle/>
          <a:p>
            <a:pPr indent="0" marL="0">
              <a:lnSpc>
                <a:spcPct val="110000"/>
              </a:lnSpc>
              <a:buNone/>
            </a:pPr>
            <a:r>
              <a:rPr lang="en-US" sz="1400" dirty="0">
                <a:solidFill>
                  <a:srgbClr val="59607A"/>
                </a:solidFill>
                <a:latin typeface="Malgun Gothic" pitchFamily="34" charset="0"/>
                <a:ea typeface="Malgun Gothic" pitchFamily="34" charset="-122"/>
                <a:cs typeface="Malgun Gothic" pitchFamily="34" charset="-120"/>
              </a:rPr>
              <a:t>우수 설계안을 나누고, 성찰을 기록하고, 내 다음 단원으로 옮긴다</a:t>
            </a:r>
            <a:endParaRPr lang="en-US" sz="1400" dirty="0"/>
          </a:p>
        </p:txBody>
      </p:sp>
      <p:sp>
        <p:nvSpPr>
          <p:cNvPr id="7" name="Text 5"/>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8" name="Text 6"/>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3B7A5A"/>
                </a:solidFill>
                <a:latin typeface="Malgun Gothic" pitchFamily="34" charset="0"/>
                <a:ea typeface="Malgun Gothic" pitchFamily="34" charset="-122"/>
                <a:cs typeface="Malgun Gothic" pitchFamily="34" charset="-120"/>
              </a:rPr>
              <a:t>PART 4 · 발표</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최종 설계안·액션 플랜 발표와 상호 크리틱</a:t>
            </a:r>
            <a:endParaRPr lang="en-US" sz="2400" dirty="0"/>
          </a:p>
        </p:txBody>
      </p:sp>
      <p:sp>
        <p:nvSpPr>
          <p:cNvPr id="4" name="Shape 2"/>
          <p:cNvSpPr/>
          <p:nvPr/>
        </p:nvSpPr>
        <p:spPr>
          <a:xfrm>
            <a:off x="566928" y="1463040"/>
            <a:ext cx="5440680" cy="4480560"/>
          </a:xfrm>
          <a:prstGeom prst="roundRect">
            <a:avLst>
              <a:gd name="adj" fmla="val 2041"/>
            </a:avLst>
          </a:prstGeom>
          <a:solidFill>
            <a:srgbClr val="FFFFFF"/>
          </a:solidFill>
          <a:ln/>
          <a:effectLst>
            <a:outerShdw sx="100000" sy="100000" kx="0" ky="0" algn="bl" rotWithShape="0" blurRad="114300" dist="25400" dir="5400000">
              <a:srgbClr val="9AA2B8">
                <a:alpha val="20000"/>
              </a:srgbClr>
            </a:outerShdw>
          </a:effectLst>
        </p:spPr>
      </p:sp>
      <p:sp>
        <p:nvSpPr>
          <p:cNvPr id="5" name="Text 3"/>
          <p:cNvSpPr/>
          <p:nvPr/>
        </p:nvSpPr>
        <p:spPr>
          <a:xfrm>
            <a:off x="822960" y="1609344"/>
            <a:ext cx="4572000" cy="329184"/>
          </a:xfrm>
          <a:prstGeom prst="rect">
            <a:avLst/>
          </a:prstGeom>
          <a:noFill/>
          <a:ln/>
        </p:spPr>
        <p:txBody>
          <a:bodyPr wrap="square" lIns="0" tIns="0" rIns="0" bIns="0" rtlCol="0" anchor="ctr"/>
          <a:lstStyle/>
          <a:p>
            <a:pPr indent="0" marL="0">
              <a:buNone/>
            </a:pPr>
            <a:r>
              <a:rPr lang="en-US" sz="1400" b="1" dirty="0">
                <a:solidFill>
                  <a:srgbClr val="3B7A5A"/>
                </a:solidFill>
                <a:latin typeface="Malgun Gothic" pitchFamily="34" charset="0"/>
                <a:ea typeface="Malgun Gothic" pitchFamily="34" charset="-122"/>
                <a:cs typeface="Malgun Gothic" pitchFamily="34" charset="-120"/>
              </a:rPr>
              <a:t>진행과 규칙</a:t>
            </a:r>
            <a:endParaRPr lang="en-US" sz="1400" dirty="0"/>
          </a:p>
        </p:txBody>
      </p:sp>
      <p:sp>
        <p:nvSpPr>
          <p:cNvPr id="6" name="Text 4"/>
          <p:cNvSpPr/>
          <p:nvPr/>
        </p:nvSpPr>
        <p:spPr>
          <a:xfrm>
            <a:off x="822960" y="2048256"/>
            <a:ext cx="5029200" cy="3749040"/>
          </a:xfrm>
          <a:prstGeom prst="rect">
            <a:avLst/>
          </a:prstGeom>
          <a:noFill/>
          <a:ln/>
        </p:spPr>
        <p:txBody>
          <a:bodyPr wrap="square" lIns="0" tIns="0" rIns="0" bIns="0" rtlCol="0" anchor="t"/>
          <a:lstStyle/>
          <a:p>
            <a:pPr algn="l" marL="203200" indent="-203200">
              <a:lnSpc>
                <a:spcPct val="104000"/>
              </a:lnSpc>
              <a:spcAft>
                <a:spcPts val="8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순서: 미술·음악·체육 영역별 대표(또는 모둠 대표)가 발표, 제비뽑기로 순번 결정</a:t>
            </a:r>
            <a:endParaRPr lang="en-US" sz="1200" dirty="0"/>
          </a:p>
          <a:p>
            <a:pPr algn="l" marL="203200" indent="-203200">
              <a:lnSpc>
                <a:spcPct val="104000"/>
              </a:lnSpc>
              <a:spcAft>
                <a:spcPts val="8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시간: 발표 3분 + 크리틱 2분(타임 타이머, 연수생 진행 요원 1명)</a:t>
            </a:r>
            <a:endParaRPr lang="en-US" sz="1200" dirty="0"/>
          </a:p>
          <a:p>
            <a:pPr algn="l" marL="203200" indent="-203200">
              <a:lnSpc>
                <a:spcPct val="104000"/>
              </a:lnSpc>
              <a:spcAft>
                <a:spcPts val="8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방식: 패들렛에 ‘한 장의 그림’으로 올린 플랜에 서로 댓글, 댓글 많이 받은 플랜을 발표</a:t>
            </a:r>
            <a:endParaRPr lang="en-US" sz="1200" dirty="0"/>
          </a:p>
          <a:p>
            <a:pPr algn="l" marL="203200" indent="-203200">
              <a:lnSpc>
                <a:spcPct val="104000"/>
              </a:lnSpc>
              <a:spcAft>
                <a:spcPts val="6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크리틱은 ‘장점 1 + 개선점 1’ 구조로 남긴다. 건설적 다방향 피드백을 지향한다</a:t>
            </a:r>
            <a:endParaRPr lang="en-US" sz="1200" dirty="0"/>
          </a:p>
        </p:txBody>
      </p:sp>
      <p:sp>
        <p:nvSpPr>
          <p:cNvPr id="7" name="Shape 5"/>
          <p:cNvSpPr/>
          <p:nvPr/>
        </p:nvSpPr>
        <p:spPr>
          <a:xfrm>
            <a:off x="6199632" y="1463040"/>
            <a:ext cx="5440680" cy="4480560"/>
          </a:xfrm>
          <a:prstGeom prst="roundRect">
            <a:avLst>
              <a:gd name="adj" fmla="val 2041"/>
            </a:avLst>
          </a:prstGeom>
          <a:solidFill>
            <a:srgbClr val="E2F0E8"/>
          </a:solidFill>
          <a:ln/>
          <a:effectLst>
            <a:outerShdw sx="100000" sy="100000" kx="0" ky="0" algn="bl" rotWithShape="0" blurRad="114300" dist="25400" dir="5400000">
              <a:srgbClr val="9AA2B8">
                <a:alpha val="20000"/>
              </a:srgbClr>
            </a:outerShdw>
          </a:effectLst>
        </p:spPr>
      </p:sp>
      <p:sp>
        <p:nvSpPr>
          <p:cNvPr id="8" name="Text 6"/>
          <p:cNvSpPr/>
          <p:nvPr/>
        </p:nvSpPr>
        <p:spPr>
          <a:xfrm>
            <a:off x="6455664" y="1609344"/>
            <a:ext cx="4937760" cy="329184"/>
          </a:xfrm>
          <a:prstGeom prst="rect">
            <a:avLst/>
          </a:prstGeom>
          <a:noFill/>
          <a:ln/>
        </p:spPr>
        <p:txBody>
          <a:bodyPr wrap="square" lIns="0" tIns="0" rIns="0" bIns="0" rtlCol="0" anchor="ctr"/>
          <a:lstStyle/>
          <a:p>
            <a:pPr indent="0" marL="0">
              <a:buNone/>
            </a:pPr>
            <a:r>
              <a:rPr lang="en-US" sz="1400" b="1" dirty="0">
                <a:solidFill>
                  <a:srgbClr val="3B7A5A"/>
                </a:solidFill>
                <a:latin typeface="Malgun Gothic" pitchFamily="34" charset="0"/>
                <a:ea typeface="Malgun Gothic" pitchFamily="34" charset="-122"/>
                <a:cs typeface="Malgun Gothic" pitchFamily="34" charset="-120"/>
              </a:rPr>
              <a:t>우수 설계안 선정과 혜택</a:t>
            </a:r>
            <a:endParaRPr lang="en-US" sz="1400" dirty="0"/>
          </a:p>
        </p:txBody>
      </p:sp>
      <p:sp>
        <p:nvSpPr>
          <p:cNvPr id="9" name="Text 7"/>
          <p:cNvSpPr/>
          <p:nvPr/>
        </p:nvSpPr>
        <p:spPr>
          <a:xfrm>
            <a:off x="6455664" y="2048256"/>
            <a:ext cx="5029200" cy="3749040"/>
          </a:xfrm>
          <a:prstGeom prst="rect">
            <a:avLst/>
          </a:prstGeom>
          <a:noFill/>
          <a:ln/>
        </p:spPr>
        <p:txBody>
          <a:bodyPr wrap="square" lIns="0" tIns="0" rIns="0" bIns="0" rtlCol="0" anchor="t"/>
          <a:lstStyle/>
          <a:p>
            <a:pPr algn="l" marL="203200" indent="-203200">
              <a:lnSpc>
                <a:spcPct val="104000"/>
              </a:lnSpc>
              <a:spcAft>
                <a:spcPts val="8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채점 기준표는 KERIS 제공 체크리스트를 활용한다.</a:t>
            </a:r>
            <a:endParaRPr lang="en-US" sz="1200" dirty="0"/>
          </a:p>
          <a:p>
            <a:pPr algn="l" marL="203200" indent="-203200">
              <a:lnSpc>
                <a:spcPct val="104000"/>
              </a:lnSpc>
              <a:spcAft>
                <a:spcPts val="8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강사와 연수생 점수를 합산해 선정한다(배점 비율은 KERIS 최종 안내 기준으로 확정).</a:t>
            </a:r>
            <a:endParaRPr lang="en-US" sz="1200" dirty="0"/>
          </a:p>
          <a:p>
            <a:pPr algn="l" marL="203200" indent="-203200">
              <a:lnSpc>
                <a:spcPct val="104000"/>
              </a:lnSpc>
              <a:spcAft>
                <a:spcPts val="10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선정 연수생에게 소정의 기념품 증정, 콘퍼런스에 설계안 전시 기회 제공.</a:t>
            </a:r>
            <a:endParaRPr lang="en-US" sz="1200" dirty="0"/>
          </a:p>
          <a:p>
            <a:pPr algn="l" indent="0" marL="0">
              <a:lnSpc>
                <a:spcPct val="104000"/>
              </a:lnSpc>
              <a:spcAft>
                <a:spcPts val="600"/>
              </a:spcAft>
              <a:buNone/>
            </a:pPr>
            <a:r>
              <a:rPr lang="en-US" sz="1200" i="1" dirty="0">
                <a:solidFill>
                  <a:srgbClr val="3B7A5A"/>
                </a:solidFill>
                <a:latin typeface="Malgun Gothic" pitchFamily="34" charset="0"/>
                <a:ea typeface="Malgun Gothic" pitchFamily="34" charset="-122"/>
                <a:cs typeface="Malgun Gothic" pitchFamily="34" charset="-120"/>
              </a:rPr>
              <a:t>발표는 동료의 환류를 받아 내 플랜을 한 번 더 고치는 자리다.</a:t>
            </a:r>
            <a:endParaRPr lang="en-US" sz="1200" dirty="0"/>
          </a:p>
        </p:txBody>
      </p:sp>
      <p:sp>
        <p:nvSpPr>
          <p:cNvPr id="10" name="Text 8"/>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11" name="Text 9"/>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28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2E4A85"/>
                </a:solidFill>
                <a:latin typeface="Malgun Gothic" pitchFamily="34" charset="0"/>
                <a:ea typeface="Malgun Gothic" pitchFamily="34" charset="-122"/>
                <a:cs typeface="Malgun Gothic" pitchFamily="34" charset="-120"/>
              </a:rPr>
              <a:t>PART 4 · 산출물</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성찰 저널 &amp; 최종 수정 반영 양식</a:t>
            </a:r>
            <a:endParaRPr lang="en-US" sz="2400" dirty="0"/>
          </a:p>
        </p:txBody>
      </p:sp>
      <p:sp>
        <p:nvSpPr>
          <p:cNvPr id="4" name="Shape 2"/>
          <p:cNvSpPr/>
          <p:nvPr/>
        </p:nvSpPr>
        <p:spPr>
          <a:xfrm>
            <a:off x="566928" y="1463040"/>
            <a:ext cx="3566160" cy="2286000"/>
          </a:xfrm>
          <a:prstGeom prst="roundRect">
            <a:avLst>
              <a:gd name="adj" fmla="val 4000"/>
            </a:avLst>
          </a:prstGeom>
          <a:solidFill>
            <a:srgbClr val="FFFFFF"/>
          </a:solidFill>
          <a:ln/>
          <a:effectLst>
            <a:outerShdw sx="100000" sy="100000" kx="0" ky="0" algn="bl" rotWithShape="0" blurRad="114300" dist="25400" dir="5400000">
              <a:srgbClr val="9AA2B8">
                <a:alpha val="20000"/>
              </a:srgbClr>
            </a:outerShdw>
          </a:effectLst>
        </p:spPr>
      </p:sp>
      <p:sp>
        <p:nvSpPr>
          <p:cNvPr id="5" name="Shape 3"/>
          <p:cNvSpPr/>
          <p:nvPr/>
        </p:nvSpPr>
        <p:spPr>
          <a:xfrm>
            <a:off x="566928" y="1463040"/>
            <a:ext cx="3566160" cy="548640"/>
          </a:xfrm>
          <a:prstGeom prst="roundRect">
            <a:avLst>
              <a:gd name="adj" fmla="val 13333"/>
            </a:avLst>
          </a:prstGeom>
          <a:solidFill>
            <a:srgbClr val="EAEEF8"/>
          </a:solidFill>
          <a:ln/>
        </p:spPr>
      </p:sp>
      <p:sp>
        <p:nvSpPr>
          <p:cNvPr id="6" name="Text 4"/>
          <p:cNvSpPr/>
          <p:nvPr/>
        </p:nvSpPr>
        <p:spPr>
          <a:xfrm>
            <a:off x="768096" y="1463040"/>
            <a:ext cx="3200400" cy="548640"/>
          </a:xfrm>
          <a:prstGeom prst="rect">
            <a:avLst/>
          </a:prstGeom>
          <a:noFill/>
          <a:ln/>
        </p:spPr>
        <p:txBody>
          <a:bodyPr wrap="square" lIns="0" tIns="0" rIns="0" bIns="0" rtlCol="0" anchor="ctr"/>
          <a:lstStyle/>
          <a:p>
            <a:pPr indent="0" marL="0">
              <a:buNone/>
            </a:pPr>
            <a:r>
              <a:rPr lang="en-US" sz="1250" b="1" dirty="0">
                <a:solidFill>
                  <a:srgbClr val="2E4A85"/>
                </a:solidFill>
                <a:latin typeface="Malgun Gothic" pitchFamily="34" charset="0"/>
                <a:ea typeface="Malgun Gothic" pitchFamily="34" charset="-122"/>
                <a:cs typeface="Malgun Gothic" pitchFamily="34" charset="-120"/>
              </a:rPr>
              <a:t>설계 타당성 성찰 (D3)</a:t>
            </a:r>
            <a:endParaRPr lang="en-US" sz="1250" dirty="0"/>
          </a:p>
        </p:txBody>
      </p:sp>
      <p:sp>
        <p:nvSpPr>
          <p:cNvPr id="7" name="Text 5"/>
          <p:cNvSpPr/>
          <p:nvPr/>
        </p:nvSpPr>
        <p:spPr>
          <a:xfrm>
            <a:off x="786384" y="2139696"/>
            <a:ext cx="3154680" cy="1508760"/>
          </a:xfrm>
          <a:prstGeom prst="rect">
            <a:avLst/>
          </a:prstGeom>
          <a:noFill/>
          <a:ln/>
        </p:spPr>
        <p:txBody>
          <a:bodyPr wrap="square" lIns="0" tIns="0" rIns="0" bIns="0" rtlCol="0" anchor="t"/>
          <a:lstStyle/>
          <a:p>
            <a:pPr indent="0" marL="0">
              <a:lnSpc>
                <a:spcPct val="112000"/>
              </a:lnSpc>
              <a:buNone/>
            </a:pPr>
            <a:r>
              <a:rPr lang="en-US" sz="1200" dirty="0">
                <a:solidFill>
                  <a:srgbClr val="343A4D"/>
                </a:solidFill>
                <a:latin typeface="Malgun Gothic" pitchFamily="34" charset="0"/>
                <a:ea typeface="Malgun Gothic" pitchFamily="34" charset="-122"/>
                <a:cs typeface="Malgun Gothic" pitchFamily="34" charset="-120"/>
              </a:rPr>
              <a:t>교육과정–수업–평가가 어긋난 지점은? 무엇을 수정할 것인가?</a:t>
            </a:r>
            <a:endParaRPr lang="en-US" sz="1200" dirty="0"/>
          </a:p>
        </p:txBody>
      </p:sp>
      <p:sp>
        <p:nvSpPr>
          <p:cNvPr id="8" name="Shape 6"/>
          <p:cNvSpPr/>
          <p:nvPr/>
        </p:nvSpPr>
        <p:spPr>
          <a:xfrm>
            <a:off x="4242816" y="1463040"/>
            <a:ext cx="3566160" cy="2286000"/>
          </a:xfrm>
          <a:prstGeom prst="roundRect">
            <a:avLst>
              <a:gd name="adj" fmla="val 4000"/>
            </a:avLst>
          </a:prstGeom>
          <a:solidFill>
            <a:srgbClr val="FFFFFF"/>
          </a:solidFill>
          <a:ln/>
          <a:effectLst>
            <a:outerShdw sx="100000" sy="100000" kx="0" ky="0" algn="bl" rotWithShape="0" blurRad="114300" dist="25400" dir="5400000">
              <a:srgbClr val="9AA2B8">
                <a:alpha val="20000"/>
              </a:srgbClr>
            </a:outerShdw>
          </a:effectLst>
        </p:spPr>
      </p:sp>
      <p:sp>
        <p:nvSpPr>
          <p:cNvPr id="9" name="Shape 7"/>
          <p:cNvSpPr/>
          <p:nvPr/>
        </p:nvSpPr>
        <p:spPr>
          <a:xfrm>
            <a:off x="4242816" y="1463040"/>
            <a:ext cx="3566160" cy="548640"/>
          </a:xfrm>
          <a:prstGeom prst="roundRect">
            <a:avLst>
              <a:gd name="adj" fmla="val 13333"/>
            </a:avLst>
          </a:prstGeom>
          <a:solidFill>
            <a:srgbClr val="ECE8F8"/>
          </a:solidFill>
          <a:ln/>
        </p:spPr>
      </p:sp>
      <p:sp>
        <p:nvSpPr>
          <p:cNvPr id="10" name="Text 8"/>
          <p:cNvSpPr/>
          <p:nvPr/>
        </p:nvSpPr>
        <p:spPr>
          <a:xfrm>
            <a:off x="4443984" y="1463040"/>
            <a:ext cx="3200400" cy="548640"/>
          </a:xfrm>
          <a:prstGeom prst="rect">
            <a:avLst/>
          </a:prstGeom>
          <a:noFill/>
          <a:ln/>
        </p:spPr>
        <p:txBody>
          <a:bodyPr wrap="square" lIns="0" tIns="0" rIns="0" bIns="0" rtlCol="0" anchor="ctr"/>
          <a:lstStyle/>
          <a:p>
            <a:pPr indent="0" marL="0">
              <a:buNone/>
            </a:pPr>
            <a:r>
              <a:rPr lang="en-US" sz="1250" b="1" dirty="0">
                <a:solidFill>
                  <a:srgbClr val="5B4C9E"/>
                </a:solidFill>
                <a:latin typeface="Malgun Gothic" pitchFamily="34" charset="0"/>
                <a:ea typeface="Malgun Gothic" pitchFamily="34" charset="-122"/>
                <a:cs typeface="Malgun Gothic" pitchFamily="34" charset="-120"/>
              </a:rPr>
              <a:t>학생 성장 성찰 (E3)</a:t>
            </a:r>
            <a:endParaRPr lang="en-US" sz="1250" dirty="0"/>
          </a:p>
        </p:txBody>
      </p:sp>
      <p:sp>
        <p:nvSpPr>
          <p:cNvPr id="11" name="Text 9"/>
          <p:cNvSpPr/>
          <p:nvPr/>
        </p:nvSpPr>
        <p:spPr>
          <a:xfrm>
            <a:off x="4462272" y="2139696"/>
            <a:ext cx="3154680" cy="1508760"/>
          </a:xfrm>
          <a:prstGeom prst="rect">
            <a:avLst/>
          </a:prstGeom>
          <a:noFill/>
          <a:ln/>
        </p:spPr>
        <p:txBody>
          <a:bodyPr wrap="square" lIns="0" tIns="0" rIns="0" bIns="0" rtlCol="0" anchor="t"/>
          <a:lstStyle/>
          <a:p>
            <a:pPr indent="0" marL="0">
              <a:lnSpc>
                <a:spcPct val="112000"/>
              </a:lnSpc>
              <a:buNone/>
            </a:pPr>
            <a:r>
              <a:rPr lang="en-US" sz="1200" dirty="0">
                <a:solidFill>
                  <a:srgbClr val="343A4D"/>
                </a:solidFill>
                <a:latin typeface="Malgun Gothic" pitchFamily="34" charset="0"/>
                <a:ea typeface="Malgun Gothic" pitchFamily="34" charset="-122"/>
                <a:cs typeface="Malgun Gothic" pitchFamily="34" charset="-120"/>
              </a:rPr>
              <a:t>이 수업이 학생의 인지·사회정서적 성장에 어떤 영향을 주었는가?</a:t>
            </a:r>
            <a:endParaRPr lang="en-US" sz="1200" dirty="0"/>
          </a:p>
        </p:txBody>
      </p:sp>
      <p:sp>
        <p:nvSpPr>
          <p:cNvPr id="12" name="Shape 10"/>
          <p:cNvSpPr/>
          <p:nvPr/>
        </p:nvSpPr>
        <p:spPr>
          <a:xfrm>
            <a:off x="7918704" y="1463040"/>
            <a:ext cx="3566160" cy="2286000"/>
          </a:xfrm>
          <a:prstGeom prst="roundRect">
            <a:avLst>
              <a:gd name="adj" fmla="val 4000"/>
            </a:avLst>
          </a:prstGeom>
          <a:solidFill>
            <a:srgbClr val="FFFFFF"/>
          </a:solidFill>
          <a:ln/>
          <a:effectLst>
            <a:outerShdw sx="100000" sy="100000" kx="0" ky="0" algn="bl" rotWithShape="0" blurRad="114300" dist="25400" dir="5400000">
              <a:srgbClr val="9AA2B8">
                <a:alpha val="20000"/>
              </a:srgbClr>
            </a:outerShdw>
          </a:effectLst>
        </p:spPr>
      </p:sp>
      <p:sp>
        <p:nvSpPr>
          <p:cNvPr id="13" name="Shape 11"/>
          <p:cNvSpPr/>
          <p:nvPr/>
        </p:nvSpPr>
        <p:spPr>
          <a:xfrm>
            <a:off x="7918704" y="1463040"/>
            <a:ext cx="3566160" cy="548640"/>
          </a:xfrm>
          <a:prstGeom prst="roundRect">
            <a:avLst>
              <a:gd name="adj" fmla="val 13333"/>
            </a:avLst>
          </a:prstGeom>
          <a:solidFill>
            <a:srgbClr val="E2F0E8"/>
          </a:solidFill>
          <a:ln/>
        </p:spPr>
      </p:sp>
      <p:sp>
        <p:nvSpPr>
          <p:cNvPr id="14" name="Text 12"/>
          <p:cNvSpPr/>
          <p:nvPr/>
        </p:nvSpPr>
        <p:spPr>
          <a:xfrm>
            <a:off x="8119872" y="1463040"/>
            <a:ext cx="3200400" cy="548640"/>
          </a:xfrm>
          <a:prstGeom prst="rect">
            <a:avLst/>
          </a:prstGeom>
          <a:noFill/>
          <a:ln/>
        </p:spPr>
        <p:txBody>
          <a:bodyPr wrap="square" lIns="0" tIns="0" rIns="0" bIns="0" rtlCol="0" anchor="ctr"/>
          <a:lstStyle/>
          <a:p>
            <a:pPr indent="0" marL="0">
              <a:buNone/>
            </a:pPr>
            <a:r>
              <a:rPr lang="en-US" sz="1250" b="1" dirty="0">
                <a:solidFill>
                  <a:srgbClr val="3B7A5A"/>
                </a:solidFill>
                <a:latin typeface="Malgun Gothic" pitchFamily="34" charset="0"/>
                <a:ea typeface="Malgun Gothic" pitchFamily="34" charset="-122"/>
                <a:cs typeface="Malgun Gothic" pitchFamily="34" charset="-120"/>
              </a:rPr>
              <a:t>피드백·환류 성찰 (F3)</a:t>
            </a:r>
            <a:endParaRPr lang="en-US" sz="1250" dirty="0"/>
          </a:p>
        </p:txBody>
      </p:sp>
      <p:sp>
        <p:nvSpPr>
          <p:cNvPr id="15" name="Text 13"/>
          <p:cNvSpPr/>
          <p:nvPr/>
        </p:nvSpPr>
        <p:spPr>
          <a:xfrm>
            <a:off x="8138160" y="2139696"/>
            <a:ext cx="3154680" cy="1508760"/>
          </a:xfrm>
          <a:prstGeom prst="rect">
            <a:avLst/>
          </a:prstGeom>
          <a:noFill/>
          <a:ln/>
        </p:spPr>
        <p:txBody>
          <a:bodyPr wrap="square" lIns="0" tIns="0" rIns="0" bIns="0" rtlCol="0" anchor="t"/>
          <a:lstStyle/>
          <a:p>
            <a:pPr indent="0" marL="0">
              <a:lnSpc>
                <a:spcPct val="112000"/>
              </a:lnSpc>
              <a:buNone/>
            </a:pPr>
            <a:r>
              <a:rPr lang="en-US" sz="1200" dirty="0">
                <a:solidFill>
                  <a:srgbClr val="343A4D"/>
                </a:solidFill>
                <a:latin typeface="Malgun Gothic" pitchFamily="34" charset="0"/>
                <a:ea typeface="Malgun Gothic" pitchFamily="34" charset="-122"/>
                <a:cs typeface="Malgun Gothic" pitchFamily="34" charset="-120"/>
              </a:rPr>
              <a:t>피드백은 적시였고 개별화됐는가? 다음 수업 환류 전략은?</a:t>
            </a:r>
            <a:endParaRPr lang="en-US" sz="1200" dirty="0"/>
          </a:p>
        </p:txBody>
      </p:sp>
      <p:sp>
        <p:nvSpPr>
          <p:cNvPr id="16" name="Shape 14"/>
          <p:cNvSpPr/>
          <p:nvPr/>
        </p:nvSpPr>
        <p:spPr>
          <a:xfrm>
            <a:off x="566928" y="3977640"/>
            <a:ext cx="11064240" cy="1920240"/>
          </a:xfrm>
          <a:prstGeom prst="roundRect">
            <a:avLst>
              <a:gd name="adj" fmla="val 4762"/>
            </a:avLst>
          </a:prstGeom>
          <a:solidFill>
            <a:srgbClr val="FBF1DC"/>
          </a:solidFill>
          <a:ln/>
          <a:effectLst>
            <a:outerShdw sx="100000" sy="100000" kx="0" ky="0" algn="bl" rotWithShape="0" blurRad="114300" dist="25400" dir="5400000">
              <a:srgbClr val="9AA2B8">
                <a:alpha val="20000"/>
              </a:srgbClr>
            </a:outerShdw>
          </a:effectLst>
        </p:spPr>
      </p:sp>
      <p:sp>
        <p:nvSpPr>
          <p:cNvPr id="17" name="Text 15"/>
          <p:cNvSpPr/>
          <p:nvPr/>
        </p:nvSpPr>
        <p:spPr>
          <a:xfrm>
            <a:off x="841248" y="4114800"/>
            <a:ext cx="7315200" cy="329184"/>
          </a:xfrm>
          <a:prstGeom prst="rect">
            <a:avLst/>
          </a:prstGeom>
          <a:noFill/>
          <a:ln/>
        </p:spPr>
        <p:txBody>
          <a:bodyPr wrap="square" lIns="0" tIns="0" rIns="0" bIns="0" rtlCol="0" anchor="ctr"/>
          <a:lstStyle/>
          <a:p>
            <a:pPr indent="0" marL="0">
              <a:buNone/>
            </a:pPr>
            <a:r>
              <a:rPr lang="en-US" sz="1350" b="1" dirty="0">
                <a:solidFill>
                  <a:srgbClr val="B8801F"/>
                </a:solidFill>
                <a:latin typeface="Malgun Gothic" pitchFamily="34" charset="0"/>
                <a:ea typeface="Malgun Gothic" pitchFamily="34" charset="-122"/>
                <a:cs typeface="Malgun Gothic" pitchFamily="34" charset="-120"/>
              </a:rPr>
              <a:t>최종 수업 설계안 수정 반영 양식</a:t>
            </a:r>
            <a:endParaRPr lang="en-US" sz="1350" dirty="0"/>
          </a:p>
        </p:txBody>
      </p:sp>
      <p:sp>
        <p:nvSpPr>
          <p:cNvPr id="18" name="Text 16"/>
          <p:cNvSpPr/>
          <p:nvPr/>
        </p:nvSpPr>
        <p:spPr>
          <a:xfrm>
            <a:off x="841248" y="4517136"/>
            <a:ext cx="1371600" cy="365760"/>
          </a:xfrm>
          <a:prstGeom prst="rect">
            <a:avLst/>
          </a:prstGeom>
          <a:noFill/>
          <a:ln/>
        </p:spPr>
        <p:txBody>
          <a:bodyPr wrap="square" lIns="0" tIns="0" rIns="0" bIns="0" rtlCol="0" anchor="ctr"/>
          <a:lstStyle/>
          <a:p>
            <a:pPr indent="0" marL="0">
              <a:buNone/>
            </a:pPr>
            <a:r>
              <a:rPr lang="en-US" sz="1250" b="1" dirty="0">
                <a:solidFill>
                  <a:srgbClr val="1E3560"/>
                </a:solidFill>
                <a:latin typeface="Malgun Gothic" pitchFamily="34" charset="0"/>
                <a:ea typeface="Malgun Gothic" pitchFamily="34" charset="-122"/>
                <a:cs typeface="Malgun Gothic" pitchFamily="34" charset="-120"/>
              </a:rPr>
              <a:t>변경 전</a:t>
            </a:r>
            <a:endParaRPr lang="en-US" sz="1250" dirty="0"/>
          </a:p>
        </p:txBody>
      </p:sp>
      <p:sp>
        <p:nvSpPr>
          <p:cNvPr id="19" name="Text 17"/>
          <p:cNvSpPr/>
          <p:nvPr/>
        </p:nvSpPr>
        <p:spPr>
          <a:xfrm>
            <a:off x="2258568" y="4517136"/>
            <a:ext cx="9144000" cy="365760"/>
          </a:xfrm>
          <a:prstGeom prst="rect">
            <a:avLst/>
          </a:prstGeom>
          <a:noFill/>
          <a:ln/>
        </p:spPr>
        <p:txBody>
          <a:bodyPr wrap="square" lIns="0" tIns="0" rIns="0" bIns="0" rtlCol="0" anchor="ctr"/>
          <a:lstStyle/>
          <a:p>
            <a:pPr indent="0" marL="0">
              <a:buNone/>
            </a:pPr>
            <a:r>
              <a:rPr lang="en-US" sz="1200" dirty="0">
                <a:solidFill>
                  <a:srgbClr val="59607A"/>
                </a:solidFill>
                <a:latin typeface="Malgun Gothic" pitchFamily="34" charset="0"/>
                <a:ea typeface="Malgun Gothic" pitchFamily="34" charset="-122"/>
                <a:cs typeface="Malgun Gothic" pitchFamily="34" charset="-120"/>
              </a:rPr>
              <a:t>데이터·크리틱 이전의 원래 설계</a:t>
            </a:r>
            <a:endParaRPr lang="en-US" sz="1200" dirty="0"/>
          </a:p>
        </p:txBody>
      </p:sp>
      <p:sp>
        <p:nvSpPr>
          <p:cNvPr id="20" name="Text 18"/>
          <p:cNvSpPr/>
          <p:nvPr/>
        </p:nvSpPr>
        <p:spPr>
          <a:xfrm>
            <a:off x="841248" y="4937760"/>
            <a:ext cx="1371600" cy="365760"/>
          </a:xfrm>
          <a:prstGeom prst="rect">
            <a:avLst/>
          </a:prstGeom>
          <a:noFill/>
          <a:ln/>
        </p:spPr>
        <p:txBody>
          <a:bodyPr wrap="square" lIns="0" tIns="0" rIns="0" bIns="0" rtlCol="0" anchor="ctr"/>
          <a:lstStyle/>
          <a:p>
            <a:pPr indent="0" marL="0">
              <a:buNone/>
            </a:pPr>
            <a:r>
              <a:rPr lang="en-US" sz="1250" b="1" dirty="0">
                <a:solidFill>
                  <a:srgbClr val="1E3560"/>
                </a:solidFill>
                <a:latin typeface="Malgun Gothic" pitchFamily="34" charset="0"/>
                <a:ea typeface="Malgun Gothic" pitchFamily="34" charset="-122"/>
                <a:cs typeface="Malgun Gothic" pitchFamily="34" charset="-120"/>
              </a:rPr>
              <a:t>변경 후</a:t>
            </a:r>
            <a:endParaRPr lang="en-US" sz="1250" dirty="0"/>
          </a:p>
        </p:txBody>
      </p:sp>
      <p:sp>
        <p:nvSpPr>
          <p:cNvPr id="21" name="Text 19"/>
          <p:cNvSpPr/>
          <p:nvPr/>
        </p:nvSpPr>
        <p:spPr>
          <a:xfrm>
            <a:off x="2258568" y="4937760"/>
            <a:ext cx="9144000" cy="365760"/>
          </a:xfrm>
          <a:prstGeom prst="rect">
            <a:avLst/>
          </a:prstGeom>
          <a:noFill/>
          <a:ln/>
        </p:spPr>
        <p:txBody>
          <a:bodyPr wrap="square" lIns="0" tIns="0" rIns="0" bIns="0" rtlCol="0" anchor="ctr"/>
          <a:lstStyle/>
          <a:p>
            <a:pPr indent="0" marL="0">
              <a:buNone/>
            </a:pPr>
            <a:r>
              <a:rPr lang="en-US" sz="1200" dirty="0">
                <a:solidFill>
                  <a:srgbClr val="59607A"/>
                </a:solidFill>
                <a:latin typeface="Malgun Gothic" pitchFamily="34" charset="0"/>
                <a:ea typeface="Malgun Gothic" pitchFamily="34" charset="-122"/>
                <a:cs typeface="Malgun Gothic" pitchFamily="34" charset="-120"/>
              </a:rPr>
              <a:t>실제로 고친 내용(구체적으로)</a:t>
            </a:r>
            <a:endParaRPr lang="en-US" sz="1200" dirty="0"/>
          </a:p>
        </p:txBody>
      </p:sp>
      <p:sp>
        <p:nvSpPr>
          <p:cNvPr id="22" name="Text 20"/>
          <p:cNvSpPr/>
          <p:nvPr/>
        </p:nvSpPr>
        <p:spPr>
          <a:xfrm>
            <a:off x="841248" y="5358384"/>
            <a:ext cx="1371600" cy="365760"/>
          </a:xfrm>
          <a:prstGeom prst="rect">
            <a:avLst/>
          </a:prstGeom>
          <a:noFill/>
          <a:ln/>
        </p:spPr>
        <p:txBody>
          <a:bodyPr wrap="square" lIns="0" tIns="0" rIns="0" bIns="0" rtlCol="0" anchor="ctr"/>
          <a:lstStyle/>
          <a:p>
            <a:pPr indent="0" marL="0">
              <a:buNone/>
            </a:pPr>
            <a:r>
              <a:rPr lang="en-US" sz="1250" b="1" dirty="0">
                <a:solidFill>
                  <a:srgbClr val="1E3560"/>
                </a:solidFill>
                <a:latin typeface="Malgun Gothic" pitchFamily="34" charset="0"/>
                <a:ea typeface="Malgun Gothic" pitchFamily="34" charset="-122"/>
                <a:cs typeface="Malgun Gothic" pitchFamily="34" charset="-120"/>
              </a:rPr>
              <a:t>근거</a:t>
            </a:r>
            <a:endParaRPr lang="en-US" sz="1250" dirty="0"/>
          </a:p>
        </p:txBody>
      </p:sp>
      <p:sp>
        <p:nvSpPr>
          <p:cNvPr id="23" name="Text 21"/>
          <p:cNvSpPr/>
          <p:nvPr/>
        </p:nvSpPr>
        <p:spPr>
          <a:xfrm>
            <a:off x="2258568" y="5358384"/>
            <a:ext cx="9144000" cy="365760"/>
          </a:xfrm>
          <a:prstGeom prst="rect">
            <a:avLst/>
          </a:prstGeom>
          <a:noFill/>
          <a:ln/>
        </p:spPr>
        <p:txBody>
          <a:bodyPr wrap="square" lIns="0" tIns="0" rIns="0" bIns="0" rtlCol="0" anchor="ctr"/>
          <a:lstStyle/>
          <a:p>
            <a:pPr indent="0" marL="0">
              <a:buNone/>
            </a:pPr>
            <a:r>
              <a:rPr lang="en-US" sz="1200" dirty="0">
                <a:solidFill>
                  <a:srgbClr val="59607A"/>
                </a:solidFill>
                <a:latin typeface="Malgun Gothic" pitchFamily="34" charset="0"/>
                <a:ea typeface="Malgun Gothic" pitchFamily="34" charset="-122"/>
                <a:cs typeface="Malgun Gothic" pitchFamily="34" charset="-120"/>
              </a:rPr>
              <a:t>어떤 데이터·동료 피드백이 이 수정을 만들었는가</a:t>
            </a:r>
            <a:endParaRPr lang="en-US" sz="1200" dirty="0"/>
          </a:p>
        </p:txBody>
      </p:sp>
      <p:sp>
        <p:nvSpPr>
          <p:cNvPr id="24" name="Text 22"/>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25" name="Text 23"/>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29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3B7A5A"/>
                </a:solidFill>
                <a:latin typeface="Malgun Gothic" pitchFamily="34" charset="0"/>
                <a:ea typeface="Malgun Gothic" pitchFamily="34" charset="-122"/>
                <a:cs typeface="Malgun Gothic" pitchFamily="34" charset="-120"/>
              </a:rPr>
              <a:t>PART 4 · 회고</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3줄 회고와 내 다음 단원으로의 전이</a:t>
            </a:r>
            <a:endParaRPr lang="en-US" sz="2400" dirty="0"/>
          </a:p>
        </p:txBody>
      </p:sp>
      <p:sp>
        <p:nvSpPr>
          <p:cNvPr id="4" name="Shape 2"/>
          <p:cNvSpPr/>
          <p:nvPr/>
        </p:nvSpPr>
        <p:spPr>
          <a:xfrm>
            <a:off x="566928" y="1463040"/>
            <a:ext cx="3566160" cy="2194560"/>
          </a:xfrm>
          <a:prstGeom prst="roundRect">
            <a:avLst>
              <a:gd name="adj" fmla="val 4167"/>
            </a:avLst>
          </a:prstGeom>
          <a:solidFill>
            <a:srgbClr val="E2F0E8"/>
          </a:solidFill>
          <a:ln/>
          <a:effectLst>
            <a:outerShdw sx="100000" sy="100000" kx="0" ky="0" algn="bl" rotWithShape="0" blurRad="114300" dist="25400" dir="5400000">
              <a:srgbClr val="9AA2B8">
                <a:alpha val="20000"/>
              </a:srgbClr>
            </a:outerShdw>
          </a:effectLst>
        </p:spPr>
      </p:sp>
      <p:sp>
        <p:nvSpPr>
          <p:cNvPr id="5" name="Text 3"/>
          <p:cNvSpPr/>
          <p:nvPr/>
        </p:nvSpPr>
        <p:spPr>
          <a:xfrm>
            <a:off x="786384" y="1609344"/>
            <a:ext cx="3108960" cy="365760"/>
          </a:xfrm>
          <a:prstGeom prst="rect">
            <a:avLst/>
          </a:prstGeom>
          <a:noFill/>
          <a:ln/>
        </p:spPr>
        <p:txBody>
          <a:bodyPr wrap="square" lIns="0" tIns="0" rIns="0" bIns="0" rtlCol="0" anchor="ctr"/>
          <a:lstStyle/>
          <a:p>
            <a:pPr indent="0" marL="0">
              <a:buNone/>
            </a:pPr>
            <a:r>
              <a:rPr lang="en-US" sz="1500" b="1" dirty="0">
                <a:solidFill>
                  <a:srgbClr val="3B7A5A"/>
                </a:solidFill>
                <a:latin typeface="Malgun Gothic" pitchFamily="34" charset="0"/>
                <a:ea typeface="Malgun Gothic" pitchFamily="34" charset="-122"/>
                <a:cs typeface="Malgun Gothic" pitchFamily="34" charset="-120"/>
              </a:rPr>
              <a:t>Keep 유지</a:t>
            </a:r>
            <a:endParaRPr lang="en-US" sz="1500" dirty="0"/>
          </a:p>
        </p:txBody>
      </p:sp>
      <p:sp>
        <p:nvSpPr>
          <p:cNvPr id="6" name="Text 4"/>
          <p:cNvSpPr/>
          <p:nvPr/>
        </p:nvSpPr>
        <p:spPr>
          <a:xfrm>
            <a:off x="786384" y="2048256"/>
            <a:ext cx="3154680" cy="1463040"/>
          </a:xfrm>
          <a:prstGeom prst="rect">
            <a:avLst/>
          </a:prstGeom>
          <a:noFill/>
          <a:ln/>
        </p:spPr>
        <p:txBody>
          <a:bodyPr wrap="square" lIns="0" tIns="0" rIns="0" bIns="0" rtlCol="0" anchor="t"/>
          <a:lstStyle/>
          <a:p>
            <a:pPr indent="0" marL="0">
              <a:lnSpc>
                <a:spcPct val="112000"/>
              </a:lnSpc>
              <a:buNone/>
            </a:pPr>
            <a:r>
              <a:rPr lang="en-US" sz="1250" dirty="0">
                <a:solidFill>
                  <a:srgbClr val="343A4D"/>
                </a:solidFill>
                <a:latin typeface="Malgun Gothic" pitchFamily="34" charset="0"/>
                <a:ea typeface="Malgun Gothic" pitchFamily="34" charset="-122"/>
                <a:cs typeface="Malgun Gothic" pitchFamily="34" charset="-120"/>
              </a:rPr>
              <a:t>앞으로 내 수업에 계속 적용하고 싶은, 가장 유익했던 점은?</a:t>
            </a:r>
            <a:endParaRPr lang="en-US" sz="1250" dirty="0"/>
          </a:p>
        </p:txBody>
      </p:sp>
      <p:sp>
        <p:nvSpPr>
          <p:cNvPr id="7" name="Shape 5"/>
          <p:cNvSpPr/>
          <p:nvPr/>
        </p:nvSpPr>
        <p:spPr>
          <a:xfrm>
            <a:off x="4242816" y="1463040"/>
            <a:ext cx="3566160" cy="2194560"/>
          </a:xfrm>
          <a:prstGeom prst="roundRect">
            <a:avLst>
              <a:gd name="adj" fmla="val 4167"/>
            </a:avLst>
          </a:prstGeom>
          <a:solidFill>
            <a:srgbClr val="FAE8E3"/>
          </a:solidFill>
          <a:ln/>
          <a:effectLst>
            <a:outerShdw sx="100000" sy="100000" kx="0" ky="0" algn="bl" rotWithShape="0" blurRad="114300" dist="25400" dir="5400000">
              <a:srgbClr val="9AA2B8">
                <a:alpha val="20000"/>
              </a:srgbClr>
            </a:outerShdw>
          </a:effectLst>
        </p:spPr>
      </p:sp>
      <p:sp>
        <p:nvSpPr>
          <p:cNvPr id="8" name="Text 6"/>
          <p:cNvSpPr/>
          <p:nvPr/>
        </p:nvSpPr>
        <p:spPr>
          <a:xfrm>
            <a:off x="4462272" y="1609344"/>
            <a:ext cx="3108960" cy="365760"/>
          </a:xfrm>
          <a:prstGeom prst="rect">
            <a:avLst/>
          </a:prstGeom>
          <a:noFill/>
          <a:ln/>
        </p:spPr>
        <p:txBody>
          <a:bodyPr wrap="square" lIns="0" tIns="0" rIns="0" bIns="0" rtlCol="0" anchor="ctr"/>
          <a:lstStyle/>
          <a:p>
            <a:pPr indent="0" marL="0">
              <a:buNone/>
            </a:pPr>
            <a:r>
              <a:rPr lang="en-US" sz="1500" b="1" dirty="0">
                <a:solidFill>
                  <a:srgbClr val="B15C45"/>
                </a:solidFill>
                <a:latin typeface="Malgun Gothic" pitchFamily="34" charset="0"/>
                <a:ea typeface="Malgun Gothic" pitchFamily="34" charset="-122"/>
                <a:cs typeface="Malgun Gothic" pitchFamily="34" charset="-120"/>
              </a:rPr>
              <a:t>Problem 문제</a:t>
            </a:r>
            <a:endParaRPr lang="en-US" sz="1500" dirty="0"/>
          </a:p>
        </p:txBody>
      </p:sp>
      <p:sp>
        <p:nvSpPr>
          <p:cNvPr id="9" name="Text 7"/>
          <p:cNvSpPr/>
          <p:nvPr/>
        </p:nvSpPr>
        <p:spPr>
          <a:xfrm>
            <a:off x="4462272" y="2048256"/>
            <a:ext cx="3154680" cy="1463040"/>
          </a:xfrm>
          <a:prstGeom prst="rect">
            <a:avLst/>
          </a:prstGeom>
          <a:noFill/>
          <a:ln/>
        </p:spPr>
        <p:txBody>
          <a:bodyPr wrap="square" lIns="0" tIns="0" rIns="0" bIns="0" rtlCol="0" anchor="t"/>
          <a:lstStyle/>
          <a:p>
            <a:pPr indent="0" marL="0">
              <a:lnSpc>
                <a:spcPct val="112000"/>
              </a:lnSpc>
              <a:buNone/>
            </a:pPr>
            <a:r>
              <a:rPr lang="en-US" sz="1250" dirty="0">
                <a:solidFill>
                  <a:srgbClr val="343A4D"/>
                </a:solidFill>
                <a:latin typeface="Malgun Gothic" pitchFamily="34" charset="0"/>
                <a:ea typeface="Malgun Gothic" pitchFamily="34" charset="-122"/>
                <a:cs typeface="Malgun Gothic" pitchFamily="34" charset="-120"/>
              </a:rPr>
              <a:t>현장 적용을 위해 아직 남은 고민이나 어려움은?</a:t>
            </a:r>
            <a:endParaRPr lang="en-US" sz="1250" dirty="0"/>
          </a:p>
        </p:txBody>
      </p:sp>
      <p:sp>
        <p:nvSpPr>
          <p:cNvPr id="10" name="Shape 8"/>
          <p:cNvSpPr/>
          <p:nvPr/>
        </p:nvSpPr>
        <p:spPr>
          <a:xfrm>
            <a:off x="7918704" y="1463040"/>
            <a:ext cx="3566160" cy="2194560"/>
          </a:xfrm>
          <a:prstGeom prst="roundRect">
            <a:avLst>
              <a:gd name="adj" fmla="val 4167"/>
            </a:avLst>
          </a:prstGeom>
          <a:solidFill>
            <a:srgbClr val="ECE8F8"/>
          </a:solidFill>
          <a:ln/>
          <a:effectLst>
            <a:outerShdw sx="100000" sy="100000" kx="0" ky="0" algn="bl" rotWithShape="0" blurRad="114300" dist="25400" dir="5400000">
              <a:srgbClr val="9AA2B8">
                <a:alpha val="20000"/>
              </a:srgbClr>
            </a:outerShdw>
          </a:effectLst>
        </p:spPr>
      </p:sp>
      <p:sp>
        <p:nvSpPr>
          <p:cNvPr id="11" name="Text 9"/>
          <p:cNvSpPr/>
          <p:nvPr/>
        </p:nvSpPr>
        <p:spPr>
          <a:xfrm>
            <a:off x="8138160" y="1609344"/>
            <a:ext cx="3108960" cy="365760"/>
          </a:xfrm>
          <a:prstGeom prst="rect">
            <a:avLst/>
          </a:prstGeom>
          <a:noFill/>
          <a:ln/>
        </p:spPr>
        <p:txBody>
          <a:bodyPr wrap="square" lIns="0" tIns="0" rIns="0" bIns="0" rtlCol="0" anchor="ctr"/>
          <a:lstStyle/>
          <a:p>
            <a:pPr indent="0" marL="0">
              <a:buNone/>
            </a:pPr>
            <a:r>
              <a:rPr lang="en-US" sz="1500" b="1" dirty="0">
                <a:solidFill>
                  <a:srgbClr val="5B4C9E"/>
                </a:solidFill>
                <a:latin typeface="Malgun Gothic" pitchFamily="34" charset="0"/>
                <a:ea typeface="Malgun Gothic" pitchFamily="34" charset="-122"/>
                <a:cs typeface="Malgun Gothic" pitchFamily="34" charset="-120"/>
              </a:rPr>
              <a:t>Try 시도</a:t>
            </a:r>
            <a:endParaRPr lang="en-US" sz="1500" dirty="0"/>
          </a:p>
        </p:txBody>
      </p:sp>
      <p:sp>
        <p:nvSpPr>
          <p:cNvPr id="12" name="Text 10"/>
          <p:cNvSpPr/>
          <p:nvPr/>
        </p:nvSpPr>
        <p:spPr>
          <a:xfrm>
            <a:off x="8138160" y="2048256"/>
            <a:ext cx="3154680" cy="1463040"/>
          </a:xfrm>
          <a:prstGeom prst="rect">
            <a:avLst/>
          </a:prstGeom>
          <a:noFill/>
          <a:ln/>
        </p:spPr>
        <p:txBody>
          <a:bodyPr wrap="square" lIns="0" tIns="0" rIns="0" bIns="0" rtlCol="0" anchor="t"/>
          <a:lstStyle/>
          <a:p>
            <a:pPr indent="0" marL="0">
              <a:lnSpc>
                <a:spcPct val="112000"/>
              </a:lnSpc>
              <a:buNone/>
            </a:pPr>
            <a:r>
              <a:rPr lang="en-US" sz="1250" dirty="0">
                <a:solidFill>
                  <a:srgbClr val="343A4D"/>
                </a:solidFill>
                <a:latin typeface="Malgun Gothic" pitchFamily="34" charset="0"/>
                <a:ea typeface="Malgun Gothic" pitchFamily="34" charset="-122"/>
                <a:cs typeface="Malgun Gothic" pitchFamily="34" charset="-120"/>
              </a:rPr>
              <a:t>다음 주, 가장 먼저 시도할 작은 실천 한 가지는?</a:t>
            </a:r>
            <a:endParaRPr lang="en-US" sz="1250" dirty="0"/>
          </a:p>
        </p:txBody>
      </p:sp>
      <p:sp>
        <p:nvSpPr>
          <p:cNvPr id="13" name="Shape 11"/>
          <p:cNvSpPr/>
          <p:nvPr/>
        </p:nvSpPr>
        <p:spPr>
          <a:xfrm>
            <a:off x="566928" y="3886200"/>
            <a:ext cx="11064240" cy="2011680"/>
          </a:xfrm>
          <a:prstGeom prst="roundRect">
            <a:avLst>
              <a:gd name="adj" fmla="val 4545"/>
            </a:avLst>
          </a:prstGeom>
          <a:solidFill>
            <a:srgbClr val="FFFFFF"/>
          </a:solidFill>
          <a:ln/>
          <a:effectLst>
            <a:outerShdw sx="100000" sy="100000" kx="0" ky="0" algn="bl" rotWithShape="0" blurRad="114300" dist="25400" dir="5400000">
              <a:srgbClr val="9AA2B8">
                <a:alpha val="20000"/>
              </a:srgbClr>
            </a:outerShdw>
          </a:effectLst>
        </p:spPr>
      </p:sp>
      <p:sp>
        <p:nvSpPr>
          <p:cNvPr id="14" name="Text 12"/>
          <p:cNvSpPr/>
          <p:nvPr/>
        </p:nvSpPr>
        <p:spPr>
          <a:xfrm>
            <a:off x="822960" y="4023360"/>
            <a:ext cx="7315200" cy="329184"/>
          </a:xfrm>
          <a:prstGeom prst="rect">
            <a:avLst/>
          </a:prstGeom>
          <a:noFill/>
          <a:ln/>
        </p:spPr>
        <p:txBody>
          <a:bodyPr wrap="square" lIns="0" tIns="0" rIns="0" bIns="0" rtlCol="0" anchor="ctr"/>
          <a:lstStyle/>
          <a:p>
            <a:pPr indent="0" marL="0">
              <a:buNone/>
            </a:pPr>
            <a:r>
              <a:rPr lang="en-US" sz="1400" b="1" dirty="0">
                <a:solidFill>
                  <a:srgbClr val="1E3560"/>
                </a:solidFill>
                <a:latin typeface="Malgun Gothic" pitchFamily="34" charset="0"/>
                <a:ea typeface="Malgun Gothic" pitchFamily="34" charset="-122"/>
                <a:cs typeface="Malgun Gothic" pitchFamily="34" charset="-120"/>
              </a:rPr>
              <a:t>전이: 오늘을 내 교실로</a:t>
            </a:r>
            <a:endParaRPr lang="en-US" sz="1400" dirty="0"/>
          </a:p>
        </p:txBody>
      </p:sp>
      <p:sp>
        <p:nvSpPr>
          <p:cNvPr id="15" name="Text 13"/>
          <p:cNvSpPr/>
          <p:nvPr/>
        </p:nvSpPr>
        <p:spPr>
          <a:xfrm>
            <a:off x="822960" y="4407408"/>
            <a:ext cx="10607040" cy="1371600"/>
          </a:xfrm>
          <a:prstGeom prst="rect">
            <a:avLst/>
          </a:prstGeom>
          <a:noFill/>
          <a:ln/>
        </p:spPr>
        <p:txBody>
          <a:bodyPr wrap="square" lIns="0" tIns="0" rIns="0" bIns="0" rtlCol="0" anchor="t"/>
          <a:lstStyle/>
          <a:p>
            <a:pPr algn="l" indent="0" marL="0">
              <a:lnSpc>
                <a:spcPct val="104000"/>
              </a:lnSpc>
              <a:spcAft>
                <a:spcPts val="800"/>
              </a:spcAft>
              <a:buNone/>
            </a:pPr>
            <a:r>
              <a:rPr lang="en-US" sz="1250" b="1" dirty="0">
                <a:solidFill>
                  <a:srgbClr val="343A4D"/>
                </a:solidFill>
                <a:latin typeface="Malgun Gothic" pitchFamily="34" charset="0"/>
                <a:ea typeface="Malgun Gothic" pitchFamily="34" charset="-122"/>
                <a:cs typeface="Malgun Gothic" pitchFamily="34" charset="-120"/>
              </a:rPr>
              <a:t>전이 발문: “오늘의 환류 원리(데이터→성장 근거→재설계)를 내 다음 단원에 어떻게 옮길 것인가?”</a:t>
            </a:r>
            <a:endParaRPr lang="en-US" sz="1250" dirty="0"/>
          </a:p>
          <a:p>
            <a:pPr algn="l" indent="0" marL="0">
              <a:lnSpc>
                <a:spcPct val="104000"/>
              </a:lnSpc>
              <a:spcAft>
                <a:spcPts val="600"/>
              </a:spcAft>
              <a:buNone/>
            </a:pPr>
            <a:r>
              <a:rPr lang="en-US" sz="1200" dirty="0">
                <a:solidFill>
                  <a:srgbClr val="59607A"/>
                </a:solidFill>
                <a:latin typeface="Malgun Gothic" pitchFamily="34" charset="0"/>
                <a:ea typeface="Malgun Gothic" pitchFamily="34" charset="-122"/>
                <a:cs typeface="Malgun Gothic" pitchFamily="34" charset="-120"/>
              </a:rPr>
              <a:t>회고록을 바탕으로 모둠원과 5분 나눔 → 연수 종료 후에도 이어질 선도교사 네트워크(온라인 커뮤니티)로 연결. 이 물음이 다음 과정 ⑬(전문성 성장 로드맵)의 출발점이 됩니다.</a:t>
            </a:r>
            <a:endParaRPr lang="en-US" sz="1250" dirty="0"/>
          </a:p>
        </p:txBody>
      </p:sp>
      <p:sp>
        <p:nvSpPr>
          <p:cNvPr id="16" name="Text 14"/>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17" name="Text 15"/>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30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3B7A5A"/>
                </a:solidFill>
                <a:latin typeface="Malgun Gothic" pitchFamily="34" charset="0"/>
                <a:ea typeface="Malgun Gothic" pitchFamily="34" charset="-122"/>
                <a:cs typeface="Malgun Gothic" pitchFamily="34" charset="-120"/>
              </a:rPr>
              <a:t>PART 4 · 마무리</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연수 만족도와 학습내용 요약</a:t>
            </a:r>
            <a:endParaRPr lang="en-US" sz="2400" dirty="0"/>
          </a:p>
        </p:txBody>
      </p:sp>
      <p:sp>
        <p:nvSpPr>
          <p:cNvPr id="4" name="Shape 2"/>
          <p:cNvSpPr/>
          <p:nvPr/>
        </p:nvSpPr>
        <p:spPr>
          <a:xfrm>
            <a:off x="566928" y="1463040"/>
            <a:ext cx="5440680" cy="4480560"/>
          </a:xfrm>
          <a:prstGeom prst="roundRect">
            <a:avLst>
              <a:gd name="adj" fmla="val 2041"/>
            </a:avLst>
          </a:prstGeom>
          <a:solidFill>
            <a:srgbClr val="FFFFFF"/>
          </a:solidFill>
          <a:ln/>
          <a:effectLst>
            <a:outerShdw sx="100000" sy="100000" kx="0" ky="0" algn="bl" rotWithShape="0" blurRad="114300" dist="25400" dir="5400000">
              <a:srgbClr val="9AA2B8">
                <a:alpha val="20000"/>
              </a:srgbClr>
            </a:outerShdw>
          </a:effectLst>
        </p:spPr>
      </p:sp>
      <p:sp>
        <p:nvSpPr>
          <p:cNvPr id="5" name="Text 3"/>
          <p:cNvSpPr/>
          <p:nvPr/>
        </p:nvSpPr>
        <p:spPr>
          <a:xfrm>
            <a:off x="822960" y="1609344"/>
            <a:ext cx="4572000" cy="329184"/>
          </a:xfrm>
          <a:prstGeom prst="rect">
            <a:avLst/>
          </a:prstGeom>
          <a:noFill/>
          <a:ln/>
        </p:spPr>
        <p:txBody>
          <a:bodyPr wrap="square" lIns="0" tIns="0" rIns="0" bIns="0" rtlCol="0" anchor="ctr"/>
          <a:lstStyle/>
          <a:p>
            <a:pPr indent="0" marL="0">
              <a:buNone/>
            </a:pPr>
            <a:r>
              <a:rPr lang="en-US" sz="1400" b="1" dirty="0">
                <a:solidFill>
                  <a:srgbClr val="3B7A5A"/>
                </a:solidFill>
                <a:latin typeface="Malgun Gothic" pitchFamily="34" charset="0"/>
                <a:ea typeface="Malgun Gothic" pitchFamily="34" charset="-122"/>
                <a:cs typeface="Malgun Gothic" pitchFamily="34" charset="-120"/>
              </a:rPr>
              <a:t>연수 만족도 조사</a:t>
            </a:r>
            <a:endParaRPr lang="en-US" sz="1400" dirty="0"/>
          </a:p>
        </p:txBody>
      </p:sp>
      <p:sp>
        <p:nvSpPr>
          <p:cNvPr id="6" name="Text 4"/>
          <p:cNvSpPr/>
          <p:nvPr/>
        </p:nvSpPr>
        <p:spPr>
          <a:xfrm>
            <a:off x="822960" y="2048256"/>
            <a:ext cx="5029200" cy="3749040"/>
          </a:xfrm>
          <a:prstGeom prst="rect">
            <a:avLst/>
          </a:prstGeom>
          <a:noFill/>
          <a:ln/>
        </p:spPr>
        <p:txBody>
          <a:bodyPr wrap="square" lIns="0" tIns="0" rIns="0" bIns="0" rtlCol="0" anchor="t"/>
          <a:lstStyle/>
          <a:p>
            <a:pPr algn="l" marL="203200" indent="-203200">
              <a:lnSpc>
                <a:spcPct val="104000"/>
              </a:lnSpc>
              <a:spcAft>
                <a:spcPts val="800"/>
              </a:spcAft>
              <a:buSzPct val="100000"/>
              <a:buChar char="•"/>
            </a:pPr>
            <a:r>
              <a:rPr lang="en-US" sz="1250" dirty="0">
                <a:solidFill>
                  <a:srgbClr val="343A4D"/>
                </a:solidFill>
                <a:latin typeface="Malgun Gothic" pitchFamily="34" charset="0"/>
                <a:ea typeface="Malgun Gothic" pitchFamily="34" charset="-122"/>
                <a:cs typeface="Malgun Gothic" pitchFamily="34" charset="-120"/>
              </a:rPr>
              <a:t>연수 내용·강사·운영 방식에 대한 솔직한 의견을 남겨 주세요.</a:t>
            </a:r>
            <a:endParaRPr lang="en-US" sz="1250" dirty="0"/>
          </a:p>
          <a:p>
            <a:pPr algn="l" marL="203200" indent="-203200">
              <a:lnSpc>
                <a:spcPct val="104000"/>
              </a:lnSpc>
              <a:spcAft>
                <a:spcPts val="800"/>
              </a:spcAft>
              <a:buSzPct val="100000"/>
              <a:buChar char="•"/>
            </a:pPr>
            <a:r>
              <a:rPr lang="en-US" sz="1250" dirty="0">
                <a:solidFill>
                  <a:srgbClr val="343A4D"/>
                </a:solidFill>
                <a:latin typeface="Malgun Gothic" pitchFamily="34" charset="0"/>
                <a:ea typeface="Malgun Gothic" pitchFamily="34" charset="-122"/>
                <a:cs typeface="Malgun Gothic" pitchFamily="34" charset="-120"/>
              </a:rPr>
              <a:t>참여 방법: QR코드 스캔 또는 공유 링크(URL)로 온라인 설문 제출.</a:t>
            </a:r>
            <a:endParaRPr lang="en-US" sz="1250" dirty="0"/>
          </a:p>
          <a:p>
            <a:pPr algn="l" indent="0" marL="0">
              <a:lnSpc>
                <a:spcPct val="104000"/>
              </a:lnSpc>
              <a:spcAft>
                <a:spcPts val="600"/>
              </a:spcAft>
              <a:buNone/>
            </a:pPr>
            <a:r>
              <a:rPr lang="en-US" sz="1200" i="1" dirty="0">
                <a:solidFill>
                  <a:srgbClr val="3B7A5A"/>
                </a:solidFill>
                <a:latin typeface="Malgun Gothic" pitchFamily="34" charset="0"/>
                <a:ea typeface="Malgun Gothic" pitchFamily="34" charset="-122"/>
                <a:cs typeface="Malgun Gothic" pitchFamily="34" charset="-120"/>
              </a:rPr>
              <a:t>여러분의 피드백은 다음 선도교사 연수 개발의 핵심 자료가 됩니다. 이 조사 자체가 하나의 환류입니다.</a:t>
            </a:r>
            <a:endParaRPr lang="en-US" sz="1250" dirty="0"/>
          </a:p>
        </p:txBody>
      </p:sp>
      <p:sp>
        <p:nvSpPr>
          <p:cNvPr id="7" name="Shape 5"/>
          <p:cNvSpPr/>
          <p:nvPr/>
        </p:nvSpPr>
        <p:spPr>
          <a:xfrm>
            <a:off x="6199632" y="1463040"/>
            <a:ext cx="5440680" cy="4480560"/>
          </a:xfrm>
          <a:prstGeom prst="roundRect">
            <a:avLst>
              <a:gd name="adj" fmla="val 2041"/>
            </a:avLst>
          </a:prstGeom>
          <a:solidFill>
            <a:srgbClr val="EAEEF8"/>
          </a:solidFill>
          <a:ln/>
          <a:effectLst>
            <a:outerShdw sx="100000" sy="100000" kx="0" ky="0" algn="bl" rotWithShape="0" blurRad="114300" dist="25400" dir="5400000">
              <a:srgbClr val="9AA2B8">
                <a:alpha val="20000"/>
              </a:srgbClr>
            </a:outerShdw>
          </a:effectLst>
        </p:spPr>
      </p:sp>
      <p:sp>
        <p:nvSpPr>
          <p:cNvPr id="8" name="Text 6"/>
          <p:cNvSpPr/>
          <p:nvPr/>
        </p:nvSpPr>
        <p:spPr>
          <a:xfrm>
            <a:off x="6455664" y="1609344"/>
            <a:ext cx="4937760" cy="329184"/>
          </a:xfrm>
          <a:prstGeom prst="rect">
            <a:avLst/>
          </a:prstGeom>
          <a:noFill/>
          <a:ln/>
        </p:spPr>
        <p:txBody>
          <a:bodyPr wrap="square" lIns="0" tIns="0" rIns="0" bIns="0" rtlCol="0" anchor="ctr"/>
          <a:lstStyle/>
          <a:p>
            <a:pPr indent="0" marL="0">
              <a:buNone/>
            </a:pPr>
            <a:r>
              <a:rPr lang="en-US" sz="1400" b="1" dirty="0">
                <a:solidFill>
                  <a:srgbClr val="2E4A85"/>
                </a:solidFill>
                <a:latin typeface="Malgun Gothic" pitchFamily="34" charset="0"/>
                <a:ea typeface="Malgun Gothic" pitchFamily="34" charset="-122"/>
                <a:cs typeface="Malgun Gothic" pitchFamily="34" charset="-120"/>
              </a:rPr>
              <a:t>오늘의 학습내용 요약</a:t>
            </a:r>
            <a:endParaRPr lang="en-US" sz="1400" dirty="0"/>
          </a:p>
        </p:txBody>
      </p:sp>
      <p:sp>
        <p:nvSpPr>
          <p:cNvPr id="9" name="Text 7"/>
          <p:cNvSpPr/>
          <p:nvPr/>
        </p:nvSpPr>
        <p:spPr>
          <a:xfrm>
            <a:off x="6455664" y="2048256"/>
            <a:ext cx="5029200" cy="3749040"/>
          </a:xfrm>
          <a:prstGeom prst="rect">
            <a:avLst/>
          </a:prstGeom>
          <a:noFill/>
          <a:ln/>
        </p:spPr>
        <p:txBody>
          <a:bodyPr wrap="square" lIns="0" tIns="0" rIns="0" bIns="0" rtlCol="0" anchor="t"/>
          <a:lstStyle/>
          <a:p>
            <a:pPr algn="l" marL="203200" indent="-203200">
              <a:lnSpc>
                <a:spcPct val="104000"/>
              </a:lnSpc>
              <a:spcAft>
                <a:spcPts val="8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환류는 다음 행동을 바꾸는 신호로 작동한다(Schön·Hattie·Black&amp;Wiliam).</a:t>
            </a:r>
            <a:endParaRPr lang="en-US" sz="1200" dirty="0"/>
          </a:p>
          <a:p>
            <a:pPr algn="l" marL="203200" indent="-203200">
              <a:lnSpc>
                <a:spcPct val="104000"/>
              </a:lnSpc>
              <a:spcAft>
                <a:spcPts val="8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음·미·체 모두 AI는 실행을 값싸게 만들고, 교사의 일은 발상·판단·정서로 옮겨 간다.</a:t>
            </a:r>
            <a:endParaRPr lang="en-US" sz="1200" dirty="0"/>
          </a:p>
          <a:p>
            <a:pPr algn="l" marL="203200" indent="-203200">
              <a:lnSpc>
                <a:spcPct val="104000"/>
              </a:lnSpc>
              <a:spcAft>
                <a:spcPts val="8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데이터는 성장의 근거로 쓴다. 원자료와 교차 확인 후 개별·학급으로 나눠 해석한다.</a:t>
            </a:r>
            <a:endParaRPr lang="en-US" sz="1200" dirty="0"/>
          </a:p>
          <a:p>
            <a:pPr algn="l" marL="203200" indent="-203200">
              <a:lnSpc>
                <a:spcPct val="104000"/>
              </a:lnSpc>
              <a:spcAft>
                <a:spcPts val="600"/>
              </a:spcAft>
              <a:buSzPct val="100000"/>
              <a:buChar char="–"/>
            </a:pPr>
            <a:r>
              <a:rPr lang="en-US" sz="1200" dirty="0">
                <a:solidFill>
                  <a:srgbClr val="343A4D"/>
                </a:solidFill>
                <a:latin typeface="Malgun Gothic" pitchFamily="34" charset="0"/>
                <a:ea typeface="Malgun Gothic" pitchFamily="34" charset="-122"/>
                <a:cs typeface="Malgun Gothic" pitchFamily="34" charset="-120"/>
              </a:rPr>
              <a:t>오늘 만든 액션 플랜을 내일 당장, 그리고 내 다음 단원으로.</a:t>
            </a:r>
            <a:endParaRPr lang="en-US" sz="1200" dirty="0"/>
          </a:p>
        </p:txBody>
      </p:sp>
      <p:sp>
        <p:nvSpPr>
          <p:cNvPr id="10" name="Text 8"/>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11" name="Text 9"/>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31</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59607A"/>
                </a:solidFill>
                <a:latin typeface="Malgun Gothic" pitchFamily="34" charset="0"/>
                <a:ea typeface="Malgun Gothic" pitchFamily="34" charset="-122"/>
                <a:cs typeface="Malgun Gothic" pitchFamily="34" charset="-120"/>
              </a:rPr>
              <a:t>REFERENCES</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참고 연구 · 링크 (출처)</a:t>
            </a:r>
            <a:endParaRPr lang="en-US" sz="2400" dirty="0"/>
          </a:p>
        </p:txBody>
      </p:sp>
      <p:sp>
        <p:nvSpPr>
          <p:cNvPr id="4" name="Shape 2"/>
          <p:cNvSpPr/>
          <p:nvPr/>
        </p:nvSpPr>
        <p:spPr>
          <a:xfrm>
            <a:off x="566928" y="1463040"/>
            <a:ext cx="3493008" cy="4480560"/>
          </a:xfrm>
          <a:prstGeom prst="roundRect">
            <a:avLst>
              <a:gd name="adj" fmla="val 2618"/>
            </a:avLst>
          </a:prstGeom>
          <a:solidFill>
            <a:srgbClr val="FFFFFF"/>
          </a:solidFill>
          <a:ln/>
          <a:effectLst>
            <a:outerShdw sx="100000" sy="100000" kx="0" ky="0" algn="bl" rotWithShape="0" blurRad="114300" dist="25400" dir="5400000">
              <a:srgbClr val="9AA2B8">
                <a:alpha val="20000"/>
              </a:srgbClr>
            </a:outerShdw>
          </a:effectLst>
        </p:spPr>
      </p:sp>
      <p:sp>
        <p:nvSpPr>
          <p:cNvPr id="5" name="Text 3"/>
          <p:cNvSpPr/>
          <p:nvPr/>
        </p:nvSpPr>
        <p:spPr>
          <a:xfrm>
            <a:off x="786384" y="1645920"/>
            <a:ext cx="3108960" cy="274320"/>
          </a:xfrm>
          <a:prstGeom prst="rect">
            <a:avLst/>
          </a:prstGeom>
          <a:noFill/>
          <a:ln/>
        </p:spPr>
        <p:txBody>
          <a:bodyPr wrap="square" lIns="0" tIns="0" rIns="0" bIns="0" rtlCol="0" anchor="ctr"/>
          <a:lstStyle/>
          <a:p>
            <a:pPr indent="0" marL="0">
              <a:buNone/>
            </a:pPr>
            <a:r>
              <a:rPr lang="en-US" sz="1150" b="1" dirty="0">
                <a:solidFill>
                  <a:srgbClr val="2E4A85"/>
                </a:solidFill>
                <a:latin typeface="Malgun Gothic" pitchFamily="34" charset="0"/>
                <a:ea typeface="Malgun Gothic" pitchFamily="34" charset="-122"/>
                <a:cs typeface="Malgun Gothic" pitchFamily="34" charset="-120"/>
              </a:rPr>
              <a:t>이론 · 공통</a:t>
            </a:r>
            <a:endParaRPr lang="en-US" sz="1150" dirty="0"/>
          </a:p>
        </p:txBody>
      </p:sp>
      <p:sp>
        <p:nvSpPr>
          <p:cNvPr id="6" name="Text 4"/>
          <p:cNvSpPr/>
          <p:nvPr/>
        </p:nvSpPr>
        <p:spPr>
          <a:xfrm>
            <a:off x="786384" y="1975104"/>
            <a:ext cx="3072384" cy="402336"/>
          </a:xfrm>
          <a:prstGeom prst="rect">
            <a:avLst/>
          </a:prstGeom>
          <a:noFill/>
          <a:ln/>
        </p:spPr>
        <p:txBody>
          <a:bodyPr wrap="square" lIns="0" tIns="0" rIns="0" bIns="0" rtlCol="0" anchor="t"/>
          <a:lstStyle/>
          <a:p>
            <a:pPr indent="0" marL="0">
              <a:lnSpc>
                <a:spcPct val="100000"/>
              </a:lnSpc>
              <a:buNone/>
            </a:pPr>
            <a:r>
              <a:rPr lang="en-US" sz="1050" dirty="0">
                <a:solidFill>
                  <a:srgbClr val="343A4D"/>
                </a:solidFill>
                <a:latin typeface="Malgun Gothic" pitchFamily="34" charset="0"/>
                <a:ea typeface="Malgun Gothic" pitchFamily="34" charset="-122"/>
                <a:cs typeface="Malgun Gothic" pitchFamily="34" charset="-120"/>
              </a:rPr>
              <a:t>Ramaprasad (1983), On the definition of feedback</a:t>
            </a:r>
            <a:endParaRPr lang="en-US" sz="1050" dirty="0"/>
          </a:p>
        </p:txBody>
      </p:sp>
      <p:sp>
        <p:nvSpPr>
          <p:cNvPr id="7" name="Text 5"/>
          <p:cNvSpPr/>
          <p:nvPr/>
        </p:nvSpPr>
        <p:spPr>
          <a:xfrm>
            <a:off x="786384" y="2395728"/>
            <a:ext cx="3108960" cy="219456"/>
          </a:xfrm>
          <a:prstGeom prst="rect">
            <a:avLst/>
          </a:prstGeom>
          <a:noFill/>
          <a:ln/>
        </p:spPr>
        <p:txBody>
          <a:bodyPr wrap="square" lIns="0" tIns="0" rIns="0" bIns="0" rtlCol="0" anchor="ctr"/>
          <a:lstStyle/>
          <a:p>
            <a:pPr indent="0" marL="0">
              <a:buNone/>
            </a:pPr>
            <a:r>
              <a:rPr lang="en-US" sz="850" i="1" u="sng" dirty="0">
                <a:solidFill>
                  <a:srgbClr val="2E4A85"/>
                </a:solidFill>
                <a:latin typeface="Malgun Gothic" pitchFamily="34" charset="0"/>
                <a:ea typeface="Malgun Gothic" pitchFamily="34" charset="-122"/>
                <a:cs typeface="Malgun Gothic"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doi.org/10.1002/bs.3830280103</a:t>
            </a:r>
            <a:endParaRPr lang="en-US" sz="850" dirty="0"/>
          </a:p>
        </p:txBody>
      </p:sp>
      <p:sp>
        <p:nvSpPr>
          <p:cNvPr id="8" name="Text 6"/>
          <p:cNvSpPr/>
          <p:nvPr/>
        </p:nvSpPr>
        <p:spPr>
          <a:xfrm>
            <a:off x="786384" y="2660904"/>
            <a:ext cx="3072384" cy="402336"/>
          </a:xfrm>
          <a:prstGeom prst="rect">
            <a:avLst/>
          </a:prstGeom>
          <a:noFill/>
          <a:ln/>
        </p:spPr>
        <p:txBody>
          <a:bodyPr wrap="square" lIns="0" tIns="0" rIns="0" bIns="0" rtlCol="0" anchor="t"/>
          <a:lstStyle/>
          <a:p>
            <a:pPr indent="0" marL="0">
              <a:lnSpc>
                <a:spcPct val="100000"/>
              </a:lnSpc>
              <a:buNone/>
            </a:pPr>
            <a:r>
              <a:rPr lang="en-US" sz="1050" dirty="0">
                <a:solidFill>
                  <a:srgbClr val="343A4D"/>
                </a:solidFill>
                <a:latin typeface="Malgun Gothic" pitchFamily="34" charset="0"/>
                <a:ea typeface="Malgun Gothic" pitchFamily="34" charset="-122"/>
                <a:cs typeface="Malgun Gothic" pitchFamily="34" charset="-120"/>
              </a:rPr>
              <a:t>Sadler (1989), Formative assessment</a:t>
            </a:r>
            <a:endParaRPr lang="en-US" sz="1050" dirty="0"/>
          </a:p>
        </p:txBody>
      </p:sp>
      <p:sp>
        <p:nvSpPr>
          <p:cNvPr id="9" name="Text 7"/>
          <p:cNvSpPr/>
          <p:nvPr/>
        </p:nvSpPr>
        <p:spPr>
          <a:xfrm>
            <a:off x="786384" y="3081528"/>
            <a:ext cx="3108960" cy="219456"/>
          </a:xfrm>
          <a:prstGeom prst="rect">
            <a:avLst/>
          </a:prstGeom>
          <a:noFill/>
          <a:ln/>
        </p:spPr>
        <p:txBody>
          <a:bodyPr wrap="square" lIns="0" tIns="0" rIns="0" bIns="0" rtlCol="0" anchor="ctr"/>
          <a:lstStyle/>
          <a:p>
            <a:pPr indent="0" marL="0">
              <a:buNone/>
            </a:pPr>
            <a:r>
              <a:rPr lang="en-US" sz="850" i="1" u="sng" dirty="0">
                <a:solidFill>
                  <a:srgbClr val="2E4A85"/>
                </a:solidFill>
                <a:latin typeface="Malgun Gothic" pitchFamily="34" charset="0"/>
                <a:ea typeface="Malgun Gothic" pitchFamily="34" charset="-122"/>
                <a:cs typeface="Malgun Goth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doi.org/10.1007/BF00117714</a:t>
            </a:r>
            <a:endParaRPr lang="en-US" sz="850" dirty="0"/>
          </a:p>
        </p:txBody>
      </p:sp>
      <p:sp>
        <p:nvSpPr>
          <p:cNvPr id="10" name="Text 8"/>
          <p:cNvSpPr/>
          <p:nvPr/>
        </p:nvSpPr>
        <p:spPr>
          <a:xfrm>
            <a:off x="786384" y="3346704"/>
            <a:ext cx="3072384" cy="402336"/>
          </a:xfrm>
          <a:prstGeom prst="rect">
            <a:avLst/>
          </a:prstGeom>
          <a:noFill/>
          <a:ln/>
        </p:spPr>
        <p:txBody>
          <a:bodyPr wrap="square" lIns="0" tIns="0" rIns="0" bIns="0" rtlCol="0" anchor="t"/>
          <a:lstStyle/>
          <a:p>
            <a:pPr indent="0" marL="0">
              <a:lnSpc>
                <a:spcPct val="100000"/>
              </a:lnSpc>
              <a:buNone/>
            </a:pPr>
            <a:r>
              <a:rPr lang="en-US" sz="1050" dirty="0">
                <a:solidFill>
                  <a:srgbClr val="343A4D"/>
                </a:solidFill>
                <a:latin typeface="Malgun Gothic" pitchFamily="34" charset="0"/>
                <a:ea typeface="Malgun Gothic" pitchFamily="34" charset="-122"/>
                <a:cs typeface="Malgun Gothic" pitchFamily="34" charset="-120"/>
              </a:rPr>
              <a:t>Hattie &amp; Timperley (2007), The Power of Feedback</a:t>
            </a:r>
            <a:endParaRPr lang="en-US" sz="1050" dirty="0"/>
          </a:p>
        </p:txBody>
      </p:sp>
      <p:sp>
        <p:nvSpPr>
          <p:cNvPr id="11" name="Text 9"/>
          <p:cNvSpPr/>
          <p:nvPr/>
        </p:nvSpPr>
        <p:spPr>
          <a:xfrm>
            <a:off x="786384" y="3767328"/>
            <a:ext cx="3108960" cy="219456"/>
          </a:xfrm>
          <a:prstGeom prst="rect">
            <a:avLst/>
          </a:prstGeom>
          <a:noFill/>
          <a:ln/>
        </p:spPr>
        <p:txBody>
          <a:bodyPr wrap="square" lIns="0" tIns="0" rIns="0" bIns="0" rtlCol="0" anchor="ctr"/>
          <a:lstStyle/>
          <a:p>
            <a:pPr indent="0" marL="0">
              <a:buNone/>
            </a:pPr>
            <a:r>
              <a:rPr lang="en-US" sz="850" i="1" u="sng" dirty="0">
                <a:solidFill>
                  <a:srgbClr val="2E4A85"/>
                </a:solidFill>
                <a:latin typeface="Malgun Gothic" pitchFamily="34" charset="0"/>
                <a:ea typeface="Malgun Gothic" pitchFamily="34" charset="-122"/>
                <a:cs typeface="Malgun Gothic"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doi.org/10.3102/003465430298487</a:t>
            </a:r>
            <a:endParaRPr lang="en-US" sz="850" dirty="0"/>
          </a:p>
        </p:txBody>
      </p:sp>
      <p:sp>
        <p:nvSpPr>
          <p:cNvPr id="12" name="Text 10"/>
          <p:cNvSpPr/>
          <p:nvPr/>
        </p:nvSpPr>
        <p:spPr>
          <a:xfrm>
            <a:off x="786384" y="4032504"/>
            <a:ext cx="3072384" cy="402336"/>
          </a:xfrm>
          <a:prstGeom prst="rect">
            <a:avLst/>
          </a:prstGeom>
          <a:noFill/>
          <a:ln/>
        </p:spPr>
        <p:txBody>
          <a:bodyPr wrap="square" lIns="0" tIns="0" rIns="0" bIns="0" rtlCol="0" anchor="t"/>
          <a:lstStyle/>
          <a:p>
            <a:pPr indent="0" marL="0">
              <a:lnSpc>
                <a:spcPct val="100000"/>
              </a:lnSpc>
              <a:buNone/>
            </a:pPr>
            <a:r>
              <a:rPr lang="en-US" sz="1050" dirty="0">
                <a:solidFill>
                  <a:srgbClr val="343A4D"/>
                </a:solidFill>
                <a:latin typeface="Malgun Gothic" pitchFamily="34" charset="0"/>
                <a:ea typeface="Malgun Gothic" pitchFamily="34" charset="-122"/>
                <a:cs typeface="Malgun Gothic" pitchFamily="34" charset="-120"/>
              </a:rPr>
              <a:t>Black &amp; Wiliam (2009), Formative assessment</a:t>
            </a:r>
            <a:endParaRPr lang="en-US" sz="1050" dirty="0"/>
          </a:p>
        </p:txBody>
      </p:sp>
      <p:sp>
        <p:nvSpPr>
          <p:cNvPr id="13" name="Text 11"/>
          <p:cNvSpPr/>
          <p:nvPr/>
        </p:nvSpPr>
        <p:spPr>
          <a:xfrm>
            <a:off x="786384" y="4453128"/>
            <a:ext cx="3108960" cy="219456"/>
          </a:xfrm>
          <a:prstGeom prst="rect">
            <a:avLst/>
          </a:prstGeom>
          <a:noFill/>
          <a:ln/>
        </p:spPr>
        <p:txBody>
          <a:bodyPr wrap="square" lIns="0" tIns="0" rIns="0" bIns="0" rtlCol="0" anchor="ctr"/>
          <a:lstStyle/>
          <a:p>
            <a:pPr indent="0" marL="0">
              <a:buNone/>
            </a:pPr>
            <a:r>
              <a:rPr lang="en-US" sz="850" i="1" u="sng" dirty="0">
                <a:solidFill>
                  <a:srgbClr val="2E4A85"/>
                </a:solidFill>
                <a:latin typeface="Malgun Gothic" pitchFamily="34" charset="0"/>
                <a:ea typeface="Malgun Gothic" pitchFamily="34" charset="-122"/>
                <a:cs typeface="Malgun Gothic"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doi.org/10.1007/s11092-008-9068-5</a:t>
            </a:r>
            <a:endParaRPr lang="en-US" sz="850" dirty="0"/>
          </a:p>
        </p:txBody>
      </p:sp>
      <p:sp>
        <p:nvSpPr>
          <p:cNvPr id="14" name="Text 12"/>
          <p:cNvSpPr/>
          <p:nvPr/>
        </p:nvSpPr>
        <p:spPr>
          <a:xfrm>
            <a:off x="786384" y="4718304"/>
            <a:ext cx="3072384" cy="402336"/>
          </a:xfrm>
          <a:prstGeom prst="rect">
            <a:avLst/>
          </a:prstGeom>
          <a:noFill/>
          <a:ln/>
        </p:spPr>
        <p:txBody>
          <a:bodyPr wrap="square" lIns="0" tIns="0" rIns="0" bIns="0" rtlCol="0" anchor="t"/>
          <a:lstStyle/>
          <a:p>
            <a:pPr indent="0" marL="0">
              <a:lnSpc>
                <a:spcPct val="100000"/>
              </a:lnSpc>
              <a:buNone/>
            </a:pPr>
            <a:r>
              <a:rPr lang="en-US" sz="1050" dirty="0">
                <a:solidFill>
                  <a:srgbClr val="343A4D"/>
                </a:solidFill>
                <a:latin typeface="Malgun Gothic" pitchFamily="34" charset="0"/>
                <a:ea typeface="Malgun Gothic" pitchFamily="34" charset="-122"/>
                <a:cs typeface="Malgun Gothic" pitchFamily="34" charset="-120"/>
              </a:rPr>
              <a:t>OECD (2019), Learning Compass 2030 · AAR</a:t>
            </a:r>
            <a:endParaRPr lang="en-US" sz="1050" dirty="0"/>
          </a:p>
        </p:txBody>
      </p:sp>
      <p:sp>
        <p:nvSpPr>
          <p:cNvPr id="15" name="Text 13"/>
          <p:cNvSpPr/>
          <p:nvPr/>
        </p:nvSpPr>
        <p:spPr>
          <a:xfrm>
            <a:off x="786384" y="5138928"/>
            <a:ext cx="3108960" cy="219456"/>
          </a:xfrm>
          <a:prstGeom prst="rect">
            <a:avLst/>
          </a:prstGeom>
          <a:noFill/>
          <a:ln/>
        </p:spPr>
        <p:txBody>
          <a:bodyPr wrap="square" lIns="0" tIns="0" rIns="0" bIns="0" rtlCol="0" anchor="ctr"/>
          <a:lstStyle/>
          <a:p>
            <a:pPr indent="0" marL="0">
              <a:buNone/>
            </a:pPr>
            <a:r>
              <a:rPr lang="en-US" sz="850" i="1" u="sng" dirty="0">
                <a:solidFill>
                  <a:srgbClr val="2E4A85"/>
                </a:solidFill>
                <a:latin typeface="Malgun Gothic" pitchFamily="34" charset="0"/>
                <a:ea typeface="Malgun Gothic" pitchFamily="34" charset="-122"/>
                <a:cs typeface="Malgun Gothic" pitchFamily="34" charset="-120"/>
                <a:hlinkClick r:id="rId5" invalidUrl="" action="" tgtFrame="" tooltip="" history="1" highlightClick="0" endSnd="0">
                  <a:extLst>
                    <a:ext uri="{A12FA001-AC4F-418D-AE19-62706E023703}">
                      <ahyp:hlinkClr xmlns:ahyp="http://schemas.microsoft.com/office/drawing/2018/hyperlinkcolor" val="tx"/>
                    </a:ext>
                  </a:extLst>
                </a:hlinkClick>
              </a:rPr>
              <a:t>www.oecd.org/en/data/tools/oecd-learning-compass-2030.html</a:t>
            </a:r>
            <a:endParaRPr lang="en-US" sz="850" dirty="0"/>
          </a:p>
        </p:txBody>
      </p:sp>
      <p:sp>
        <p:nvSpPr>
          <p:cNvPr id="16" name="Text 14"/>
          <p:cNvSpPr/>
          <p:nvPr/>
        </p:nvSpPr>
        <p:spPr>
          <a:xfrm>
            <a:off x="786384" y="5404104"/>
            <a:ext cx="3072384" cy="402336"/>
          </a:xfrm>
          <a:prstGeom prst="rect">
            <a:avLst/>
          </a:prstGeom>
          <a:noFill/>
          <a:ln/>
        </p:spPr>
        <p:txBody>
          <a:bodyPr wrap="square" lIns="0" tIns="0" rIns="0" bIns="0" rtlCol="0" anchor="t"/>
          <a:lstStyle/>
          <a:p>
            <a:pPr indent="0" marL="0">
              <a:lnSpc>
                <a:spcPct val="100000"/>
              </a:lnSpc>
              <a:buNone/>
            </a:pPr>
            <a:r>
              <a:rPr lang="en-US" sz="1050" dirty="0">
                <a:solidFill>
                  <a:srgbClr val="343A4D"/>
                </a:solidFill>
                <a:latin typeface="Malgun Gothic" pitchFamily="34" charset="0"/>
                <a:ea typeface="Malgun Gothic" pitchFamily="34" charset="-122"/>
                <a:cs typeface="Malgun Gothic" pitchFamily="34" charset="-120"/>
              </a:rPr>
              <a:t>Schön (1983), The Reflective Practitioner</a:t>
            </a:r>
            <a:endParaRPr lang="en-US" sz="1050" dirty="0"/>
          </a:p>
        </p:txBody>
      </p:sp>
      <p:sp>
        <p:nvSpPr>
          <p:cNvPr id="17" name="Text 15"/>
          <p:cNvSpPr/>
          <p:nvPr/>
        </p:nvSpPr>
        <p:spPr>
          <a:xfrm>
            <a:off x="786384" y="5824728"/>
            <a:ext cx="3108960" cy="219456"/>
          </a:xfrm>
          <a:prstGeom prst="rect">
            <a:avLst/>
          </a:prstGeom>
          <a:noFill/>
          <a:ln/>
        </p:spPr>
        <p:txBody>
          <a:bodyPr wrap="square" lIns="0" tIns="0" rIns="0" bIns="0" rtlCol="0" anchor="ctr"/>
          <a:lstStyle/>
          <a:p>
            <a:pPr indent="0" marL="0">
              <a:buNone/>
            </a:pPr>
            <a:r>
              <a:rPr lang="en-US" sz="850" i="1" dirty="0">
                <a:solidFill>
                  <a:srgbClr val="99A0B4"/>
                </a:solidFill>
                <a:latin typeface="Malgun Gothic" pitchFamily="34" charset="0"/>
                <a:ea typeface="Malgun Gothic" pitchFamily="34" charset="-122"/>
                <a:cs typeface="Malgun Gothic" pitchFamily="34" charset="-120"/>
              </a:rPr>
              <a:t>단행본 · 링크 없음</a:t>
            </a:r>
            <a:endParaRPr lang="en-US" sz="850" dirty="0"/>
          </a:p>
        </p:txBody>
      </p:sp>
      <p:sp>
        <p:nvSpPr>
          <p:cNvPr id="18" name="Shape 16"/>
          <p:cNvSpPr/>
          <p:nvPr/>
        </p:nvSpPr>
        <p:spPr>
          <a:xfrm>
            <a:off x="4334256" y="1463040"/>
            <a:ext cx="3493008" cy="4480560"/>
          </a:xfrm>
          <a:prstGeom prst="roundRect">
            <a:avLst>
              <a:gd name="adj" fmla="val 2618"/>
            </a:avLst>
          </a:prstGeom>
          <a:solidFill>
            <a:srgbClr val="FFFFFF"/>
          </a:solidFill>
          <a:ln/>
          <a:effectLst>
            <a:outerShdw sx="100000" sy="100000" kx="0" ky="0" algn="bl" rotWithShape="0" blurRad="114300" dist="25400" dir="5400000">
              <a:srgbClr val="9AA2B8">
                <a:alpha val="20000"/>
              </a:srgbClr>
            </a:outerShdw>
          </a:effectLst>
        </p:spPr>
      </p:sp>
      <p:sp>
        <p:nvSpPr>
          <p:cNvPr id="19" name="Text 17"/>
          <p:cNvSpPr/>
          <p:nvPr/>
        </p:nvSpPr>
        <p:spPr>
          <a:xfrm>
            <a:off x="4553712" y="1645920"/>
            <a:ext cx="3108960" cy="274320"/>
          </a:xfrm>
          <a:prstGeom prst="rect">
            <a:avLst/>
          </a:prstGeom>
          <a:noFill/>
          <a:ln/>
        </p:spPr>
        <p:txBody>
          <a:bodyPr wrap="square" lIns="0" tIns="0" rIns="0" bIns="0" rtlCol="0" anchor="ctr"/>
          <a:lstStyle/>
          <a:p>
            <a:pPr indent="0" marL="0">
              <a:buNone/>
            </a:pPr>
            <a:r>
              <a:rPr lang="en-US" sz="1150" b="1" dirty="0">
                <a:solidFill>
                  <a:srgbClr val="5B4C9E"/>
                </a:solidFill>
                <a:latin typeface="Malgun Gothic" pitchFamily="34" charset="0"/>
                <a:ea typeface="Malgun Gothic" pitchFamily="34" charset="-122"/>
                <a:cs typeface="Malgun Gothic" pitchFamily="34" charset="-120"/>
              </a:rPr>
              <a:t>음악</a:t>
            </a:r>
            <a:endParaRPr lang="en-US" sz="1150" dirty="0"/>
          </a:p>
        </p:txBody>
      </p:sp>
      <p:sp>
        <p:nvSpPr>
          <p:cNvPr id="20" name="Text 18"/>
          <p:cNvSpPr/>
          <p:nvPr/>
        </p:nvSpPr>
        <p:spPr>
          <a:xfrm>
            <a:off x="4553712" y="1975104"/>
            <a:ext cx="3072384" cy="402336"/>
          </a:xfrm>
          <a:prstGeom prst="rect">
            <a:avLst/>
          </a:prstGeom>
          <a:noFill/>
          <a:ln/>
        </p:spPr>
        <p:txBody>
          <a:bodyPr wrap="square" lIns="0" tIns="0" rIns="0" bIns="0" rtlCol="0" anchor="t"/>
          <a:lstStyle/>
          <a:p>
            <a:pPr indent="0" marL="0">
              <a:lnSpc>
                <a:spcPct val="100000"/>
              </a:lnSpc>
              <a:buNone/>
            </a:pPr>
            <a:r>
              <a:rPr lang="en-US" sz="1050" dirty="0">
                <a:solidFill>
                  <a:srgbClr val="343A4D"/>
                </a:solidFill>
                <a:latin typeface="Malgun Gothic" pitchFamily="34" charset="0"/>
                <a:ea typeface="Malgun Gothic" pitchFamily="34" charset="-122"/>
                <a:cs typeface="Malgun Gothic" pitchFamily="34" charset="-120"/>
              </a:rPr>
              <a:t>Zhou &amp; Kim (2024), ChatGPT-4와 음악 학습</a:t>
            </a:r>
            <a:endParaRPr lang="en-US" sz="1050" dirty="0"/>
          </a:p>
        </p:txBody>
      </p:sp>
      <p:sp>
        <p:nvSpPr>
          <p:cNvPr id="21" name="Text 19"/>
          <p:cNvSpPr/>
          <p:nvPr/>
        </p:nvSpPr>
        <p:spPr>
          <a:xfrm>
            <a:off x="4553712" y="2395728"/>
            <a:ext cx="3108960" cy="219456"/>
          </a:xfrm>
          <a:prstGeom prst="rect">
            <a:avLst/>
          </a:prstGeom>
          <a:noFill/>
          <a:ln/>
        </p:spPr>
        <p:txBody>
          <a:bodyPr wrap="square" lIns="0" tIns="0" rIns="0" bIns="0" rtlCol="0" anchor="ctr"/>
          <a:lstStyle/>
          <a:p>
            <a:pPr indent="0" marL="0">
              <a:buNone/>
            </a:pPr>
            <a:r>
              <a:rPr lang="en-US" sz="850" i="1" u="sng" dirty="0">
                <a:solidFill>
                  <a:srgbClr val="2E4A85"/>
                </a:solidFill>
                <a:latin typeface="Malgun Gothic" pitchFamily="34" charset="0"/>
                <a:ea typeface="Malgun Gothic" pitchFamily="34" charset="-122"/>
                <a:cs typeface="Malgun Gothic"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doi.org/10.1007/s10639-024-12705-z</a:t>
            </a:r>
            <a:endParaRPr lang="en-US" sz="850" dirty="0"/>
          </a:p>
        </p:txBody>
      </p:sp>
      <p:sp>
        <p:nvSpPr>
          <p:cNvPr id="22" name="Text 20"/>
          <p:cNvSpPr/>
          <p:nvPr/>
        </p:nvSpPr>
        <p:spPr>
          <a:xfrm>
            <a:off x="4553712" y="2660904"/>
            <a:ext cx="3072384" cy="402336"/>
          </a:xfrm>
          <a:prstGeom prst="rect">
            <a:avLst/>
          </a:prstGeom>
          <a:noFill/>
          <a:ln/>
        </p:spPr>
        <p:txBody>
          <a:bodyPr wrap="square" lIns="0" tIns="0" rIns="0" bIns="0" rtlCol="0" anchor="t"/>
          <a:lstStyle/>
          <a:p>
            <a:pPr indent="0" marL="0">
              <a:lnSpc>
                <a:spcPct val="100000"/>
              </a:lnSpc>
              <a:buNone/>
            </a:pPr>
            <a:r>
              <a:rPr lang="en-US" sz="1050" dirty="0">
                <a:solidFill>
                  <a:srgbClr val="343A4D"/>
                </a:solidFill>
                <a:latin typeface="Malgun Gothic" pitchFamily="34" charset="0"/>
                <a:ea typeface="Malgun Gothic" pitchFamily="34" charset="-122"/>
                <a:cs typeface="Malgun Gothic" pitchFamily="34" charset="-120"/>
              </a:rPr>
              <a:t>AI 연습 앱·자기조절학습 (2025)</a:t>
            </a:r>
            <a:endParaRPr lang="en-US" sz="1050" dirty="0"/>
          </a:p>
        </p:txBody>
      </p:sp>
      <p:sp>
        <p:nvSpPr>
          <p:cNvPr id="23" name="Text 21"/>
          <p:cNvSpPr/>
          <p:nvPr/>
        </p:nvSpPr>
        <p:spPr>
          <a:xfrm>
            <a:off x="4553712" y="3081528"/>
            <a:ext cx="3108960" cy="219456"/>
          </a:xfrm>
          <a:prstGeom prst="rect">
            <a:avLst/>
          </a:prstGeom>
          <a:noFill/>
          <a:ln/>
        </p:spPr>
        <p:txBody>
          <a:bodyPr wrap="square" lIns="0" tIns="0" rIns="0" bIns="0" rtlCol="0" anchor="ctr"/>
          <a:lstStyle/>
          <a:p>
            <a:pPr indent="0" marL="0">
              <a:buNone/>
            </a:pPr>
            <a:r>
              <a:rPr lang="en-US" sz="850" i="1" u="sng" dirty="0">
                <a:solidFill>
                  <a:srgbClr val="2E4A85"/>
                </a:solidFill>
                <a:latin typeface="Malgun Gothic" pitchFamily="34" charset="0"/>
                <a:ea typeface="Malgun Gothic" pitchFamily="34" charset="-122"/>
                <a:cs typeface="Malgun Gothic" pitchFamily="34" charset="-120"/>
                <a:hlinkClick r:id="rId7" invalidUrl="" action="" tgtFrame="" tooltip="" history="1" highlightClick="0" endSnd="0">
                  <a:extLst>
                    <a:ext uri="{A12FA001-AC4F-418D-AE19-62706E023703}">
                      <ahyp:hlinkClr xmlns:ahyp="http://schemas.microsoft.com/office/drawing/2018/hyperlinkcolor" val="tx"/>
                    </a:ext>
                  </a:extLst>
                </a:hlinkClick>
              </a:rPr>
              <a:t>pmc.ncbi.nlm.nih.gov/articles/PMC12557579</a:t>
            </a:r>
            <a:endParaRPr lang="en-US" sz="850" dirty="0"/>
          </a:p>
        </p:txBody>
      </p:sp>
      <p:sp>
        <p:nvSpPr>
          <p:cNvPr id="24" name="Text 22"/>
          <p:cNvSpPr/>
          <p:nvPr/>
        </p:nvSpPr>
        <p:spPr>
          <a:xfrm>
            <a:off x="4553712" y="3346704"/>
            <a:ext cx="3072384" cy="402336"/>
          </a:xfrm>
          <a:prstGeom prst="rect">
            <a:avLst/>
          </a:prstGeom>
          <a:noFill/>
          <a:ln/>
        </p:spPr>
        <p:txBody>
          <a:bodyPr wrap="square" lIns="0" tIns="0" rIns="0" bIns="0" rtlCol="0" anchor="t"/>
          <a:lstStyle/>
          <a:p>
            <a:pPr indent="0" marL="0">
              <a:lnSpc>
                <a:spcPct val="100000"/>
              </a:lnSpc>
              <a:buNone/>
            </a:pPr>
            <a:r>
              <a:rPr lang="en-US" sz="1050" dirty="0">
                <a:solidFill>
                  <a:srgbClr val="343A4D"/>
                </a:solidFill>
                <a:latin typeface="Malgun Gothic" pitchFamily="34" charset="0"/>
                <a:ea typeface="Malgun Gothic" pitchFamily="34" charset="-122"/>
                <a:cs typeface="Malgun Gothic" pitchFamily="34" charset="-120"/>
              </a:rPr>
              <a:t>생성형 AI와 학교 음악교육 개관 (2025)</a:t>
            </a:r>
            <a:endParaRPr lang="en-US" sz="1050" dirty="0"/>
          </a:p>
        </p:txBody>
      </p:sp>
      <p:sp>
        <p:nvSpPr>
          <p:cNvPr id="25" name="Text 23"/>
          <p:cNvSpPr/>
          <p:nvPr/>
        </p:nvSpPr>
        <p:spPr>
          <a:xfrm>
            <a:off x="4553712" y="3767328"/>
            <a:ext cx="3108960" cy="219456"/>
          </a:xfrm>
          <a:prstGeom prst="rect">
            <a:avLst/>
          </a:prstGeom>
          <a:noFill/>
          <a:ln/>
        </p:spPr>
        <p:txBody>
          <a:bodyPr wrap="square" lIns="0" tIns="0" rIns="0" bIns="0" rtlCol="0" anchor="ctr"/>
          <a:lstStyle/>
          <a:p>
            <a:pPr indent="0" marL="0">
              <a:buNone/>
            </a:pPr>
            <a:r>
              <a:rPr lang="en-US" sz="850" i="1" u="sng" dirty="0">
                <a:solidFill>
                  <a:srgbClr val="2E4A85"/>
                </a:solidFill>
                <a:latin typeface="Malgun Gothic" pitchFamily="34" charset="0"/>
                <a:ea typeface="Malgun Gothic" pitchFamily="34" charset="-122"/>
                <a:cs typeface="Malgun Gothic" pitchFamily="34" charset="-120"/>
                <a:hlinkClick r:id="rId8" invalidUrl="" action="" tgtFrame="" tooltip="" history="1" highlightClick="0" endSnd="0">
                  <a:extLst>
                    <a:ext uri="{A12FA001-AC4F-418D-AE19-62706E023703}">
                      <ahyp:hlinkClr xmlns:ahyp="http://schemas.microsoft.com/office/drawing/2018/hyperlinkcolor" val="tx"/>
                    </a:ext>
                  </a:extLst>
                </a:hlinkClick>
              </a:rPr>
              <a:t>doi.org/10.1080/10632913.2025.2451373</a:t>
            </a:r>
            <a:endParaRPr lang="en-US" sz="850" dirty="0"/>
          </a:p>
        </p:txBody>
      </p:sp>
      <p:sp>
        <p:nvSpPr>
          <p:cNvPr id="26" name="Text 24"/>
          <p:cNvSpPr/>
          <p:nvPr/>
        </p:nvSpPr>
        <p:spPr>
          <a:xfrm>
            <a:off x="4553712" y="4032504"/>
            <a:ext cx="3108960" cy="274320"/>
          </a:xfrm>
          <a:prstGeom prst="rect">
            <a:avLst/>
          </a:prstGeom>
          <a:noFill/>
          <a:ln/>
        </p:spPr>
        <p:txBody>
          <a:bodyPr wrap="square" lIns="0" tIns="0" rIns="0" bIns="0" rtlCol="0" anchor="ctr"/>
          <a:lstStyle/>
          <a:p>
            <a:pPr indent="0" marL="0">
              <a:buNone/>
            </a:pPr>
            <a:r>
              <a:rPr lang="en-US" sz="1150" b="1" dirty="0">
                <a:solidFill>
                  <a:srgbClr val="B15C45"/>
                </a:solidFill>
                <a:latin typeface="Malgun Gothic" pitchFamily="34" charset="0"/>
                <a:ea typeface="Malgun Gothic" pitchFamily="34" charset="-122"/>
                <a:cs typeface="Malgun Gothic" pitchFamily="34" charset="-120"/>
              </a:rPr>
              <a:t>미술</a:t>
            </a:r>
            <a:endParaRPr lang="en-US" sz="1150" dirty="0"/>
          </a:p>
        </p:txBody>
      </p:sp>
      <p:sp>
        <p:nvSpPr>
          <p:cNvPr id="27" name="Text 25"/>
          <p:cNvSpPr/>
          <p:nvPr/>
        </p:nvSpPr>
        <p:spPr>
          <a:xfrm>
            <a:off x="4553712" y="4361688"/>
            <a:ext cx="3072384" cy="402336"/>
          </a:xfrm>
          <a:prstGeom prst="rect">
            <a:avLst/>
          </a:prstGeom>
          <a:noFill/>
          <a:ln/>
        </p:spPr>
        <p:txBody>
          <a:bodyPr wrap="square" lIns="0" tIns="0" rIns="0" bIns="0" rtlCol="0" anchor="t"/>
          <a:lstStyle/>
          <a:p>
            <a:pPr indent="0" marL="0">
              <a:lnSpc>
                <a:spcPct val="100000"/>
              </a:lnSpc>
              <a:buNone/>
            </a:pPr>
            <a:r>
              <a:rPr lang="en-US" sz="1050" dirty="0">
                <a:solidFill>
                  <a:srgbClr val="343A4D"/>
                </a:solidFill>
                <a:latin typeface="Malgun Gothic" pitchFamily="34" charset="0"/>
                <a:ea typeface="Malgun Gothic" pitchFamily="34" charset="-122"/>
                <a:cs typeface="Malgun Gothic" pitchFamily="34" charset="-120"/>
              </a:rPr>
              <a:t>Zhou &amp; Lee (2024), Gen AI, Creativity, and Art</a:t>
            </a:r>
            <a:endParaRPr lang="en-US" sz="1050" dirty="0"/>
          </a:p>
        </p:txBody>
      </p:sp>
      <p:sp>
        <p:nvSpPr>
          <p:cNvPr id="28" name="Text 26"/>
          <p:cNvSpPr/>
          <p:nvPr/>
        </p:nvSpPr>
        <p:spPr>
          <a:xfrm>
            <a:off x="4553712" y="4782312"/>
            <a:ext cx="3108960" cy="219456"/>
          </a:xfrm>
          <a:prstGeom prst="rect">
            <a:avLst/>
          </a:prstGeom>
          <a:noFill/>
          <a:ln/>
        </p:spPr>
        <p:txBody>
          <a:bodyPr wrap="square" lIns="0" tIns="0" rIns="0" bIns="0" rtlCol="0" anchor="ctr"/>
          <a:lstStyle/>
          <a:p>
            <a:pPr indent="0" marL="0">
              <a:buNone/>
            </a:pPr>
            <a:r>
              <a:rPr lang="en-US" sz="850" i="1" u="sng" dirty="0">
                <a:solidFill>
                  <a:srgbClr val="2E4A85"/>
                </a:solidFill>
                <a:latin typeface="Malgun Gothic" pitchFamily="34" charset="0"/>
                <a:ea typeface="Malgun Gothic" pitchFamily="34" charset="-122"/>
                <a:cs typeface="Malgun Gothic" pitchFamily="34" charset="-120"/>
                <a:hlinkClick r:id="rId9" invalidUrl="" action="" tgtFrame="" tooltip="" history="1" highlightClick="0" endSnd="0">
                  <a:extLst>
                    <a:ext uri="{A12FA001-AC4F-418D-AE19-62706E023703}">
                      <ahyp:hlinkClr xmlns:ahyp="http://schemas.microsoft.com/office/drawing/2018/hyperlinkcolor" val="tx"/>
                    </a:ext>
                  </a:extLst>
                </a:hlinkClick>
              </a:rPr>
              <a:t>doi.org/10.1093/pnasnexus/pgae052</a:t>
            </a:r>
            <a:endParaRPr lang="en-US" sz="850" dirty="0"/>
          </a:p>
        </p:txBody>
      </p:sp>
      <p:sp>
        <p:nvSpPr>
          <p:cNvPr id="29" name="Text 27"/>
          <p:cNvSpPr/>
          <p:nvPr/>
        </p:nvSpPr>
        <p:spPr>
          <a:xfrm>
            <a:off x="4553712" y="5047488"/>
            <a:ext cx="3072384" cy="402336"/>
          </a:xfrm>
          <a:prstGeom prst="rect">
            <a:avLst/>
          </a:prstGeom>
          <a:noFill/>
          <a:ln/>
        </p:spPr>
        <p:txBody>
          <a:bodyPr wrap="square" lIns="0" tIns="0" rIns="0" bIns="0" rtlCol="0" anchor="t"/>
          <a:lstStyle/>
          <a:p>
            <a:pPr indent="0" marL="0">
              <a:lnSpc>
                <a:spcPct val="100000"/>
              </a:lnSpc>
              <a:buNone/>
            </a:pPr>
            <a:r>
              <a:rPr lang="en-US" sz="1050" dirty="0">
                <a:solidFill>
                  <a:srgbClr val="343A4D"/>
                </a:solidFill>
                <a:latin typeface="Malgun Gothic" pitchFamily="34" charset="0"/>
                <a:ea typeface="Malgun Gothic" pitchFamily="34" charset="-122"/>
                <a:cs typeface="Malgun Gothic" pitchFamily="34" charset="-120"/>
              </a:rPr>
              <a:t>생성형 AI 미술교육 체계적 리뷰 (2025)</a:t>
            </a:r>
            <a:endParaRPr lang="en-US" sz="1050" dirty="0"/>
          </a:p>
        </p:txBody>
      </p:sp>
      <p:sp>
        <p:nvSpPr>
          <p:cNvPr id="30" name="Text 28"/>
          <p:cNvSpPr/>
          <p:nvPr/>
        </p:nvSpPr>
        <p:spPr>
          <a:xfrm>
            <a:off x="4553712" y="5468112"/>
            <a:ext cx="3108960" cy="219456"/>
          </a:xfrm>
          <a:prstGeom prst="rect">
            <a:avLst/>
          </a:prstGeom>
          <a:noFill/>
          <a:ln/>
        </p:spPr>
        <p:txBody>
          <a:bodyPr wrap="square" lIns="0" tIns="0" rIns="0" bIns="0" rtlCol="0" anchor="ctr"/>
          <a:lstStyle/>
          <a:p>
            <a:pPr indent="0" marL="0">
              <a:buNone/>
            </a:pPr>
            <a:r>
              <a:rPr lang="en-US" sz="850" i="1" u="sng" dirty="0">
                <a:solidFill>
                  <a:srgbClr val="2E4A85"/>
                </a:solidFill>
                <a:latin typeface="Malgun Gothic" pitchFamily="34" charset="0"/>
                <a:ea typeface="Malgun Gothic" pitchFamily="34" charset="-122"/>
                <a:cs typeface="Malgun Gothic" pitchFamily="34" charset="-120"/>
                <a:hlinkClick r:id="rId10" invalidUrl="" action="" tgtFrame="" tooltip="" history="1" highlightClick="0" endSnd="0">
                  <a:extLst>
                    <a:ext uri="{A12FA001-AC4F-418D-AE19-62706E023703}">
                      <ahyp:hlinkClr xmlns:ahyp="http://schemas.microsoft.com/office/drawing/2018/hyperlinkcolor" val="tx"/>
                    </a:ext>
                  </a:extLst>
                </a:hlinkClick>
              </a:rPr>
              <a:t>mdpi.com/2227-7102/16/1/47</a:t>
            </a:r>
            <a:endParaRPr lang="en-US" sz="850" dirty="0"/>
          </a:p>
        </p:txBody>
      </p:sp>
      <p:sp>
        <p:nvSpPr>
          <p:cNvPr id="31" name="Shape 29"/>
          <p:cNvSpPr/>
          <p:nvPr/>
        </p:nvSpPr>
        <p:spPr>
          <a:xfrm>
            <a:off x="8101584" y="1463040"/>
            <a:ext cx="3493008" cy="4480560"/>
          </a:xfrm>
          <a:prstGeom prst="roundRect">
            <a:avLst>
              <a:gd name="adj" fmla="val 2618"/>
            </a:avLst>
          </a:prstGeom>
          <a:solidFill>
            <a:srgbClr val="FFFFFF"/>
          </a:solidFill>
          <a:ln/>
          <a:effectLst>
            <a:outerShdw sx="100000" sy="100000" kx="0" ky="0" algn="bl" rotWithShape="0" blurRad="114300" dist="25400" dir="5400000">
              <a:srgbClr val="9AA2B8">
                <a:alpha val="20000"/>
              </a:srgbClr>
            </a:outerShdw>
          </a:effectLst>
        </p:spPr>
      </p:sp>
      <p:sp>
        <p:nvSpPr>
          <p:cNvPr id="32" name="Text 30"/>
          <p:cNvSpPr/>
          <p:nvPr/>
        </p:nvSpPr>
        <p:spPr>
          <a:xfrm>
            <a:off x="8321040" y="1645920"/>
            <a:ext cx="3108960" cy="274320"/>
          </a:xfrm>
          <a:prstGeom prst="rect">
            <a:avLst/>
          </a:prstGeom>
          <a:noFill/>
          <a:ln/>
        </p:spPr>
        <p:txBody>
          <a:bodyPr wrap="square" lIns="0" tIns="0" rIns="0" bIns="0" rtlCol="0" anchor="ctr"/>
          <a:lstStyle/>
          <a:p>
            <a:pPr indent="0" marL="0">
              <a:buNone/>
            </a:pPr>
            <a:r>
              <a:rPr lang="en-US" sz="1150" b="1" dirty="0">
                <a:solidFill>
                  <a:srgbClr val="3B7A5A"/>
                </a:solidFill>
                <a:latin typeface="Malgun Gothic" pitchFamily="34" charset="0"/>
                <a:ea typeface="Malgun Gothic" pitchFamily="34" charset="-122"/>
                <a:cs typeface="Malgun Gothic" pitchFamily="34" charset="-120"/>
              </a:rPr>
              <a:t>체육</a:t>
            </a:r>
            <a:endParaRPr lang="en-US" sz="1150" dirty="0"/>
          </a:p>
        </p:txBody>
      </p:sp>
      <p:sp>
        <p:nvSpPr>
          <p:cNvPr id="33" name="Text 31"/>
          <p:cNvSpPr/>
          <p:nvPr/>
        </p:nvSpPr>
        <p:spPr>
          <a:xfrm>
            <a:off x="8321040" y="1975104"/>
            <a:ext cx="3072384" cy="402336"/>
          </a:xfrm>
          <a:prstGeom prst="rect">
            <a:avLst/>
          </a:prstGeom>
          <a:noFill/>
          <a:ln/>
        </p:spPr>
        <p:txBody>
          <a:bodyPr wrap="square" lIns="0" tIns="0" rIns="0" bIns="0" rtlCol="0" anchor="t"/>
          <a:lstStyle/>
          <a:p>
            <a:pPr indent="0" marL="0">
              <a:lnSpc>
                <a:spcPct val="100000"/>
              </a:lnSpc>
              <a:buNone/>
            </a:pPr>
            <a:r>
              <a:rPr lang="en-US" sz="1050" dirty="0">
                <a:solidFill>
                  <a:srgbClr val="343A4D"/>
                </a:solidFill>
                <a:latin typeface="Malgun Gothic" pitchFamily="34" charset="0"/>
                <a:ea typeface="Malgun Gothic" pitchFamily="34" charset="-122"/>
                <a:cs typeface="Malgun Gothic" pitchFamily="34" charset="-120"/>
              </a:rPr>
              <a:t>실시간 자세인식 피드백 실증 (2025)</a:t>
            </a:r>
            <a:endParaRPr lang="en-US" sz="1050" dirty="0"/>
          </a:p>
        </p:txBody>
      </p:sp>
      <p:sp>
        <p:nvSpPr>
          <p:cNvPr id="34" name="Text 32"/>
          <p:cNvSpPr/>
          <p:nvPr/>
        </p:nvSpPr>
        <p:spPr>
          <a:xfrm>
            <a:off x="8321040" y="2395728"/>
            <a:ext cx="3108960" cy="219456"/>
          </a:xfrm>
          <a:prstGeom prst="rect">
            <a:avLst/>
          </a:prstGeom>
          <a:noFill/>
          <a:ln/>
        </p:spPr>
        <p:txBody>
          <a:bodyPr wrap="square" lIns="0" tIns="0" rIns="0" bIns="0" rtlCol="0" anchor="ctr"/>
          <a:lstStyle/>
          <a:p>
            <a:pPr indent="0" marL="0">
              <a:buNone/>
            </a:pPr>
            <a:r>
              <a:rPr lang="en-US" sz="850" i="1" u="sng" dirty="0">
                <a:solidFill>
                  <a:srgbClr val="2E4A85"/>
                </a:solidFill>
                <a:latin typeface="Malgun Gothic" pitchFamily="34" charset="0"/>
                <a:ea typeface="Malgun Gothic" pitchFamily="34" charset="-122"/>
                <a:cs typeface="Malgun Gothic" pitchFamily="34" charset="-120"/>
                <a:hlinkClick r:id="rId11" invalidUrl="" action="" tgtFrame="" tooltip="" history="1" highlightClick="0" endSnd="0">
                  <a:extLst>
                    <a:ext uri="{A12FA001-AC4F-418D-AE19-62706E023703}">
                      <ahyp:hlinkClr xmlns:ahyp="http://schemas.microsoft.com/office/drawing/2018/hyperlinkcolor" val="tx"/>
                    </a:ext>
                  </a:extLst>
                </a:hlinkClick>
              </a:rPr>
              <a:t>doi.org/10.1186/s40561-025-00411-3</a:t>
            </a:r>
            <a:endParaRPr lang="en-US" sz="850" dirty="0"/>
          </a:p>
        </p:txBody>
      </p:sp>
      <p:sp>
        <p:nvSpPr>
          <p:cNvPr id="35" name="Text 33"/>
          <p:cNvSpPr/>
          <p:nvPr/>
        </p:nvSpPr>
        <p:spPr>
          <a:xfrm>
            <a:off x="8321040" y="2660904"/>
            <a:ext cx="3072384" cy="402336"/>
          </a:xfrm>
          <a:prstGeom prst="rect">
            <a:avLst/>
          </a:prstGeom>
          <a:noFill/>
          <a:ln/>
        </p:spPr>
        <p:txBody>
          <a:bodyPr wrap="square" lIns="0" tIns="0" rIns="0" bIns="0" rtlCol="0" anchor="t"/>
          <a:lstStyle/>
          <a:p>
            <a:pPr indent="0" marL="0">
              <a:lnSpc>
                <a:spcPct val="100000"/>
              </a:lnSpc>
              <a:buNone/>
            </a:pPr>
            <a:r>
              <a:rPr lang="en-US" sz="1050" dirty="0">
                <a:solidFill>
                  <a:srgbClr val="343A4D"/>
                </a:solidFill>
                <a:latin typeface="Malgun Gothic" pitchFamily="34" charset="0"/>
                <a:ea typeface="Malgun Gothic" pitchFamily="34" charset="-122"/>
                <a:cs typeface="Malgun Gothic" pitchFamily="34" charset="-120"/>
              </a:rPr>
              <a:t>자세추정 움직임 피드백 리뷰 (2024)</a:t>
            </a:r>
            <a:endParaRPr lang="en-US" sz="1050" dirty="0"/>
          </a:p>
        </p:txBody>
      </p:sp>
      <p:sp>
        <p:nvSpPr>
          <p:cNvPr id="36" name="Text 34"/>
          <p:cNvSpPr/>
          <p:nvPr/>
        </p:nvSpPr>
        <p:spPr>
          <a:xfrm>
            <a:off x="8321040" y="3081528"/>
            <a:ext cx="3108960" cy="219456"/>
          </a:xfrm>
          <a:prstGeom prst="rect">
            <a:avLst/>
          </a:prstGeom>
          <a:noFill/>
          <a:ln/>
        </p:spPr>
        <p:txBody>
          <a:bodyPr wrap="square" lIns="0" tIns="0" rIns="0" bIns="0" rtlCol="0" anchor="ctr"/>
          <a:lstStyle/>
          <a:p>
            <a:pPr indent="0" marL="0">
              <a:buNone/>
            </a:pPr>
            <a:r>
              <a:rPr lang="en-US" sz="850" i="1" u="sng" dirty="0">
                <a:solidFill>
                  <a:srgbClr val="2E4A85"/>
                </a:solidFill>
                <a:latin typeface="Malgun Gothic" pitchFamily="34" charset="0"/>
                <a:ea typeface="Malgun Gothic" pitchFamily="34" charset="-122"/>
                <a:cs typeface="Malgun Gothic" pitchFamily="34" charset="-120"/>
                <a:hlinkClick r:id="rId12" invalidUrl="" action="" tgtFrame="" tooltip="" history="1" highlightClick="0" endSnd="0">
                  <a:extLst>
                    <a:ext uri="{A12FA001-AC4F-418D-AE19-62706E023703}">
                      <ahyp:hlinkClr xmlns:ahyp="http://schemas.microsoft.com/office/drawing/2018/hyperlinkcolor" val="tx"/>
                    </a:ext>
                  </a:extLst>
                </a:hlinkClick>
              </a:rPr>
              <a:t>pmc.ncbi.nlm.nih.gov/articles/PMC11401083</a:t>
            </a:r>
            <a:endParaRPr lang="en-US" sz="850" dirty="0"/>
          </a:p>
        </p:txBody>
      </p:sp>
      <p:sp>
        <p:nvSpPr>
          <p:cNvPr id="37" name="Text 35"/>
          <p:cNvSpPr/>
          <p:nvPr/>
        </p:nvSpPr>
        <p:spPr>
          <a:xfrm>
            <a:off x="8321040" y="3346704"/>
            <a:ext cx="3072384" cy="402336"/>
          </a:xfrm>
          <a:prstGeom prst="rect">
            <a:avLst/>
          </a:prstGeom>
          <a:noFill/>
          <a:ln/>
        </p:spPr>
        <p:txBody>
          <a:bodyPr wrap="square" lIns="0" tIns="0" rIns="0" bIns="0" rtlCol="0" anchor="t"/>
          <a:lstStyle/>
          <a:p>
            <a:pPr indent="0" marL="0">
              <a:lnSpc>
                <a:spcPct val="100000"/>
              </a:lnSpc>
              <a:buNone/>
            </a:pPr>
            <a:r>
              <a:rPr lang="en-US" sz="1050" dirty="0">
                <a:solidFill>
                  <a:srgbClr val="343A4D"/>
                </a:solidFill>
                <a:latin typeface="Malgun Gothic" pitchFamily="34" charset="0"/>
                <a:ea typeface="Malgun Gothic" pitchFamily="34" charset="-122"/>
                <a:cs typeface="Malgun Gothic" pitchFamily="34" charset="-120"/>
              </a:rPr>
              <a:t>국내 사례 「스마트 체육 탐구」 (2025)</a:t>
            </a:r>
            <a:endParaRPr lang="en-US" sz="1050" dirty="0"/>
          </a:p>
        </p:txBody>
      </p:sp>
      <p:sp>
        <p:nvSpPr>
          <p:cNvPr id="38" name="Text 36"/>
          <p:cNvSpPr/>
          <p:nvPr/>
        </p:nvSpPr>
        <p:spPr>
          <a:xfrm>
            <a:off x="8321040" y="3767328"/>
            <a:ext cx="3108960" cy="219456"/>
          </a:xfrm>
          <a:prstGeom prst="rect">
            <a:avLst/>
          </a:prstGeom>
          <a:noFill/>
          <a:ln/>
        </p:spPr>
        <p:txBody>
          <a:bodyPr wrap="square" lIns="0" tIns="0" rIns="0" bIns="0" rtlCol="0" anchor="ctr"/>
          <a:lstStyle/>
          <a:p>
            <a:pPr indent="0" marL="0">
              <a:buNone/>
            </a:pPr>
            <a:r>
              <a:rPr lang="en-US" sz="850" i="1" u="sng" dirty="0">
                <a:solidFill>
                  <a:srgbClr val="2E4A85"/>
                </a:solidFill>
                <a:latin typeface="Malgun Gothic" pitchFamily="34" charset="0"/>
                <a:ea typeface="Malgun Gothic" pitchFamily="34" charset="-122"/>
                <a:cs typeface="Malgun Gothic" pitchFamily="34" charset="-120"/>
                <a:hlinkClick r:id="rId13" invalidUrl="" action="" tgtFrame="" tooltip="" history="1" highlightClick="0" endSnd="0">
                  <a:extLst>
                    <a:ext uri="{A12FA001-AC4F-418D-AE19-62706E023703}">
                      <ahyp:hlinkClr xmlns:ahyp="http://schemas.microsoft.com/office/drawing/2018/hyperlinkcolor" val="tx"/>
                    </a:ext>
                  </a:extLst>
                </a:hlinkClick>
              </a:rPr>
              <a:t>brunch.co.kr/@36cac28a4163401/143</a:t>
            </a:r>
            <a:endParaRPr lang="en-US" sz="850" dirty="0"/>
          </a:p>
        </p:txBody>
      </p:sp>
      <p:sp>
        <p:nvSpPr>
          <p:cNvPr id="39" name="Text 37"/>
          <p:cNvSpPr/>
          <p:nvPr/>
        </p:nvSpPr>
        <p:spPr>
          <a:xfrm>
            <a:off x="566928" y="5998464"/>
            <a:ext cx="11064240" cy="274320"/>
          </a:xfrm>
          <a:prstGeom prst="rect">
            <a:avLst/>
          </a:prstGeom>
          <a:noFill/>
          <a:ln/>
        </p:spPr>
        <p:txBody>
          <a:bodyPr wrap="square" lIns="0" tIns="0" rIns="0" bIns="0" rtlCol="0" anchor="ctr"/>
          <a:lstStyle/>
          <a:p>
            <a:pPr indent="0" marL="0">
              <a:buNone/>
            </a:pPr>
            <a:r>
              <a:rPr lang="en-US" sz="900" i="1" dirty="0">
                <a:solidFill>
                  <a:srgbClr val="99A0B4"/>
                </a:solidFill>
                <a:latin typeface="Malgun Gothic" pitchFamily="34" charset="0"/>
                <a:ea typeface="Malgun Gothic" pitchFamily="34" charset="-122"/>
                <a:cs typeface="Malgun Gothic" pitchFamily="34" charset="-120"/>
              </a:rPr>
              <a:t>※ 위 링크는 클릭하면 바로 연결됩니다. 2026년 7월 기준 접속 확인.</a:t>
            </a:r>
            <a:endParaRPr lang="en-US" sz="900" dirty="0"/>
          </a:p>
        </p:txBody>
      </p:sp>
      <p:sp>
        <p:nvSpPr>
          <p:cNvPr id="40" name="Text 38"/>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41" name="Text 39"/>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32</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B"/>
        </a:solidFill>
      </p:bgPr>
    </p:bg>
    <p:spTree>
      <p:nvGrpSpPr>
        <p:cNvPr id="1" name=""/>
        <p:cNvGrpSpPr/>
        <p:nvPr/>
      </p:nvGrpSpPr>
      <p:grpSpPr>
        <a:xfrm>
          <a:off x="0" y="0"/>
          <a:ext cx="0" cy="0"/>
          <a:chOff x="0" y="0"/>
          <a:chExt cx="0" cy="0"/>
        </a:xfrm>
      </p:grpSpPr>
      <p:sp>
        <p:nvSpPr>
          <p:cNvPr id="2" name="Text 0"/>
          <p:cNvSpPr/>
          <p:nvPr/>
        </p:nvSpPr>
        <p:spPr>
          <a:xfrm>
            <a:off x="566928" y="384048"/>
            <a:ext cx="11064240" cy="274320"/>
          </a:xfrm>
          <a:prstGeom prst="rect">
            <a:avLst/>
          </a:prstGeom>
          <a:noFill/>
          <a:ln/>
        </p:spPr>
        <p:txBody>
          <a:bodyPr wrap="square" lIns="0" tIns="0" rIns="0" bIns="0" rtlCol="0" anchor="ctr"/>
          <a:lstStyle/>
          <a:p>
            <a:pPr algn="l" indent="0" marL="0">
              <a:buNone/>
            </a:pPr>
            <a:r>
              <a:rPr lang="en-US" sz="1100" b="1" spc="100" kern="0" dirty="0">
                <a:solidFill>
                  <a:srgbClr val="59607A"/>
                </a:solidFill>
                <a:latin typeface="Malgun Gothic" pitchFamily="34" charset="0"/>
                <a:ea typeface="Malgun Gothic" pitchFamily="34" charset="-122"/>
                <a:cs typeface="Malgun Gothic" pitchFamily="34" charset="-120"/>
              </a:rPr>
              <a:t>APPENDIX</a:t>
            </a:r>
            <a:endParaRPr lang="en-US" sz="11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algn="l" indent="0" marL="0">
              <a:buNone/>
            </a:pPr>
            <a:r>
              <a:rPr lang="en-US" sz="2400" b="1" dirty="0">
                <a:solidFill>
                  <a:srgbClr val="1E3560"/>
                </a:solidFill>
                <a:latin typeface="Malgun Gothic" pitchFamily="34" charset="0"/>
                <a:ea typeface="Malgun Gothic" pitchFamily="34" charset="-122"/>
                <a:cs typeface="Malgun Gothic" pitchFamily="34" charset="-120"/>
              </a:rPr>
              <a:t>부록: 교과별 도구·데이터 예시와 유의사항</a:t>
            </a:r>
            <a:endParaRPr lang="en-US" sz="2400" dirty="0"/>
          </a:p>
        </p:txBody>
      </p:sp>
      <p:sp>
        <p:nvSpPr>
          <p:cNvPr id="4" name="Shape 2"/>
          <p:cNvSpPr/>
          <p:nvPr/>
        </p:nvSpPr>
        <p:spPr>
          <a:xfrm>
            <a:off x="566928" y="1417320"/>
            <a:ext cx="11064240" cy="1051560"/>
          </a:xfrm>
          <a:prstGeom prst="roundRect">
            <a:avLst>
              <a:gd name="adj" fmla="val 8696"/>
            </a:avLst>
          </a:prstGeom>
          <a:solidFill>
            <a:srgbClr val="FFFFFF"/>
          </a:solidFill>
          <a:ln/>
          <a:effectLst>
            <a:outerShdw sx="100000" sy="100000" kx="0" ky="0" algn="bl" rotWithShape="0" blurRad="114300" dist="25400" dir="5400000">
              <a:srgbClr val="9AA2B8">
                <a:alpha val="20000"/>
              </a:srgbClr>
            </a:outerShdw>
          </a:effectLst>
        </p:spPr>
      </p:sp>
      <p:sp>
        <p:nvSpPr>
          <p:cNvPr id="5" name="Shape 3"/>
          <p:cNvSpPr/>
          <p:nvPr/>
        </p:nvSpPr>
        <p:spPr>
          <a:xfrm>
            <a:off x="566928" y="1417320"/>
            <a:ext cx="1371600" cy="1051560"/>
          </a:xfrm>
          <a:prstGeom prst="roundRect">
            <a:avLst>
              <a:gd name="adj" fmla="val 8696"/>
            </a:avLst>
          </a:prstGeom>
          <a:solidFill>
            <a:srgbClr val="ECE8F8"/>
          </a:solidFill>
          <a:ln/>
        </p:spPr>
      </p:sp>
      <p:sp>
        <p:nvSpPr>
          <p:cNvPr id="6" name="Text 4"/>
          <p:cNvSpPr/>
          <p:nvPr/>
        </p:nvSpPr>
        <p:spPr>
          <a:xfrm>
            <a:off x="658368" y="1417320"/>
            <a:ext cx="1188720" cy="1051560"/>
          </a:xfrm>
          <a:prstGeom prst="rect">
            <a:avLst/>
          </a:prstGeom>
          <a:noFill/>
          <a:ln/>
        </p:spPr>
        <p:txBody>
          <a:bodyPr wrap="square" lIns="0" tIns="0" rIns="0" bIns="0" rtlCol="0" anchor="ctr"/>
          <a:lstStyle/>
          <a:p>
            <a:pPr algn="ctr" indent="0" marL="0">
              <a:buNone/>
            </a:pPr>
            <a:r>
              <a:rPr lang="en-US" sz="1500" b="1" dirty="0">
                <a:solidFill>
                  <a:srgbClr val="5B4C9E"/>
                </a:solidFill>
                <a:latin typeface="Malgun Gothic" pitchFamily="34" charset="0"/>
                <a:ea typeface="Malgun Gothic" pitchFamily="34" charset="-122"/>
                <a:cs typeface="Malgun Gothic" pitchFamily="34" charset="-120"/>
              </a:rPr>
              <a:t>음악</a:t>
            </a:r>
            <a:endParaRPr lang="en-US" sz="1500" dirty="0"/>
          </a:p>
        </p:txBody>
      </p:sp>
      <p:sp>
        <p:nvSpPr>
          <p:cNvPr id="7" name="Text 5"/>
          <p:cNvSpPr/>
          <p:nvPr/>
        </p:nvSpPr>
        <p:spPr>
          <a:xfrm>
            <a:off x="2121408" y="1563624"/>
            <a:ext cx="9326880" cy="384048"/>
          </a:xfrm>
          <a:prstGeom prst="rect">
            <a:avLst/>
          </a:prstGeom>
          <a:noFill/>
          <a:ln/>
        </p:spPr>
        <p:txBody>
          <a:bodyPr wrap="square" lIns="0" tIns="0" rIns="0" bIns="0" rtlCol="0" anchor="ctr"/>
          <a:lstStyle/>
          <a:p>
            <a:pPr indent="0" marL="0">
              <a:buNone/>
            </a:pPr>
            <a:r>
              <a:rPr lang="en-US" sz="1150" b="1" dirty="0">
                <a:solidFill>
                  <a:srgbClr val="1E3560"/>
                </a:solidFill>
                <a:latin typeface="Malgun Gothic" pitchFamily="34" charset="0"/>
                <a:ea typeface="Malgun Gothic" pitchFamily="34" charset="-122"/>
                <a:cs typeface="Malgun Gothic" pitchFamily="34" charset="-120"/>
              </a:rPr>
              <a:t>활용 도구  </a:t>
            </a:r>
            <a:pPr indent="0" marL="0">
              <a:buNone/>
            </a:pPr>
            <a:r>
              <a:rPr lang="en-US" sz="1150" dirty="0">
                <a:solidFill>
                  <a:srgbClr val="343A4D"/>
                </a:solidFill>
                <a:latin typeface="Malgun Gothic" pitchFamily="34" charset="0"/>
                <a:ea typeface="Malgun Gothic" pitchFamily="34" charset="-122"/>
                <a:cs typeface="Malgun Gothic" pitchFamily="34" charset="-120"/>
              </a:rPr>
              <a:t>클로바노트·다글로(STT), 생성형 AI 화성/작곡 보조</a:t>
            </a:r>
            <a:endParaRPr lang="en-US" sz="1150" dirty="0"/>
          </a:p>
        </p:txBody>
      </p:sp>
      <p:sp>
        <p:nvSpPr>
          <p:cNvPr id="8" name="Text 6"/>
          <p:cNvSpPr/>
          <p:nvPr/>
        </p:nvSpPr>
        <p:spPr>
          <a:xfrm>
            <a:off x="2121408" y="1947672"/>
            <a:ext cx="9326880" cy="384048"/>
          </a:xfrm>
          <a:prstGeom prst="rect">
            <a:avLst/>
          </a:prstGeom>
          <a:noFill/>
          <a:ln/>
        </p:spPr>
        <p:txBody>
          <a:bodyPr wrap="square" lIns="0" tIns="0" rIns="0" bIns="0" rtlCol="0" anchor="ctr"/>
          <a:lstStyle/>
          <a:p>
            <a:pPr indent="0" marL="0">
              <a:buNone/>
            </a:pPr>
            <a:r>
              <a:rPr lang="en-US" sz="1150" b="1" dirty="0">
                <a:solidFill>
                  <a:srgbClr val="1E3560"/>
                </a:solidFill>
                <a:latin typeface="Malgun Gothic" pitchFamily="34" charset="0"/>
                <a:ea typeface="Malgun Gothic" pitchFamily="34" charset="-122"/>
                <a:cs typeface="Malgun Gothic" pitchFamily="34" charset="-120"/>
              </a:rPr>
              <a:t>수집 데이터  </a:t>
            </a:r>
            <a:pPr indent="0" marL="0">
              <a:buNone/>
            </a:pPr>
            <a:r>
              <a:rPr lang="en-US" sz="1150" dirty="0">
                <a:solidFill>
                  <a:srgbClr val="343A4D"/>
                </a:solidFill>
                <a:latin typeface="Malgun Gothic" pitchFamily="34" charset="0"/>
                <a:ea typeface="Malgun Gothic" pitchFamily="34" charset="-122"/>
                <a:cs typeface="Malgun Gothic" pitchFamily="34" charset="-120"/>
              </a:rPr>
              <a:t>음정·박자 로그, 연습 반복·수정 이력</a:t>
            </a:r>
            <a:endParaRPr lang="en-US" sz="1150" dirty="0"/>
          </a:p>
        </p:txBody>
      </p:sp>
      <p:sp>
        <p:nvSpPr>
          <p:cNvPr id="9" name="Shape 7"/>
          <p:cNvSpPr/>
          <p:nvPr/>
        </p:nvSpPr>
        <p:spPr>
          <a:xfrm>
            <a:off x="566928" y="2587752"/>
            <a:ext cx="11064240" cy="1051560"/>
          </a:xfrm>
          <a:prstGeom prst="roundRect">
            <a:avLst>
              <a:gd name="adj" fmla="val 8696"/>
            </a:avLst>
          </a:prstGeom>
          <a:solidFill>
            <a:srgbClr val="FFFFFF"/>
          </a:solidFill>
          <a:ln/>
          <a:effectLst>
            <a:outerShdw sx="100000" sy="100000" kx="0" ky="0" algn="bl" rotWithShape="0" blurRad="114300" dist="25400" dir="5400000">
              <a:srgbClr val="9AA2B8">
                <a:alpha val="20000"/>
              </a:srgbClr>
            </a:outerShdw>
          </a:effectLst>
        </p:spPr>
      </p:sp>
      <p:sp>
        <p:nvSpPr>
          <p:cNvPr id="10" name="Shape 8"/>
          <p:cNvSpPr/>
          <p:nvPr/>
        </p:nvSpPr>
        <p:spPr>
          <a:xfrm>
            <a:off x="566928" y="2587752"/>
            <a:ext cx="1371600" cy="1051560"/>
          </a:xfrm>
          <a:prstGeom prst="roundRect">
            <a:avLst>
              <a:gd name="adj" fmla="val 8696"/>
            </a:avLst>
          </a:prstGeom>
          <a:solidFill>
            <a:srgbClr val="FAE8E3"/>
          </a:solidFill>
          <a:ln/>
        </p:spPr>
      </p:sp>
      <p:sp>
        <p:nvSpPr>
          <p:cNvPr id="11" name="Text 9"/>
          <p:cNvSpPr/>
          <p:nvPr/>
        </p:nvSpPr>
        <p:spPr>
          <a:xfrm>
            <a:off x="658368" y="2587752"/>
            <a:ext cx="1188720" cy="1051560"/>
          </a:xfrm>
          <a:prstGeom prst="rect">
            <a:avLst/>
          </a:prstGeom>
          <a:noFill/>
          <a:ln/>
        </p:spPr>
        <p:txBody>
          <a:bodyPr wrap="square" lIns="0" tIns="0" rIns="0" bIns="0" rtlCol="0" anchor="ctr"/>
          <a:lstStyle/>
          <a:p>
            <a:pPr algn="ctr" indent="0" marL="0">
              <a:buNone/>
            </a:pPr>
            <a:r>
              <a:rPr lang="en-US" sz="1500" b="1" dirty="0">
                <a:solidFill>
                  <a:srgbClr val="B15C45"/>
                </a:solidFill>
                <a:latin typeface="Malgun Gothic" pitchFamily="34" charset="0"/>
                <a:ea typeface="Malgun Gothic" pitchFamily="34" charset="-122"/>
                <a:cs typeface="Malgun Gothic" pitchFamily="34" charset="-120"/>
              </a:rPr>
              <a:t>미술</a:t>
            </a:r>
            <a:endParaRPr lang="en-US" sz="1500" dirty="0"/>
          </a:p>
        </p:txBody>
      </p:sp>
      <p:sp>
        <p:nvSpPr>
          <p:cNvPr id="12" name="Text 10"/>
          <p:cNvSpPr/>
          <p:nvPr/>
        </p:nvSpPr>
        <p:spPr>
          <a:xfrm>
            <a:off x="2121408" y="2734056"/>
            <a:ext cx="9326880" cy="384048"/>
          </a:xfrm>
          <a:prstGeom prst="rect">
            <a:avLst/>
          </a:prstGeom>
          <a:noFill/>
          <a:ln/>
        </p:spPr>
        <p:txBody>
          <a:bodyPr wrap="square" lIns="0" tIns="0" rIns="0" bIns="0" rtlCol="0" anchor="ctr"/>
          <a:lstStyle/>
          <a:p>
            <a:pPr indent="0" marL="0">
              <a:buNone/>
            </a:pPr>
            <a:r>
              <a:rPr lang="en-US" sz="1150" b="1" dirty="0">
                <a:solidFill>
                  <a:srgbClr val="1E3560"/>
                </a:solidFill>
                <a:latin typeface="Malgun Gothic" pitchFamily="34" charset="0"/>
                <a:ea typeface="Malgun Gothic" pitchFamily="34" charset="-122"/>
                <a:cs typeface="Malgun Gothic" pitchFamily="34" charset="-120"/>
              </a:rPr>
              <a:t>활용 도구  </a:t>
            </a:r>
            <a:pPr indent="0" marL="0">
              <a:buNone/>
            </a:pPr>
            <a:r>
              <a:rPr lang="en-US" sz="1150" dirty="0">
                <a:solidFill>
                  <a:srgbClr val="343A4D"/>
                </a:solidFill>
                <a:latin typeface="Malgun Gothic" pitchFamily="34" charset="0"/>
                <a:ea typeface="Malgun Gothic" pitchFamily="34" charset="-122"/>
                <a:cs typeface="Malgun Gothic" pitchFamily="34" charset="-120"/>
              </a:rPr>
              <a:t>텍스트-이미지 생성 도구, 생성형 AI 아이디어 스캐폴딩</a:t>
            </a:r>
            <a:endParaRPr lang="en-US" sz="1150" dirty="0"/>
          </a:p>
        </p:txBody>
      </p:sp>
      <p:sp>
        <p:nvSpPr>
          <p:cNvPr id="13" name="Text 11"/>
          <p:cNvSpPr/>
          <p:nvPr/>
        </p:nvSpPr>
        <p:spPr>
          <a:xfrm>
            <a:off x="2121408" y="3118104"/>
            <a:ext cx="9326880" cy="384048"/>
          </a:xfrm>
          <a:prstGeom prst="rect">
            <a:avLst/>
          </a:prstGeom>
          <a:noFill/>
          <a:ln/>
        </p:spPr>
        <p:txBody>
          <a:bodyPr wrap="square" lIns="0" tIns="0" rIns="0" bIns="0" rtlCol="0" anchor="ctr"/>
          <a:lstStyle/>
          <a:p>
            <a:pPr indent="0" marL="0">
              <a:buNone/>
            </a:pPr>
            <a:r>
              <a:rPr lang="en-US" sz="1150" b="1" dirty="0">
                <a:solidFill>
                  <a:srgbClr val="1E3560"/>
                </a:solidFill>
                <a:latin typeface="Malgun Gothic" pitchFamily="34" charset="0"/>
                <a:ea typeface="Malgun Gothic" pitchFamily="34" charset="-122"/>
                <a:cs typeface="Malgun Gothic" pitchFamily="34" charset="-120"/>
              </a:rPr>
              <a:t>수집 데이터  </a:t>
            </a:r>
            <a:pPr indent="0" marL="0">
              <a:buNone/>
            </a:pPr>
            <a:r>
              <a:rPr lang="en-US" sz="1150" dirty="0">
                <a:solidFill>
                  <a:srgbClr val="343A4D"/>
                </a:solidFill>
                <a:latin typeface="Malgun Gothic" pitchFamily="34" charset="0"/>
                <a:ea typeface="Malgun Gothic" pitchFamily="34" charset="-122"/>
                <a:cs typeface="Malgun Gothic" pitchFamily="34" charset="-120"/>
              </a:rPr>
              <a:t>프롬프트 수정 이력, 시안 채택·기각, 작가노트</a:t>
            </a:r>
            <a:endParaRPr lang="en-US" sz="1150" dirty="0"/>
          </a:p>
        </p:txBody>
      </p:sp>
      <p:sp>
        <p:nvSpPr>
          <p:cNvPr id="14" name="Shape 12"/>
          <p:cNvSpPr/>
          <p:nvPr/>
        </p:nvSpPr>
        <p:spPr>
          <a:xfrm>
            <a:off x="566928" y="3758184"/>
            <a:ext cx="11064240" cy="1051560"/>
          </a:xfrm>
          <a:prstGeom prst="roundRect">
            <a:avLst>
              <a:gd name="adj" fmla="val 8696"/>
            </a:avLst>
          </a:prstGeom>
          <a:solidFill>
            <a:srgbClr val="FFFFFF"/>
          </a:solidFill>
          <a:ln/>
          <a:effectLst>
            <a:outerShdw sx="100000" sy="100000" kx="0" ky="0" algn="bl" rotWithShape="0" blurRad="114300" dist="25400" dir="5400000">
              <a:srgbClr val="9AA2B8">
                <a:alpha val="20000"/>
              </a:srgbClr>
            </a:outerShdw>
          </a:effectLst>
        </p:spPr>
      </p:sp>
      <p:sp>
        <p:nvSpPr>
          <p:cNvPr id="15" name="Shape 13"/>
          <p:cNvSpPr/>
          <p:nvPr/>
        </p:nvSpPr>
        <p:spPr>
          <a:xfrm>
            <a:off x="566928" y="3758184"/>
            <a:ext cx="1371600" cy="1051560"/>
          </a:xfrm>
          <a:prstGeom prst="roundRect">
            <a:avLst>
              <a:gd name="adj" fmla="val 8696"/>
            </a:avLst>
          </a:prstGeom>
          <a:solidFill>
            <a:srgbClr val="E2F0E8"/>
          </a:solidFill>
          <a:ln/>
        </p:spPr>
      </p:sp>
      <p:sp>
        <p:nvSpPr>
          <p:cNvPr id="16" name="Text 14"/>
          <p:cNvSpPr/>
          <p:nvPr/>
        </p:nvSpPr>
        <p:spPr>
          <a:xfrm>
            <a:off x="658368" y="3758184"/>
            <a:ext cx="1188720" cy="1051560"/>
          </a:xfrm>
          <a:prstGeom prst="rect">
            <a:avLst/>
          </a:prstGeom>
          <a:noFill/>
          <a:ln/>
        </p:spPr>
        <p:txBody>
          <a:bodyPr wrap="square" lIns="0" tIns="0" rIns="0" bIns="0" rtlCol="0" anchor="ctr"/>
          <a:lstStyle/>
          <a:p>
            <a:pPr algn="ctr" indent="0" marL="0">
              <a:buNone/>
            </a:pPr>
            <a:r>
              <a:rPr lang="en-US" sz="1500" b="1" dirty="0">
                <a:solidFill>
                  <a:srgbClr val="3B7A5A"/>
                </a:solidFill>
                <a:latin typeface="Malgun Gothic" pitchFamily="34" charset="0"/>
                <a:ea typeface="Malgun Gothic" pitchFamily="34" charset="-122"/>
                <a:cs typeface="Malgun Gothic" pitchFamily="34" charset="-120"/>
              </a:rPr>
              <a:t>체육</a:t>
            </a:r>
            <a:endParaRPr lang="en-US" sz="1500" dirty="0"/>
          </a:p>
        </p:txBody>
      </p:sp>
      <p:sp>
        <p:nvSpPr>
          <p:cNvPr id="17" name="Text 15"/>
          <p:cNvSpPr/>
          <p:nvPr/>
        </p:nvSpPr>
        <p:spPr>
          <a:xfrm>
            <a:off x="2121408" y="3904488"/>
            <a:ext cx="9326880" cy="384048"/>
          </a:xfrm>
          <a:prstGeom prst="rect">
            <a:avLst/>
          </a:prstGeom>
          <a:noFill/>
          <a:ln/>
        </p:spPr>
        <p:txBody>
          <a:bodyPr wrap="square" lIns="0" tIns="0" rIns="0" bIns="0" rtlCol="0" anchor="ctr"/>
          <a:lstStyle/>
          <a:p>
            <a:pPr indent="0" marL="0">
              <a:buNone/>
            </a:pPr>
            <a:r>
              <a:rPr lang="en-US" sz="1150" b="1" dirty="0">
                <a:solidFill>
                  <a:srgbClr val="1E3560"/>
                </a:solidFill>
                <a:latin typeface="Malgun Gothic" pitchFamily="34" charset="0"/>
                <a:ea typeface="Malgun Gothic" pitchFamily="34" charset="-122"/>
                <a:cs typeface="Malgun Gothic" pitchFamily="34" charset="-120"/>
              </a:rPr>
              <a:t>활용 도구  </a:t>
            </a:r>
            <a:pPr indent="0" marL="0">
              <a:buNone/>
            </a:pPr>
            <a:r>
              <a:rPr lang="en-US" sz="1150" dirty="0">
                <a:solidFill>
                  <a:srgbClr val="343A4D"/>
                </a:solidFill>
                <a:latin typeface="Malgun Gothic" pitchFamily="34" charset="0"/>
                <a:ea typeface="Malgun Gothic" pitchFamily="34" charset="-122"/>
                <a:cs typeface="Malgun Gothic" pitchFamily="34" charset="-120"/>
              </a:rPr>
              <a:t>AI 동작 피드백 앱, AR 신체활동 앱, 웨어러블</a:t>
            </a:r>
            <a:endParaRPr lang="en-US" sz="1150" dirty="0"/>
          </a:p>
        </p:txBody>
      </p:sp>
      <p:sp>
        <p:nvSpPr>
          <p:cNvPr id="18" name="Text 16"/>
          <p:cNvSpPr/>
          <p:nvPr/>
        </p:nvSpPr>
        <p:spPr>
          <a:xfrm>
            <a:off x="2121408" y="4288536"/>
            <a:ext cx="9326880" cy="384048"/>
          </a:xfrm>
          <a:prstGeom prst="rect">
            <a:avLst/>
          </a:prstGeom>
          <a:noFill/>
          <a:ln/>
        </p:spPr>
        <p:txBody>
          <a:bodyPr wrap="square" lIns="0" tIns="0" rIns="0" bIns="0" rtlCol="0" anchor="ctr"/>
          <a:lstStyle/>
          <a:p>
            <a:pPr indent="0" marL="0">
              <a:buNone/>
            </a:pPr>
            <a:r>
              <a:rPr lang="en-US" sz="1150" b="1" dirty="0">
                <a:solidFill>
                  <a:srgbClr val="1E3560"/>
                </a:solidFill>
                <a:latin typeface="Malgun Gothic" pitchFamily="34" charset="0"/>
                <a:ea typeface="Malgun Gothic" pitchFamily="34" charset="-122"/>
                <a:cs typeface="Malgun Gothic" pitchFamily="34" charset="-120"/>
              </a:rPr>
              <a:t>수집 데이터  </a:t>
            </a:r>
            <a:pPr indent="0" marL="0">
              <a:buNone/>
            </a:pPr>
            <a:r>
              <a:rPr lang="en-US" sz="1150" dirty="0">
                <a:solidFill>
                  <a:srgbClr val="343A4D"/>
                </a:solidFill>
                <a:latin typeface="Malgun Gothic" pitchFamily="34" charset="0"/>
                <a:ea typeface="Malgun Gothic" pitchFamily="34" charset="-122"/>
                <a:cs typeface="Malgun Gothic" pitchFamily="34" charset="-120"/>
              </a:rPr>
              <a:t>관절 각도·자세 정확도, 활동량·재시도, 참여 지속</a:t>
            </a:r>
            <a:endParaRPr lang="en-US" sz="1150" dirty="0"/>
          </a:p>
        </p:txBody>
      </p:sp>
      <p:sp>
        <p:nvSpPr>
          <p:cNvPr id="19" name="Shape 17"/>
          <p:cNvSpPr/>
          <p:nvPr/>
        </p:nvSpPr>
        <p:spPr>
          <a:xfrm>
            <a:off x="566928" y="4928616"/>
            <a:ext cx="11064240" cy="1014984"/>
          </a:xfrm>
          <a:prstGeom prst="roundRect">
            <a:avLst>
              <a:gd name="adj" fmla="val 9009"/>
            </a:avLst>
          </a:prstGeom>
          <a:solidFill>
            <a:srgbClr val="FBF1DC"/>
          </a:solidFill>
          <a:ln/>
          <a:effectLst>
            <a:outerShdw sx="100000" sy="100000" kx="0" ky="0" algn="bl" rotWithShape="0" blurRad="114300" dist="25400" dir="5400000">
              <a:srgbClr val="9AA2B8">
                <a:alpha val="20000"/>
              </a:srgbClr>
            </a:outerShdw>
          </a:effectLst>
        </p:spPr>
      </p:sp>
      <p:sp>
        <p:nvSpPr>
          <p:cNvPr id="20" name="Text 18"/>
          <p:cNvSpPr/>
          <p:nvPr/>
        </p:nvSpPr>
        <p:spPr>
          <a:xfrm>
            <a:off x="841248" y="5038344"/>
            <a:ext cx="10515600" cy="832104"/>
          </a:xfrm>
          <a:prstGeom prst="rect">
            <a:avLst/>
          </a:prstGeom>
          <a:noFill/>
          <a:ln/>
        </p:spPr>
        <p:txBody>
          <a:bodyPr wrap="square" lIns="0" tIns="0" rIns="0" bIns="0" rtlCol="0" anchor="t"/>
          <a:lstStyle/>
          <a:p>
            <a:pPr algn="l" indent="0" marL="0">
              <a:lnSpc>
                <a:spcPct val="104000"/>
              </a:lnSpc>
              <a:spcAft>
                <a:spcPts val="500"/>
              </a:spcAft>
              <a:buNone/>
            </a:pPr>
            <a:r>
              <a:rPr lang="en-US" sz="1250" b="1" dirty="0">
                <a:solidFill>
                  <a:srgbClr val="B8801F"/>
                </a:solidFill>
                <a:latin typeface="Malgun Gothic" pitchFamily="34" charset="0"/>
                <a:ea typeface="Malgun Gothic" pitchFamily="34" charset="-122"/>
                <a:cs typeface="Malgun Gothic" pitchFamily="34" charset="-120"/>
              </a:rPr>
              <a:t>도구 중립성 · 라이선스</a:t>
            </a:r>
            <a:endParaRPr lang="en-US" sz="1250" dirty="0"/>
          </a:p>
          <a:p>
            <a:pPr algn="l" indent="0" marL="0">
              <a:lnSpc>
                <a:spcPct val="104000"/>
              </a:lnSpc>
              <a:spcAft>
                <a:spcPts val="600"/>
              </a:spcAft>
              <a:buNone/>
            </a:pPr>
            <a:r>
              <a:rPr lang="en-US" sz="1150" dirty="0">
                <a:solidFill>
                  <a:srgbClr val="59607A"/>
                </a:solidFill>
                <a:latin typeface="Malgun Gothic" pitchFamily="34" charset="0"/>
                <a:ea typeface="Malgun Gothic" pitchFamily="34" charset="-122"/>
                <a:cs typeface="Malgun Gothic" pitchFamily="34" charset="-120"/>
              </a:rPr>
              <a:t>특정 기업·제품 홍보가 되지 않도록 도구는 예시로만 제시하며, 동일 목적의 대체 도구가 있음을 안내합니다. 실습에 사용하는 콘텐츠·앱은 라이선스를 확인하고 출처를 표기합니다. 녹음·영상은 사전 동의 후 수집하고, 분석이 끝나면 연수 종료 후 삭제합니다.</a:t>
            </a:r>
            <a:endParaRPr lang="en-US" sz="1250" dirty="0"/>
          </a:p>
        </p:txBody>
      </p:sp>
      <p:sp>
        <p:nvSpPr>
          <p:cNvPr id="21" name="Text 19"/>
          <p:cNvSpPr/>
          <p:nvPr/>
        </p:nvSpPr>
        <p:spPr>
          <a:xfrm>
            <a:off x="566928" y="6455664"/>
            <a:ext cx="5943600" cy="274320"/>
          </a:xfrm>
          <a:prstGeom prst="rect">
            <a:avLst/>
          </a:prstGeom>
          <a:noFill/>
          <a:ln/>
        </p:spPr>
        <p:txBody>
          <a:bodyPr wrap="square" lIns="0" tIns="0" rIns="0" bIns="0" rtlCol="0" anchor="ctr"/>
          <a:lstStyle/>
          <a:p>
            <a:pPr algn="l" indent="0" marL="0">
              <a:buNone/>
            </a:pPr>
            <a:r>
              <a:rPr lang="en-US" sz="850" dirty="0">
                <a:solidFill>
                  <a:srgbClr val="99A0B4"/>
                </a:solidFill>
                <a:latin typeface="Malgun Gothic" pitchFamily="34" charset="0"/>
                <a:ea typeface="Malgun Gothic" pitchFamily="34" charset="-122"/>
                <a:cs typeface="Malgun Gothic" pitchFamily="34" charset="-120"/>
              </a:rPr>
              <a:t>2026 인공지능 활용 선도교사 연수</a:t>
            </a:r>
            <a:endParaRPr lang="en-US" sz="850" dirty="0"/>
          </a:p>
        </p:txBody>
      </p:sp>
      <p:sp>
        <p:nvSpPr>
          <p:cNvPr id="22" name="Text 20"/>
          <p:cNvSpPr/>
          <p:nvPr/>
        </p:nvSpPr>
        <p:spPr>
          <a:xfrm>
            <a:off x="5669280" y="6455664"/>
            <a:ext cx="5952744" cy="274320"/>
          </a:xfrm>
          <a:prstGeom prst="rect">
            <a:avLst/>
          </a:prstGeom>
          <a:noFill/>
          <a:ln/>
        </p:spPr>
        <p:txBody>
          <a:bodyPr wrap="square" lIns="0" tIns="0" rIns="0" bIns="0" rtlCol="0" anchor="ctr"/>
          <a:lstStyle/>
          <a:p>
            <a:pPr algn="r" indent="0" marL="0">
              <a:buNone/>
            </a:pPr>
            <a:r>
              <a:rPr lang="en-US" sz="850" dirty="0">
                <a:solidFill>
                  <a:srgbClr val="99A0B4"/>
                </a:solidFill>
                <a:latin typeface="Malgun Gothic" pitchFamily="34" charset="0"/>
                <a:ea typeface="Malgun Gothic" pitchFamily="34" charset="-122"/>
                <a:cs typeface="Malgun Gothic" pitchFamily="34" charset="-120"/>
              </a:rPr>
              <a:t>집합 ⑫ · 평가 결과 기반 교수학습 환류   |   33</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2026-07-18T14:29:47Z</dcterms:created>
  <dcterms:modified xsi:type="dcterms:W3CDTF">2026-07-18T14:29:47Z</dcterms:modified>
</cp:coreProperties>
</file>