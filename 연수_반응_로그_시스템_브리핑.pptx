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시스템은 11차시 강의 중 연수생 각자의 반응·참여를 기록하고, 그 로그를 12차시 환류 실습의 표본 데이터로 쓰기 위한 것입니다. 배포형 웹 시스템이며 강의자 콘솔과 연수생 접속 화면 두 부분으로 구성됩니다.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⑩ 마이크로티칭, ⑪ 분석, ⑫ 환류로 이어지는 데이터 사슬 위에서 이 시스템의 로그가 ⑫의 표본 데이터가 됩니다. 발화 비율이나 응답 수는 이 회차 하나의 기술로만 제시하고 일반 경향의 근거로 쓰지 않는다는 원칙을 12차시 진행 시 함께 안내해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파일을 같은 폴더에 두고 정적 호스팅(Netlify, Vercel, GitHub Pages 등)에 올리면 됩니다. 서버 코드는 없고 데이터 저장·실시간 전달은 Supabase가 담당합니다.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실시간 구독은 Supabase Realtime을 사용합니다. 강의자가 발행한 이벤트(participant_id가 비어 있음)와 연수생이 남긴 이벤트를 같은 테이블에서 구분합니다.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폴 집계는 폴당 1인 1회로 중복을 거르고, 새 질문을 띄우면 초기화됩니다. 과목별 요약은 음악·미술·체육·기타·미지정으로 나뉘어 인원, 평균 주의, 반응 네 종류의 누적 횟수를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연수가 ③차시에서 학습 데이터 보안·개인정보보호를 다루므로, 동의 화면 자체를 강의 예시로 보여 주면 내용과 운영이 일치합니다.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 점수가 낮게 나온 구간은 개인 문제보다 강의 설계(설명 길이, 실습 전환 시점)를 점검하는 단서로 다루게 안내해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표와 막대는 화면 구성 예시이며 실제 수치는 세션에 따라 달라집니다. 과목별 요약은 음악·미술·체육·기타·미지정 순으로 표시됩니다.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내보내기 파일 하나에 이벤트·전사·참가자가 모두 들어 있어 12차시에서 그대로 배포하면 됩니다. 개인 식별이 필요 없는 전체 분석에는 이름을 가명 처리한 사본을 쓰세요.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연수생 얼굴·행동 데이터는 개인정보이며 항목에 따라 민감정보에 해당할 수 있습니다. 동의 절차와 보관 정책을 ③차시 강의 예시로 함께 보여 주면 교육 내용과 운영이 일치합니다.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행사 전에 시연 세션을 한 번 돌려 카메라·마이크 권한, 실시간 반영, 내보내기까지 확인해 두는 것을 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828800"/>
            <a:ext cx="999439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22305A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228600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반응 로그 시스템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 창작교육 데이터 강의의 실시간 참여 기록과 12차시 환류 연계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9776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· 미술 · 체육 공통  |  강사 브리핑 자료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맥락: 11차시 수집, 12차시 분석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활용 선도교사 연수 · 연수 반응 로그 시스템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 강의 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창작교육 데이터 강의를 진행합니다. 연수생은 각자 기기로 접속해 반응 버튼, 폴 응답, 메모를 남기고, 동의한 항목에 한해 주의 신호가 기록됩니다.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직후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011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 콘솔에서 이벤트·전사·참가자 정보를 JSON과 CSV로 내보냅니다. 이 파일이 12차시 실습 표본이 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BFE0C8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 환류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2011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연수생이 자기 반응 로그를 열어 발화·응답·막힘 신호를 해석하고, 과목 분반에서 개선 지점 하나를 도출합니다.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59352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54112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913632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주제와 데이터의 관계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 강의가 창작교육의 데이터 유형(발화, 과정 산출물, 자기성찰 텍스트)을 다루므로, 이 시스템이 수집하는 로그는 강의에서 설명하는 데이터 유형의 실제 표본이 됩니다. 강의 내용과 수집 데이터가 같은 종류라서 예시와 실습 재료를 따로 준비할 필요가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구성: 파일 4개와 Supabase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활용 선도교사 연수 · 연수 반응 로그 시스템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instructor.html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0" y="1371600"/>
            <a:ext cx="779983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69080" y="1536192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 콘솔. 세션 생성, 슬라이드·단계 표시, 발화 전사, 폴 발행과 집계, 실시간 현황판, 내보내기.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participant.html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2578608"/>
            <a:ext cx="779983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69080" y="2743200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연수생 접속 화면. 항목별 동의 후 반응 버튼, 메모, 폴 응답, 웹캠 주의 신호(선택), 음성 녹음(선택).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85616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133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config.js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3785616"/>
            <a:ext cx="779983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69080" y="3950208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연결 값과 캡처 기본값. 보관 정책 안내 문구도 여기서 수정합니다.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92624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340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supabase_schema.sql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4992624"/>
            <a:ext cx="779983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69080" y="5157216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테이블, 실시간 활성화, 접근 정책. 대시보드 SQL Editor에서 1회 실행합니다.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활용 선도교사 연수 · 연수 반응 로그 시스템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76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연수생 기기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접속, 단계 확인, 폴 응답, 반응 버튼, 메모, 주의 신호, 하트비트를 이벤트로 기록합니다. 동의하지 않은 항목은 발생하지 않습니다.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176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테이블에 시각·참가자·유형·내용이 쌓이고, 강의자 발화는 전사 테이블에 분리 저장됩니다. 실시간 구독으로 양방향 전달합니다.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2176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 콘솔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25603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세션의 이벤트를 구독해 사람별 현황판과 폴 집계를 갱신하고, 폴·단계 전환을 연수생 화면으로 발행합니다.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95344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90104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연수생 기기에서 나가는 것은 이벤트 데이터이며, 웹캠 원본 영상은 기기 밖으로 나가지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 콘솔 기능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활용 선도교사 연수 · 연수 반응 로그 시스템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생성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세션을 만들면 5자리 접속 코드가 나옵니다. 이 코드를 연수생에게 안내합니다.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7784" y="1371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6384" y="1536192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진행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6384" y="192024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텍스트 표시, 도입·전개·정리 단계 전환을 이벤트로 남깁니다.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86928" y="1371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5528" y="1536192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 전사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5528" y="192024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Speech API로 강의자 발화를 한국어 전사해 별도 테이블에 저장합니다. Chrome 계열에서 동작합니다.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822192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즉석 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20624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보기를 입력해 연수생 화면에 띄우고, 응답을 실시간 막대그래프로 집계합니다.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7784" y="3657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6384" y="3822192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현황판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6384" y="420624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사람별 주의 막대, 반응 수, 마지막 신호 시각과 과목별 반응 요약을 표시합니다.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86928" y="3657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5528" y="3822192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5528" y="4206240"/>
            <a:ext cx="2996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이벤트·전사·참가자를 JSON 한 파일로, 이벤트만 CSV로 저장합니다.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연수생 화면과 항목별 동의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활용 선도교사 연수 · 연수 반응 로그 시스템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절차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코드, 이름 또는 식별자, 담당 과목(음악·미술·체육)을 입력합니다.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항목 세 가지(음성, 웹캠 주의 신호, 스냅샷)를 각각 체크로 동의합니다. 동의하지 않은 항목은 수집되지 않습니다.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기간 안내 문구가 동의 화면에 함께 표시됩니다.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후에는 반응 버튼 4종(따라가는 중, 막혔어요, 동의, 질문 있음), 한 줄 메모, 폴 응답을 쓸 수 있습니다.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[기록 중지·나가기]를 누르면 모든 수집이 즉시 멈춥니다.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76672" cy="4480560"/>
          </a:xfrm>
          <a:prstGeom prst="roundRect">
            <a:avLst>
              <a:gd name="adj" fmla="val 2449"/>
            </a:avLst>
          </a:prstGeom>
          <a:solidFill>
            <a:srgbClr val="BFE0C8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53619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4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항목별 수집 내용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49194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4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음성: 발언 오디오를 저장소에 기록합니다.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4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웹캠 주의 신호: 얼굴 인식으로 계산한 0~1 요약 점수만 3초 간격으로 기록합니다. 원본 영상은 저장하지 않습니다.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B4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스냅샷: 가장 민감한 항목으로 기본이 꺼짐입니다. 켠 경우에만 1분 간격 축소 이미지(가로 320px)를 저장합니다.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웹캠 주의 신호의 계산과 한계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활용 선도교사 연수 · 연수 반응 로그 시스템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방식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얼굴 인식이 브라우저 안에서 실행되고, 눈 뜸 정도와 시선 방향 추정을 합쳐 0~1 점수를 만듭니다. 3초 평균값 하나만 이벤트로 기록됩니다.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5285232" cy="2286000"/>
          </a:xfrm>
          <a:prstGeom prst="roundRect">
            <a:avLst>
              <a:gd name="adj" fmla="val 4800"/>
            </a:avLst>
          </a:prstGeom>
          <a:solidFill>
            <a:srgbClr val="F2D9B8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536192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E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범위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1920240"/>
            <a:ext cx="4828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4E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조명, 자세, 카메라 각도에 따라 값이 흔들리는 근사값입니다. 정밀 시선 좌표가 필요하면 WebGazer.js 보정 단계를 추가해야 하며, 그래도 웹캠 기반 정확도는 제한적입니다.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9167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096512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수칙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48056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점수는 강의 구간별 참여 흐름을 보는 신호로 씁니다. 특정 연수생 개인에 대한 평가 근거로 쓰지 않도록 사전에 안내하고, 12차시 해석 실습에서도 같은 원칙을 적용합니다.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 집계와 과목별 반응 요약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활용 선도교사 연수 · 연수 반응 로그 시스템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 응답 집계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띄우면 집계 영역이 열리고, 보기별 막대가 응답과 함께 실시간으로 늘어납니다.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매우 쉬움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1188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6명 · 25%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172968"/>
            <a:ext cx="4754880" cy="182880"/>
          </a:xfrm>
          <a:prstGeom prst="roundRect">
            <a:avLst>
              <a:gd name="adj" fmla="val 40000"/>
            </a:avLst>
          </a:prstGeom>
          <a:solidFill>
            <a:srgbClr val="E7E9F2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172968"/>
            <a:ext cx="1188720" cy="182880"/>
          </a:xfrm>
          <a:prstGeom prst="roundRect">
            <a:avLst>
              <a:gd name="adj" fmla="val 40000"/>
            </a:avLst>
          </a:prstGeom>
          <a:solidFill>
            <a:srgbClr val="AEC4E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13명 · 54%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831336"/>
            <a:ext cx="4754880" cy="182880"/>
          </a:xfrm>
          <a:prstGeom prst="roundRect">
            <a:avLst>
              <a:gd name="adj" fmla="val 40000"/>
            </a:avLst>
          </a:prstGeom>
          <a:solidFill>
            <a:srgbClr val="E7E9F2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831336"/>
            <a:ext cx="2567635" cy="182880"/>
          </a:xfrm>
          <a:prstGeom prst="roundRect">
            <a:avLst>
              <a:gd name="adj" fmla="val 40000"/>
            </a:avLst>
          </a:prstGeom>
          <a:solidFill>
            <a:srgbClr val="AEC4E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97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4197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5명 · 21%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489704"/>
            <a:ext cx="4754880" cy="182880"/>
          </a:xfrm>
          <a:prstGeom prst="roundRect">
            <a:avLst>
              <a:gd name="adj" fmla="val 40000"/>
            </a:avLst>
          </a:prstGeom>
          <a:solidFill>
            <a:srgbClr val="E7E9F2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489704"/>
            <a:ext cx="998525" cy="182880"/>
          </a:xfrm>
          <a:prstGeom prst="roundRect">
            <a:avLst>
              <a:gd name="adj" fmla="val 40000"/>
            </a:avLst>
          </a:prstGeom>
          <a:solidFill>
            <a:srgbClr val="AEC4E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01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24명 / 접속 26명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257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사람의 반복 클릭은 폴당 1회만 집계됩니다.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1371600"/>
            <a:ext cx="5285232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1536192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과목별 반응 요약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현황표 위에 과목 단위 표가 붙습니다.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834640"/>
          <a:ext cx="4828032" cy="914400"/>
        </p:xfrm>
        <a:graphic>
          <a:graphicData uri="http://schemas.openxmlformats.org/drawingml/2006/table">
            <a:tbl>
              <a:tblPr/>
              <a:tblGrid>
                <a:gridCol w="965606"/>
                <a:gridCol w="965606"/>
                <a:gridCol w="965606"/>
                <a:gridCol w="965606"/>
                <a:gridCol w="96560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583680" y="4709160"/>
            <a:ext cx="4828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따라감·막힘·동의·질문 네 반응이 과목별로 합산되어, 어느 과목 분반에서 막힘이 몰리는지 강의 중에 확인합니다.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데이터 종류와 12차시 실습 연결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활용 선도교사 연수 · 연수 반응 로그 시스템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5696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30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30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30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12차시에서 하는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강의자 전사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발화 텍스트, 시각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설명·질문 비율과 개방형 질문 수를 셉니다.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 응답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질문, 선택, 응답 시각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이해도 분포와 구간별 변화를 봅니다.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 버튼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따라감·막힘·동의·질문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막힘이 몰린 강의 구간을 찾습니다.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연수생 텍스트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질문·성찰 내용을 질적으로 분류합니다.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 신호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0~1 점수, 3초 간격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구간별 참여 흐름을 시간축으로 봅니다.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이벤트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도입·전개·정리 전환 시각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0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데이터를 강의 단계별로 자르는 기준이 됩니다.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과목 분반에서는 각자 자기 로그를 열어 개선 지점 하나를 도출하고, 수치는 이 회차 하나의 기술로만 제시합니다.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개인정보·보안 운영 수칙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활용 선도교사 연수 · 연수 반응 로그 시스템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62956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사전 동의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057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음성, 웹캠 주의 신호, 스냅샷을 각각 동의받고, 동의하지 않은 항목은 수집 코드가 실행되지 않습니다.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5956" y="1536192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최소화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05956" y="1920240"/>
            <a:ext cx="49057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웹캠은 요약 점수만 남기고, 스냅샷은 기본 꺼짐에 축소 저장입니다.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62956" cy="1965960"/>
          </a:xfrm>
          <a:prstGeom prst="roundRect">
            <a:avLst>
              <a:gd name="adj" fmla="val 5581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22192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기간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49057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화면에 보관 기간을 표시하고, 연수 종료 후 스키마 파일 하단의 삭제 SQL로 데이터를 지웁니다.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7356" y="3657600"/>
            <a:ext cx="5362956" cy="1965960"/>
          </a:xfrm>
          <a:prstGeom prst="roundRect">
            <a:avLst>
              <a:gd name="adj" fmla="val 5581"/>
            </a:avLst>
          </a:prstGeom>
          <a:solidFill>
            <a:srgbClr val="D7E3F5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5956" y="3822192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통제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05956" y="4206240"/>
            <a:ext cx="49057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anon key가 브라우저에 노출되는 구조이므로 접속 코드를 외부에 공유하지 않습니다. 공개 행사로 확장하려면 Supabase Auth를 붙입니다.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절차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활용 선도교사 연수 · 연수 반응 로그 시스템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D7E3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91056"/>
            <a:ext cx="249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프로젝트 생성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요금제로 시작할 수 있습니다.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7784" y="1371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6384" y="1572768"/>
            <a:ext cx="384048" cy="384048"/>
          </a:xfrm>
          <a:prstGeom prst="ellipse">
            <a:avLst/>
          </a:prstGeom>
          <a:solidFill>
            <a:srgbClr val="D7E3F5"/>
          </a:solidFill>
          <a:ln/>
        </p:spPr>
      </p:sp>
      <p:sp>
        <p:nvSpPr>
          <p:cNvPr id="11" name="Text 9"/>
          <p:cNvSpPr/>
          <p:nvPr/>
        </p:nvSpPr>
        <p:spPr>
          <a:xfrm>
            <a:off x="4596384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99304" y="1591056"/>
            <a:ext cx="249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실행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6384" y="214884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Editor에 supabase_schema.sql을 붙여넣고 실행합니다.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6928" y="1371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5528" y="1572768"/>
            <a:ext cx="384048" cy="384048"/>
          </a:xfrm>
          <a:prstGeom prst="ellipse">
            <a:avLst/>
          </a:prstGeom>
          <a:solidFill>
            <a:srgbClr val="D7E3F5"/>
          </a:solidFill>
          <a:ln/>
        </p:spPr>
      </p:sp>
      <p:sp>
        <p:nvSpPr>
          <p:cNvPr id="16" name="Text 14"/>
          <p:cNvSpPr/>
          <p:nvPr/>
        </p:nvSpPr>
        <p:spPr>
          <a:xfrm>
            <a:off x="8415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18448" y="1591056"/>
            <a:ext cx="249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버킷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5528" y="214884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Storage에서 snapshots 버킷을 만들고 비공개로 둡니다.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858768"/>
            <a:ext cx="384048" cy="384048"/>
          </a:xfrm>
          <a:prstGeom prst="ellipse">
            <a:avLst/>
          </a:prstGeom>
          <a:solidFill>
            <a:srgbClr val="D7E3F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877056"/>
            <a:ext cx="249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값 입력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43484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Settings → API의 URL과 anon key를 config.js에 넣습니다.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7784" y="3657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6384" y="3858768"/>
            <a:ext cx="384048" cy="384048"/>
          </a:xfrm>
          <a:prstGeom prst="ellipse">
            <a:avLst/>
          </a:prstGeom>
          <a:solidFill>
            <a:srgbClr val="D7E3F5"/>
          </a:solidFill>
          <a:ln/>
        </p:spPr>
      </p:sp>
      <p:sp>
        <p:nvSpPr>
          <p:cNvPr id="26" name="Text 24"/>
          <p:cNvSpPr/>
          <p:nvPr/>
        </p:nvSpPr>
        <p:spPr>
          <a:xfrm>
            <a:off x="4596384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99304" y="3877056"/>
            <a:ext cx="249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호스팅 업로드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6384" y="443484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파일을 같은 폴더로 올립니다. 카메라·마이크는 HTTPS에서만 열립니다.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6928" y="3657600"/>
            <a:ext cx="34533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sx="100000" sy="100000" kx="0" ky="0" algn="bl" rotWithShape="0" blurRad="76200" dist="25400" dir="5400000">
              <a:srgbClr val="22305A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5528" y="3858768"/>
            <a:ext cx="384048" cy="384048"/>
          </a:xfrm>
          <a:prstGeom prst="ellipse">
            <a:avLst/>
          </a:prstGeom>
          <a:solidFill>
            <a:srgbClr val="D7E3F5"/>
          </a:solidFill>
          <a:ln/>
        </p:spPr>
      </p:sp>
      <p:sp>
        <p:nvSpPr>
          <p:cNvPr id="31" name="Text 29"/>
          <p:cNvSpPr/>
          <p:nvPr/>
        </p:nvSpPr>
        <p:spPr>
          <a:xfrm>
            <a:off x="8415528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18448" y="3877056"/>
            <a:ext cx="2493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확인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5528" y="4434840"/>
            <a:ext cx="2996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강의자는 instructor.html, 연수생은 participant.html로 접속해 시연 세션을 돌려 봅니다.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2026-07-18T22:20:10Z</dcterms:created>
  <dcterms:modified xsi:type="dcterms:W3CDTF">2026-07-18T22:20:10Z</dcterms:modified>
</cp:coreProperties>
</file>